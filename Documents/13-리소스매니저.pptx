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5"/>
  </p:notesMasterIdLst>
  <p:sldIdLst>
    <p:sldId id="256" r:id="rId2"/>
    <p:sldId id="259" r:id="rId3"/>
    <p:sldId id="261" r:id="rId4"/>
    <p:sldId id="262" r:id="rId5"/>
    <p:sldId id="265" r:id="rId6"/>
    <p:sldId id="285" r:id="rId7"/>
    <p:sldId id="263" r:id="rId8"/>
    <p:sldId id="264" r:id="rId9"/>
    <p:sldId id="268" r:id="rId10"/>
    <p:sldId id="269" r:id="rId11"/>
    <p:sldId id="283" r:id="rId12"/>
    <p:sldId id="286" r:id="rId13"/>
    <p:sldId id="266" r:id="rId14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83" d="100"/>
          <a:sy n="83" d="100"/>
        </p:scale>
        <p:origin x="68" y="144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 dirty="0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7BE21D1-FB6C-45D2-B3F9-92D6DF61F5DB}" type="datetimeFigureOut">
              <a:rPr lang="ko-KR" altLang="en-US" smtClean="0"/>
              <a:t>2025-11-10</a:t>
            </a:fld>
            <a:endParaRPr lang="ko-KR" altLang="en-US" dirty="0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 dirty="0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 dirty="0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B0A51EB-9ADF-4976-BEE6-D72191B13C92}" type="slidenum">
              <a:rPr lang="ko-KR" altLang="en-US" smtClean="0"/>
              <a:t>‹#›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31800395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B0A51EB-9ADF-4976-BEE6-D72191B13C92}" type="slidenum">
              <a:rPr lang="ko-KR" altLang="en-US" smtClean="0"/>
              <a:t>5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405168346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92A9122-F7EF-F782-776C-03E6F5779FA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71322115-489C-EB9D-FF9C-DFCE2A46C8F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D343989F-0BB3-0D46-9AC6-FB22D042FB4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EF8F7F-8666-4814-9722-5C9DAC821B19}" type="datetimeFigureOut">
              <a:rPr lang="ko-KR" altLang="en-US" smtClean="0"/>
              <a:t>2025-11-10</a:t>
            </a:fld>
            <a:endParaRPr lang="ko-KR" altLang="en-US" dirty="0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BDDD1F75-72C0-CFCC-27B9-466EB89320B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093C9A61-70B1-4C40-33E1-7C4E0ACE74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4B7480-2EA1-4112-A94F-9E993E523681}" type="slidenum">
              <a:rPr lang="ko-KR" altLang="en-US" smtClean="0"/>
              <a:t>‹#›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79759876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5A12ADC-5111-8ABB-F106-BA79BA4611A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8779CFB3-F503-D586-A13A-EA955F69F32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9F7AF439-BA4E-9FDB-6089-7B48B6A030F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EF8F7F-8666-4814-9722-5C9DAC821B19}" type="datetimeFigureOut">
              <a:rPr lang="ko-KR" altLang="en-US" smtClean="0"/>
              <a:t>2025-11-10</a:t>
            </a:fld>
            <a:endParaRPr lang="ko-KR" altLang="en-US" dirty="0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E534F419-190A-FF03-00DE-6BF5AD2C2FB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3B79FBEC-64DD-8DF8-7D4E-145251455ED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4B7480-2EA1-4112-A94F-9E993E523681}" type="slidenum">
              <a:rPr lang="ko-KR" altLang="en-US" smtClean="0"/>
              <a:t>‹#›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72605734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8A0BCB74-237F-6A07-965E-01F603AB129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4790ED0F-EFB9-F1FE-E49D-0BAE4938C92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92B45E61-5FF7-F24D-1F10-D8013214FB4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EF8F7F-8666-4814-9722-5C9DAC821B19}" type="datetimeFigureOut">
              <a:rPr lang="ko-KR" altLang="en-US" smtClean="0"/>
              <a:t>2025-11-10</a:t>
            </a:fld>
            <a:endParaRPr lang="ko-KR" altLang="en-US" dirty="0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97164FF2-D31B-FC09-C804-9E86BE7542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D5A792C2-6617-ED1F-159B-C1DF5702480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4B7480-2EA1-4112-A94F-9E993E523681}" type="slidenum">
              <a:rPr lang="ko-KR" altLang="en-US" smtClean="0"/>
              <a:t>‹#›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424167219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4B4D6D0-2637-1197-4E81-B99F3667995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9C851A59-C313-9FB5-C588-1B8D6443073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2CAAFE1F-1F83-45A5-D652-32A6272CF23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7F830591-D1E7-280D-232C-6D60598384A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EF8F7F-8666-4814-9722-5C9DAC821B19}" type="datetimeFigureOut">
              <a:rPr lang="ko-KR" altLang="en-US" smtClean="0"/>
              <a:t>2025-11-10</a:t>
            </a:fld>
            <a:endParaRPr lang="ko-KR" altLang="en-US" dirty="0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D7FD8D2D-A33F-0525-811E-0747293001A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2E81578D-10FB-26B4-4DB3-31988D75AC1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4B7480-2EA1-4112-A94F-9E993E523681}" type="slidenum">
              <a:rPr lang="ko-KR" altLang="en-US" smtClean="0"/>
              <a:t>‹#›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417455098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03C04D9-AD7A-92A4-F7E7-B6CF3AD49AE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B49957A4-299E-F47F-E88E-9BF785B3C2C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A220774B-E98B-4C6A-9F56-32EE0FB7AB6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2C0A2F7B-1AAC-100C-16A3-5DABB05F2D6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BA9701C5-7060-DCD0-A064-61BDEC66E59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7" name="날짜 개체 틀 6">
            <a:extLst>
              <a:ext uri="{FF2B5EF4-FFF2-40B4-BE49-F238E27FC236}">
                <a16:creationId xmlns:a16="http://schemas.microsoft.com/office/drawing/2014/main" id="{5013244D-8B2B-D948-CBC8-887FB07AFC2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EF8F7F-8666-4814-9722-5C9DAC821B19}" type="datetimeFigureOut">
              <a:rPr lang="ko-KR" altLang="en-US" smtClean="0"/>
              <a:t>2025-11-10</a:t>
            </a:fld>
            <a:endParaRPr lang="ko-KR" altLang="en-US" dirty="0"/>
          </a:p>
        </p:txBody>
      </p:sp>
      <p:sp>
        <p:nvSpPr>
          <p:cNvPr id="8" name="바닥글 개체 틀 7">
            <a:extLst>
              <a:ext uri="{FF2B5EF4-FFF2-40B4-BE49-F238E27FC236}">
                <a16:creationId xmlns:a16="http://schemas.microsoft.com/office/drawing/2014/main" id="{8362C7B3-0E2C-2245-0642-03E3DEBC4D2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23F80B0E-E50F-5A4D-C060-AD914A57804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4B7480-2EA1-4112-A94F-9E993E523681}" type="slidenum">
              <a:rPr lang="ko-KR" altLang="en-US" smtClean="0"/>
              <a:t>‹#›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415835820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51E832A-6CE2-6305-EB34-E529FDEDFA3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70CA2965-EE1D-2D4F-0F3D-5672C9B33B4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EF8F7F-8666-4814-9722-5C9DAC821B19}" type="datetimeFigureOut">
              <a:rPr lang="ko-KR" altLang="en-US" smtClean="0"/>
              <a:t>2025-11-10</a:t>
            </a:fld>
            <a:endParaRPr lang="ko-KR" altLang="en-US" dirty="0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20F1F990-EB8E-97E7-FE0D-5AE63BDFF2A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27DF4CAD-FC29-803E-B6BF-CE504346195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4B7480-2EA1-4112-A94F-9E993E523681}" type="slidenum">
              <a:rPr lang="ko-KR" altLang="en-US" smtClean="0"/>
              <a:t>‹#›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44913946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0F934CD4-A330-2961-A5D5-6BAE7B31DD5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EF8F7F-8666-4814-9722-5C9DAC821B19}" type="datetimeFigureOut">
              <a:rPr lang="ko-KR" altLang="en-US" smtClean="0"/>
              <a:t>2025-11-10</a:t>
            </a:fld>
            <a:endParaRPr lang="ko-KR" altLang="en-US" dirty="0"/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E462B259-85E2-2F81-409C-E2252C5366E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37672714-1E3F-E27E-B674-704BA08BAB9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4B7480-2EA1-4112-A94F-9E993E523681}" type="slidenum">
              <a:rPr lang="ko-KR" altLang="en-US" smtClean="0"/>
              <a:t>‹#›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66468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611DFF55-EEEB-5485-C3D2-10E9F104342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EC0943D4-280F-858A-D158-4DF186E43F5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942D37C8-D58B-A8FC-850E-8C890E62C25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3901572F-3347-F20F-584B-98D1B93FA96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EF8F7F-8666-4814-9722-5C9DAC821B19}" type="datetimeFigureOut">
              <a:rPr lang="ko-KR" altLang="en-US" smtClean="0"/>
              <a:t>2025-11-10</a:t>
            </a:fld>
            <a:endParaRPr lang="ko-KR" altLang="en-US" dirty="0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055A9A20-4F18-5CF5-8E19-920ACD31E8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EB18F470-8BA7-73CC-1A98-862A204209C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4B7480-2EA1-4112-A94F-9E993E523681}" type="slidenum">
              <a:rPr lang="ko-KR" altLang="en-US" smtClean="0"/>
              <a:t>‹#›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58128252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6B8047B3-0C72-C779-B194-4BA4EE0C541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>
            <a:extLst>
              <a:ext uri="{FF2B5EF4-FFF2-40B4-BE49-F238E27FC236}">
                <a16:creationId xmlns:a16="http://schemas.microsoft.com/office/drawing/2014/main" id="{FAADF85D-8876-F0E1-5FEB-4153C00A1A57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 dirty="0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13E32878-0C42-276D-3CC5-66A3CAFA422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50AC8C7A-23DF-DA97-F609-6C51BF4693C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EF8F7F-8666-4814-9722-5C9DAC821B19}" type="datetimeFigureOut">
              <a:rPr lang="ko-KR" altLang="en-US" smtClean="0"/>
              <a:t>2025-11-10</a:t>
            </a:fld>
            <a:endParaRPr lang="ko-KR" altLang="en-US" dirty="0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A6D9596E-6C55-3072-304F-7CBD908EF04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5DE2186D-5734-16E2-46E0-F628D02192B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4B7480-2EA1-4112-A94F-9E993E523681}" type="slidenum">
              <a:rPr lang="ko-KR" altLang="en-US" smtClean="0"/>
              <a:t>‹#›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41520100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1426B0D-4DC2-AEDA-F731-0FF3F8518F3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269E19F2-7E01-4F4F-06DF-77A7869CAB4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EE668D67-8D34-5D08-B0E3-CB8D383D613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EF8F7F-8666-4814-9722-5C9DAC821B19}" type="datetimeFigureOut">
              <a:rPr lang="ko-KR" altLang="en-US" smtClean="0"/>
              <a:t>2025-11-10</a:t>
            </a:fld>
            <a:endParaRPr lang="ko-KR" altLang="en-US" dirty="0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ECD13CAE-4A10-BF74-9B8B-56DE5B19BB8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2EDD1263-062E-E899-055C-A92C497AB0D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4B7480-2EA1-4112-A94F-9E993E523681}" type="slidenum">
              <a:rPr lang="ko-KR" altLang="en-US" smtClean="0"/>
              <a:t>‹#›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75832932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>
            <a:extLst>
              <a:ext uri="{FF2B5EF4-FFF2-40B4-BE49-F238E27FC236}">
                <a16:creationId xmlns:a16="http://schemas.microsoft.com/office/drawing/2014/main" id="{23B36407-31F0-ABC5-FDA0-6FAAA69BC1EB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68FCEF1D-D544-DC2D-9549-A0D39468C39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04FB74CC-FF15-264D-2107-6407580C0B1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EF8F7F-8666-4814-9722-5C9DAC821B19}" type="datetimeFigureOut">
              <a:rPr lang="ko-KR" altLang="en-US" smtClean="0"/>
              <a:t>2025-11-10</a:t>
            </a:fld>
            <a:endParaRPr lang="ko-KR" altLang="en-US" dirty="0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A64E9BD3-AC5C-D19F-A1C0-1F39C3EE72E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B57B7237-A35C-04AF-7ACD-5DDCA902F62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4B7480-2EA1-4112-A94F-9E993E523681}" type="slidenum">
              <a:rPr lang="ko-KR" altLang="en-US" smtClean="0"/>
              <a:t>‹#›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41590687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EB9B4073-50AD-00DB-307D-70FDA5AF3D8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676274BE-4AE4-4698-8523-185824C01AD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C67C577A-D4C1-DFFC-E3D3-7BF912B41F9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EEF8F7F-8666-4814-9722-5C9DAC821B19}" type="datetimeFigureOut">
              <a:rPr lang="ko-KR" altLang="en-US" smtClean="0"/>
              <a:t>2025-11-10</a:t>
            </a:fld>
            <a:endParaRPr lang="ko-KR" altLang="en-US" dirty="0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30D37A54-9199-DFC3-2018-89425CCDFCF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 dirty="0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1A4D0758-DB74-6EF7-C35B-0A4FD198283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A4B7480-2EA1-4112-A94F-9E993E523681}" type="slidenum">
              <a:rPr lang="ko-KR" altLang="en-US" smtClean="0"/>
              <a:t>‹#›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28424669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6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2F685004-D9B8-0BF9-5E5B-BCBA7C86B7E9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altLang="ko-KR" dirty="0"/>
              <a:t>Direct3D11 </a:t>
            </a:r>
            <a:r>
              <a:rPr lang="ko-KR" altLang="en-US" dirty="0"/>
              <a:t>프로그래밍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EACD820F-C031-7D37-3253-EAE9601FE6FA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altLang="ko-KR" dirty="0"/>
              <a:t>12.</a:t>
            </a:r>
            <a:r>
              <a:rPr lang="ko-KR" altLang="en-US" dirty="0"/>
              <a:t> 리소스매니저</a:t>
            </a:r>
          </a:p>
        </p:txBody>
      </p:sp>
    </p:spTree>
    <p:extLst>
      <p:ext uri="{BB962C8B-B14F-4D97-AF65-F5344CB8AC3E}">
        <p14:creationId xmlns:p14="http://schemas.microsoft.com/office/powerpoint/2010/main" val="365005759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A534DC5-9D58-3A85-4905-47CA89A9EE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학습목표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8DA5C34C-C4AC-A319-4917-892273620FF8}"/>
              </a:ext>
            </a:extLst>
          </p:cNvPr>
          <p:cNvSpPr txBox="1"/>
          <p:nvPr/>
        </p:nvSpPr>
        <p:spPr>
          <a:xfrm>
            <a:off x="654049" y="1862088"/>
            <a:ext cx="11443543" cy="203132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>
              <a:buNone/>
            </a:pPr>
            <a:r>
              <a:rPr lang="en-US" altLang="ko-KR" dirty="0"/>
              <a:t>1. </a:t>
            </a:r>
            <a:r>
              <a:rPr lang="ko-KR" altLang="en-US" dirty="0"/>
              <a:t>읽기전용 공유 데이터와 인스턴스 데이터를 구분의 필요성을 이해합니다</a:t>
            </a:r>
            <a:r>
              <a:rPr lang="en-US" altLang="ko-KR" dirty="0"/>
              <a:t>.</a:t>
            </a:r>
          </a:p>
          <a:p>
            <a:pPr marL="0" indent="0">
              <a:buNone/>
            </a:pPr>
            <a:endParaRPr lang="en-US" altLang="ko-KR" dirty="0"/>
          </a:p>
          <a:p>
            <a:pPr marL="0" indent="0">
              <a:buNone/>
            </a:pPr>
            <a:r>
              <a:rPr lang="en-US" altLang="ko-KR" dirty="0"/>
              <a:t>2. </a:t>
            </a:r>
            <a:r>
              <a:rPr lang="ko-KR" altLang="en-US" dirty="0"/>
              <a:t>인스턴스 생성할 클래스와 리소스 클래스를 구분합니다</a:t>
            </a:r>
            <a:r>
              <a:rPr lang="en-US" altLang="ko-KR" dirty="0"/>
              <a:t>.</a:t>
            </a:r>
          </a:p>
          <a:p>
            <a:pPr marL="0" indent="0">
              <a:buNone/>
            </a:pPr>
            <a:endParaRPr lang="en-US" altLang="ko-KR" dirty="0"/>
          </a:p>
          <a:p>
            <a:pPr marL="0" indent="0">
              <a:buNone/>
            </a:pPr>
            <a:r>
              <a:rPr lang="en-US" altLang="ko-KR" dirty="0"/>
              <a:t>3. </a:t>
            </a:r>
            <a:r>
              <a:rPr lang="ko-KR" altLang="en-US" dirty="0"/>
              <a:t>스마트 포인터 </a:t>
            </a:r>
            <a:r>
              <a:rPr lang="en-US" altLang="ko-KR" dirty="0" err="1"/>
              <a:t>weak_ptr</a:t>
            </a:r>
            <a:r>
              <a:rPr lang="en-US" altLang="ko-KR" dirty="0"/>
              <a:t> </a:t>
            </a:r>
            <a:r>
              <a:rPr lang="ko-KR" altLang="en-US" dirty="0"/>
              <a:t>과 </a:t>
            </a:r>
            <a:r>
              <a:rPr lang="en-US" altLang="ko-KR" dirty="0" err="1"/>
              <a:t>shared_ptr</a:t>
            </a:r>
            <a:r>
              <a:rPr lang="en-US" altLang="ko-KR" dirty="0"/>
              <a:t> </a:t>
            </a:r>
            <a:r>
              <a:rPr lang="ko-KR" altLang="en-US" dirty="0"/>
              <a:t>을 사용하여 공유하는 리소스의 수명관리를 합니다</a:t>
            </a:r>
            <a:r>
              <a:rPr lang="en-US" altLang="ko-KR" dirty="0"/>
              <a:t>.(</a:t>
            </a:r>
            <a:r>
              <a:rPr lang="ko-KR" altLang="en-US" dirty="0"/>
              <a:t>리소스매니저</a:t>
            </a:r>
            <a:r>
              <a:rPr lang="en-US" altLang="ko-KR" dirty="0"/>
              <a:t>)</a:t>
            </a:r>
          </a:p>
          <a:p>
            <a:pPr marL="0" indent="0">
              <a:buNone/>
            </a:pPr>
            <a:endParaRPr lang="en-US" altLang="ko-KR" dirty="0"/>
          </a:p>
          <a:p>
            <a:pPr marL="0" indent="0">
              <a:buNone/>
            </a:pPr>
            <a:r>
              <a:rPr lang="en-US" altLang="ko-KR" dirty="0"/>
              <a:t>4. </a:t>
            </a:r>
            <a:r>
              <a:rPr lang="ko-KR" altLang="en-US" dirty="0"/>
              <a:t>다수의 인스턴스 생성을 하여 메모리 사용량을 확인합니다</a:t>
            </a:r>
            <a:r>
              <a:rPr lang="en-US" altLang="ko-KR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282123166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84D90304-DDAF-4018-AA74-6A6709AB23A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인스턴스 데이터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85E18972-14AF-49AB-8F63-1ECE4029A5FB}"/>
              </a:ext>
            </a:extLst>
          </p:cNvPr>
          <p:cNvSpPr txBox="1"/>
          <p:nvPr/>
        </p:nvSpPr>
        <p:spPr>
          <a:xfrm>
            <a:off x="510540" y="1690688"/>
            <a:ext cx="10936007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dirty="0"/>
              <a:t>캐릭터를 여럿 생성한다면</a:t>
            </a:r>
            <a:r>
              <a:rPr lang="en-US" altLang="ko-KR" dirty="0"/>
              <a:t>??    </a:t>
            </a:r>
            <a:r>
              <a:rPr lang="ko-KR" altLang="en-US" dirty="0"/>
              <a:t>인스턴스 마다 달라야 하는 데이터는   </a:t>
            </a:r>
            <a:endParaRPr lang="en-US" altLang="ko-KR" dirty="0"/>
          </a:p>
          <a:p>
            <a:r>
              <a:rPr lang="ko-KR" altLang="en-US" dirty="0"/>
              <a:t>예</a:t>
            </a:r>
            <a:r>
              <a:rPr lang="en-US" altLang="ko-KR" dirty="0"/>
              <a:t>) </a:t>
            </a:r>
            <a:r>
              <a:rPr lang="ko-KR" altLang="en-US" dirty="0"/>
              <a:t>캐릭터의 월드행렬</a:t>
            </a:r>
            <a:r>
              <a:rPr lang="en-US" altLang="ko-KR" dirty="0"/>
              <a:t> ,</a:t>
            </a:r>
            <a:r>
              <a:rPr lang="ko-KR" altLang="en-US" dirty="0"/>
              <a:t> 관절의 포즈 행렬</a:t>
            </a:r>
            <a:r>
              <a:rPr lang="en-US" altLang="ko-KR" dirty="0"/>
              <a:t>, </a:t>
            </a:r>
            <a:r>
              <a:rPr lang="ko-KR" altLang="en-US" dirty="0"/>
              <a:t>캐릭터의 애니메이션 시간</a:t>
            </a:r>
            <a:r>
              <a:rPr lang="en-US" altLang="ko-KR" dirty="0"/>
              <a:t>, </a:t>
            </a:r>
            <a:r>
              <a:rPr lang="ko-KR" altLang="en-US" dirty="0"/>
              <a:t>재생중인 애니메이션 인덱스 이다</a:t>
            </a:r>
            <a:r>
              <a:rPr lang="en-US" altLang="ko-KR" dirty="0"/>
              <a:t>.</a:t>
            </a:r>
          </a:p>
          <a:p>
            <a:r>
              <a:rPr lang="ko-KR" altLang="en-US" dirty="0"/>
              <a:t> 더 추가한다면 </a:t>
            </a:r>
            <a:r>
              <a:rPr lang="en-US" altLang="ko-KR" dirty="0"/>
              <a:t>Override Material (</a:t>
            </a:r>
            <a:r>
              <a:rPr lang="ko-KR" altLang="en-US" dirty="0"/>
              <a:t>게임정보를 표현하는</a:t>
            </a:r>
            <a:r>
              <a:rPr lang="en-US" altLang="ko-KR" dirty="0"/>
              <a:t>) </a:t>
            </a:r>
            <a:r>
              <a:rPr lang="ko-KR" altLang="en-US" dirty="0"/>
              <a:t>까지</a:t>
            </a:r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C05780C2-30DE-4DB8-B8DF-CAF4B79CBE8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00284" y="3425924"/>
            <a:ext cx="1205717" cy="1221979"/>
          </a:xfrm>
          <a:prstGeom prst="rect">
            <a:avLst/>
          </a:prstGeom>
        </p:spPr>
      </p:pic>
      <p:pic>
        <p:nvPicPr>
          <p:cNvPr id="5" name="그림 4">
            <a:extLst>
              <a:ext uri="{FF2B5EF4-FFF2-40B4-BE49-F238E27FC236}">
                <a16:creationId xmlns:a16="http://schemas.microsoft.com/office/drawing/2014/main" id="{C154A6B9-4937-4D8E-8E56-ECDBB2FB576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7352" y="4071203"/>
            <a:ext cx="1138050" cy="1153399"/>
          </a:xfrm>
          <a:prstGeom prst="rect">
            <a:avLst/>
          </a:prstGeom>
        </p:spPr>
      </p:pic>
      <p:pic>
        <p:nvPicPr>
          <p:cNvPr id="6" name="그림 5">
            <a:extLst>
              <a:ext uri="{FF2B5EF4-FFF2-40B4-BE49-F238E27FC236}">
                <a16:creationId xmlns:a16="http://schemas.microsoft.com/office/drawing/2014/main" id="{1110343E-70CC-4DE5-8C1D-03224665FE9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15402" y="4528998"/>
            <a:ext cx="1138050" cy="1153399"/>
          </a:xfrm>
          <a:prstGeom prst="rect">
            <a:avLst/>
          </a:prstGeom>
        </p:spPr>
      </p:pic>
      <p:pic>
        <p:nvPicPr>
          <p:cNvPr id="8" name="그림 7">
            <a:extLst>
              <a:ext uri="{FF2B5EF4-FFF2-40B4-BE49-F238E27FC236}">
                <a16:creationId xmlns:a16="http://schemas.microsoft.com/office/drawing/2014/main" id="{DE264E58-108D-9ECE-39B0-FE5D30BEC90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3235715" y="2628323"/>
            <a:ext cx="7756001" cy="4162387"/>
          </a:xfrm>
          <a:prstGeom prst="rect">
            <a:avLst/>
          </a:prstGeom>
        </p:spPr>
      </p:pic>
      <p:sp>
        <p:nvSpPr>
          <p:cNvPr id="7" name="직사각형 6">
            <a:extLst>
              <a:ext uri="{FF2B5EF4-FFF2-40B4-BE49-F238E27FC236}">
                <a16:creationId xmlns:a16="http://schemas.microsoft.com/office/drawing/2014/main" id="{E2D18D10-5F70-1DDC-0CEC-FBDB9212C248}"/>
              </a:ext>
            </a:extLst>
          </p:cNvPr>
          <p:cNvSpPr/>
          <p:nvPr/>
        </p:nvSpPr>
        <p:spPr>
          <a:xfrm>
            <a:off x="3308443" y="4528998"/>
            <a:ext cx="1832176" cy="695604"/>
          </a:xfrm>
          <a:prstGeom prst="rect">
            <a:avLst/>
          </a:prstGeom>
          <a:noFill/>
          <a:ln w="38100">
            <a:solidFill>
              <a:srgbClr val="FF0000"/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23290996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그림 15">
            <a:extLst>
              <a:ext uri="{FF2B5EF4-FFF2-40B4-BE49-F238E27FC236}">
                <a16:creationId xmlns:a16="http://schemas.microsoft.com/office/drawing/2014/main" id="{9AD9C301-F572-4D7A-A52C-2AD342E84D9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3328933" y="2439788"/>
            <a:ext cx="7756001" cy="4162387"/>
          </a:xfrm>
          <a:prstGeom prst="rect">
            <a:avLst/>
          </a:prstGeom>
        </p:spPr>
      </p:pic>
      <p:sp>
        <p:nvSpPr>
          <p:cNvPr id="2" name="제목 1">
            <a:extLst>
              <a:ext uri="{FF2B5EF4-FFF2-40B4-BE49-F238E27FC236}">
                <a16:creationId xmlns:a16="http://schemas.microsoft.com/office/drawing/2014/main" id="{84D90304-DDAF-4018-AA74-6A6709AB23A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데이터</a:t>
            </a:r>
            <a:r>
              <a:rPr lang="en-US" altLang="ko-KR" dirty="0"/>
              <a:t>- D3D </a:t>
            </a:r>
            <a:r>
              <a:rPr lang="ko-KR" altLang="en-US" dirty="0"/>
              <a:t>자원 중복 문제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85E18972-14AF-49AB-8F63-1ECE4029A5FB}"/>
              </a:ext>
            </a:extLst>
          </p:cNvPr>
          <p:cNvSpPr txBox="1"/>
          <p:nvPr/>
        </p:nvSpPr>
        <p:spPr>
          <a:xfrm>
            <a:off x="510540" y="1690688"/>
            <a:ext cx="1156438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dirty="0"/>
              <a:t> 읽기만 하는 데이터와 </a:t>
            </a:r>
            <a:r>
              <a:rPr lang="en-US" altLang="ko-KR" dirty="0"/>
              <a:t>D3D</a:t>
            </a:r>
            <a:r>
              <a:rPr lang="ko-KR" altLang="en-US" dirty="0"/>
              <a:t>자원 객체는 인스턴스 마다 생성할 필요가 없다</a:t>
            </a:r>
            <a:r>
              <a:rPr lang="en-US" altLang="ko-KR" dirty="0"/>
              <a:t>.  </a:t>
            </a:r>
          </a:p>
          <a:p>
            <a:r>
              <a:rPr lang="ko-KR" altLang="en-US" dirty="0"/>
              <a:t>예</a:t>
            </a:r>
            <a:r>
              <a:rPr lang="en-US" altLang="ko-KR" dirty="0"/>
              <a:t>) </a:t>
            </a:r>
            <a:r>
              <a:rPr lang="ko-KR" altLang="en-US" dirty="0"/>
              <a:t>애니메이션 키프레임 </a:t>
            </a:r>
            <a:r>
              <a:rPr lang="en-US" altLang="ko-KR" dirty="0"/>
              <a:t>, </a:t>
            </a:r>
            <a:r>
              <a:rPr lang="ko-KR" altLang="en-US" dirty="0" err="1"/>
              <a:t>머터리얼</a:t>
            </a:r>
            <a:r>
              <a:rPr lang="en-US" altLang="ko-KR" dirty="0"/>
              <a:t>, </a:t>
            </a:r>
            <a:r>
              <a:rPr lang="ko-KR" altLang="en-US" dirty="0"/>
              <a:t>인덱스 버퍼</a:t>
            </a:r>
            <a:r>
              <a:rPr lang="en-US" altLang="ko-KR" dirty="0"/>
              <a:t>, </a:t>
            </a:r>
            <a:r>
              <a:rPr lang="ko-KR" altLang="en-US" dirty="0" err="1"/>
              <a:t>버텍스</a:t>
            </a:r>
            <a:r>
              <a:rPr lang="ko-KR" altLang="en-US" dirty="0"/>
              <a:t> 버퍼</a:t>
            </a:r>
            <a:r>
              <a:rPr lang="en-US" altLang="ko-KR" dirty="0"/>
              <a:t>, </a:t>
            </a:r>
            <a:r>
              <a:rPr lang="ko-KR" altLang="en-US" dirty="0"/>
              <a:t>스켈레톤 계층구조 정보</a:t>
            </a:r>
            <a:r>
              <a:rPr lang="en-US" altLang="ko-KR" dirty="0"/>
              <a:t>, </a:t>
            </a:r>
            <a:r>
              <a:rPr lang="ko-KR" altLang="en-US" dirty="0"/>
              <a:t>본 </a:t>
            </a:r>
            <a:r>
              <a:rPr lang="en-US" altLang="ko-KR" dirty="0" err="1"/>
              <a:t>OffsetMatrix</a:t>
            </a:r>
            <a:r>
              <a:rPr lang="en-US" altLang="ko-KR" dirty="0"/>
              <a:t> </a:t>
            </a:r>
            <a:r>
              <a:rPr lang="ko-KR" altLang="en-US" dirty="0"/>
              <a:t>정보</a:t>
            </a:r>
            <a:r>
              <a:rPr lang="en-US" altLang="ko-KR" dirty="0"/>
              <a:t>  </a:t>
            </a:r>
            <a:endParaRPr lang="ko-KR" altLang="en-US" dirty="0"/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C05780C2-30DE-4DB8-B8DF-CAF4B79CBE8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07066" y="2910839"/>
            <a:ext cx="1205717" cy="1221979"/>
          </a:xfrm>
          <a:prstGeom prst="rect">
            <a:avLst/>
          </a:prstGeom>
        </p:spPr>
      </p:pic>
      <p:pic>
        <p:nvPicPr>
          <p:cNvPr id="5" name="그림 4">
            <a:extLst>
              <a:ext uri="{FF2B5EF4-FFF2-40B4-BE49-F238E27FC236}">
                <a16:creationId xmlns:a16="http://schemas.microsoft.com/office/drawing/2014/main" id="{C154A6B9-4937-4D8E-8E56-ECDBB2FB576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4134" y="3556118"/>
            <a:ext cx="1138050" cy="1153399"/>
          </a:xfrm>
          <a:prstGeom prst="rect">
            <a:avLst/>
          </a:prstGeom>
        </p:spPr>
      </p:pic>
      <p:pic>
        <p:nvPicPr>
          <p:cNvPr id="6" name="그림 5">
            <a:extLst>
              <a:ext uri="{FF2B5EF4-FFF2-40B4-BE49-F238E27FC236}">
                <a16:creationId xmlns:a16="http://schemas.microsoft.com/office/drawing/2014/main" id="{1110343E-70CC-4DE5-8C1D-03224665FE9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22184" y="4013913"/>
            <a:ext cx="1138050" cy="1153399"/>
          </a:xfrm>
          <a:prstGeom prst="rect">
            <a:avLst/>
          </a:prstGeom>
        </p:spPr>
      </p:pic>
      <p:sp>
        <p:nvSpPr>
          <p:cNvPr id="7" name="직사각형 6">
            <a:extLst>
              <a:ext uri="{FF2B5EF4-FFF2-40B4-BE49-F238E27FC236}">
                <a16:creationId xmlns:a16="http://schemas.microsoft.com/office/drawing/2014/main" id="{D89DA7F7-D55F-0845-BA70-AC49CE9C13D1}"/>
              </a:ext>
            </a:extLst>
          </p:cNvPr>
          <p:cNvSpPr/>
          <p:nvPr/>
        </p:nvSpPr>
        <p:spPr>
          <a:xfrm>
            <a:off x="5294299" y="2322724"/>
            <a:ext cx="6254803" cy="2903492"/>
          </a:xfrm>
          <a:prstGeom prst="rect">
            <a:avLst/>
          </a:prstGeom>
          <a:noFill/>
          <a:ln w="38100">
            <a:solidFill>
              <a:srgbClr val="FF0000"/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782372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4BC0549E-44A0-ACFF-8E4A-838B2199759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리소스 설계 참고</a:t>
            </a:r>
          </a:p>
        </p:txBody>
      </p:sp>
      <p:sp>
        <p:nvSpPr>
          <p:cNvPr id="9" name="직사각형 8">
            <a:extLst>
              <a:ext uri="{FF2B5EF4-FFF2-40B4-BE49-F238E27FC236}">
                <a16:creationId xmlns:a16="http://schemas.microsoft.com/office/drawing/2014/main" id="{FA9FDD85-252C-6E08-21DD-B0E5B0FCBBD2}"/>
              </a:ext>
            </a:extLst>
          </p:cNvPr>
          <p:cNvSpPr/>
          <p:nvPr/>
        </p:nvSpPr>
        <p:spPr>
          <a:xfrm>
            <a:off x="1073893" y="3038380"/>
            <a:ext cx="1846730" cy="606719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/>
              <a:t>Skeletal Mesh</a:t>
            </a:r>
          </a:p>
          <a:p>
            <a:pPr algn="ctr"/>
            <a:r>
              <a:rPr lang="en-US" altLang="ko-KR" dirty="0"/>
              <a:t>Instance</a:t>
            </a:r>
            <a:endParaRPr lang="ko-KR" altLang="en-US" dirty="0"/>
          </a:p>
        </p:txBody>
      </p:sp>
      <p:sp>
        <p:nvSpPr>
          <p:cNvPr id="10" name="직사각형 9">
            <a:extLst>
              <a:ext uri="{FF2B5EF4-FFF2-40B4-BE49-F238E27FC236}">
                <a16:creationId xmlns:a16="http://schemas.microsoft.com/office/drawing/2014/main" id="{85BAEAE6-B64E-78FB-F40E-DDD3EBEB45A1}"/>
              </a:ext>
            </a:extLst>
          </p:cNvPr>
          <p:cNvSpPr/>
          <p:nvPr/>
        </p:nvSpPr>
        <p:spPr>
          <a:xfrm>
            <a:off x="1153195" y="3288064"/>
            <a:ext cx="1846730" cy="606719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/>
              <a:t>Skeletal Mesh</a:t>
            </a:r>
          </a:p>
          <a:p>
            <a:pPr algn="ctr"/>
            <a:r>
              <a:rPr lang="en-US" altLang="ko-KR" dirty="0"/>
              <a:t>Instance</a:t>
            </a:r>
            <a:endParaRPr lang="ko-KR" altLang="en-US" dirty="0"/>
          </a:p>
        </p:txBody>
      </p:sp>
      <p:sp>
        <p:nvSpPr>
          <p:cNvPr id="11" name="직사각형 10">
            <a:extLst>
              <a:ext uri="{FF2B5EF4-FFF2-40B4-BE49-F238E27FC236}">
                <a16:creationId xmlns:a16="http://schemas.microsoft.com/office/drawing/2014/main" id="{F679E6B7-06A1-C06F-F047-A6A534BA8662}"/>
              </a:ext>
            </a:extLst>
          </p:cNvPr>
          <p:cNvSpPr/>
          <p:nvPr/>
        </p:nvSpPr>
        <p:spPr>
          <a:xfrm>
            <a:off x="1265944" y="3593861"/>
            <a:ext cx="1846730" cy="606719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/>
              <a:t>Skeletal Mesh</a:t>
            </a:r>
          </a:p>
          <a:p>
            <a:pPr algn="ctr"/>
            <a:r>
              <a:rPr lang="en-US" altLang="ko-KR" dirty="0"/>
              <a:t>Instance</a:t>
            </a:r>
            <a:endParaRPr lang="ko-KR" altLang="en-US" dirty="0"/>
          </a:p>
        </p:txBody>
      </p:sp>
      <p:sp>
        <p:nvSpPr>
          <p:cNvPr id="12" name="직사각형 11">
            <a:extLst>
              <a:ext uri="{FF2B5EF4-FFF2-40B4-BE49-F238E27FC236}">
                <a16:creationId xmlns:a16="http://schemas.microsoft.com/office/drawing/2014/main" id="{D82DFAEF-87A5-A21E-27AF-815B90332C28}"/>
              </a:ext>
            </a:extLst>
          </p:cNvPr>
          <p:cNvSpPr/>
          <p:nvPr/>
        </p:nvSpPr>
        <p:spPr>
          <a:xfrm>
            <a:off x="6657104" y="6049466"/>
            <a:ext cx="1846730" cy="606719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/>
              <a:t>Asset Data</a:t>
            </a:r>
            <a:endParaRPr lang="ko-KR" altLang="en-US" dirty="0"/>
          </a:p>
        </p:txBody>
      </p:sp>
      <p:sp>
        <p:nvSpPr>
          <p:cNvPr id="13" name="직사각형 12">
            <a:extLst>
              <a:ext uri="{FF2B5EF4-FFF2-40B4-BE49-F238E27FC236}">
                <a16:creationId xmlns:a16="http://schemas.microsoft.com/office/drawing/2014/main" id="{5673093B-E2D7-FD83-C383-F74B97536DEC}"/>
              </a:ext>
            </a:extLst>
          </p:cNvPr>
          <p:cNvSpPr/>
          <p:nvPr/>
        </p:nvSpPr>
        <p:spPr>
          <a:xfrm>
            <a:off x="6708161" y="3288065"/>
            <a:ext cx="1846730" cy="606719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/>
              <a:t>D3D Resource</a:t>
            </a:r>
            <a:endParaRPr lang="ko-KR" altLang="en-US" dirty="0"/>
          </a:p>
        </p:txBody>
      </p:sp>
      <p:sp>
        <p:nvSpPr>
          <p:cNvPr id="14" name="직사각형 13">
            <a:extLst>
              <a:ext uri="{FF2B5EF4-FFF2-40B4-BE49-F238E27FC236}">
                <a16:creationId xmlns:a16="http://schemas.microsoft.com/office/drawing/2014/main" id="{7E44B757-B4AE-FDBD-DCC6-1BEAC72E4BD9}"/>
              </a:ext>
            </a:extLst>
          </p:cNvPr>
          <p:cNvSpPr/>
          <p:nvPr/>
        </p:nvSpPr>
        <p:spPr>
          <a:xfrm>
            <a:off x="5194847" y="1949604"/>
            <a:ext cx="1846730" cy="606719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/>
              <a:t>D3DCore,</a:t>
            </a:r>
          </a:p>
          <a:p>
            <a:pPr algn="ctr"/>
            <a:r>
              <a:rPr lang="en-US" altLang="ko-KR" dirty="0" err="1"/>
              <a:t>Device,RHI</a:t>
            </a:r>
            <a:endParaRPr lang="en-US" altLang="ko-KR" dirty="0"/>
          </a:p>
        </p:txBody>
      </p:sp>
      <p:sp>
        <p:nvSpPr>
          <p:cNvPr id="15" name="직사각형 14">
            <a:extLst>
              <a:ext uri="{FF2B5EF4-FFF2-40B4-BE49-F238E27FC236}">
                <a16:creationId xmlns:a16="http://schemas.microsoft.com/office/drawing/2014/main" id="{11135BE5-65C6-89EE-F13E-19705197EF7F}"/>
              </a:ext>
            </a:extLst>
          </p:cNvPr>
          <p:cNvSpPr/>
          <p:nvPr/>
        </p:nvSpPr>
        <p:spPr>
          <a:xfrm>
            <a:off x="5194847" y="1925750"/>
            <a:ext cx="3365607" cy="1969034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17" name="직선 화살표 연결선 16">
            <a:extLst>
              <a:ext uri="{FF2B5EF4-FFF2-40B4-BE49-F238E27FC236}">
                <a16:creationId xmlns:a16="http://schemas.microsoft.com/office/drawing/2014/main" id="{2C3B4DC3-5CF2-7C04-93E8-563611FE2E1B}"/>
              </a:ext>
            </a:extLst>
          </p:cNvPr>
          <p:cNvCxnSpPr>
            <a:cxnSpLocks/>
            <a:stCxn id="14" idx="2"/>
            <a:endCxn id="13" idx="0"/>
          </p:cNvCxnSpPr>
          <p:nvPr/>
        </p:nvCxnSpPr>
        <p:spPr>
          <a:xfrm>
            <a:off x="6118212" y="2556323"/>
            <a:ext cx="1513314" cy="731742"/>
          </a:xfrm>
          <a:prstGeom prst="straightConnector1">
            <a:avLst/>
          </a:prstGeom>
          <a:ln w="571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TextBox 19">
            <a:extLst>
              <a:ext uri="{FF2B5EF4-FFF2-40B4-BE49-F238E27FC236}">
                <a16:creationId xmlns:a16="http://schemas.microsoft.com/office/drawing/2014/main" id="{1960AD7C-9BB9-FD6C-1FFF-D7CB601E182D}"/>
              </a:ext>
            </a:extLst>
          </p:cNvPr>
          <p:cNvSpPr txBox="1"/>
          <p:nvPr/>
        </p:nvSpPr>
        <p:spPr>
          <a:xfrm>
            <a:off x="3108203" y="2078783"/>
            <a:ext cx="1329146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Key</a:t>
            </a:r>
            <a:r>
              <a:rPr lang="ko-KR" altLang="en-US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로 요청</a:t>
            </a:r>
            <a:endParaRPr lang="en-US" altLang="ko-KR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  <a:p>
            <a:r>
              <a:rPr lang="en-US" altLang="ko-KR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LoadOrGet</a:t>
            </a:r>
            <a:endParaRPr lang="ko-KR" altLang="en-US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21" name="직사각형 20">
            <a:extLst>
              <a:ext uri="{FF2B5EF4-FFF2-40B4-BE49-F238E27FC236}">
                <a16:creationId xmlns:a16="http://schemas.microsoft.com/office/drawing/2014/main" id="{CD39B88D-6DB8-FAA7-44AA-C13B9CD00A18}"/>
              </a:ext>
            </a:extLst>
          </p:cNvPr>
          <p:cNvSpPr/>
          <p:nvPr/>
        </p:nvSpPr>
        <p:spPr>
          <a:xfrm>
            <a:off x="5133525" y="5092424"/>
            <a:ext cx="1846730" cy="606719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 err="1"/>
              <a:t>AssetManager</a:t>
            </a:r>
            <a:endParaRPr lang="ko-KR" altLang="en-US" dirty="0"/>
          </a:p>
        </p:txBody>
      </p:sp>
      <p:cxnSp>
        <p:nvCxnSpPr>
          <p:cNvPr id="22" name="직선 화살표 연결선 21">
            <a:extLst>
              <a:ext uri="{FF2B5EF4-FFF2-40B4-BE49-F238E27FC236}">
                <a16:creationId xmlns:a16="http://schemas.microsoft.com/office/drawing/2014/main" id="{2D94F1D4-A993-A3C0-8D0A-FC41B52EE7C6}"/>
              </a:ext>
            </a:extLst>
          </p:cNvPr>
          <p:cNvCxnSpPr>
            <a:cxnSpLocks/>
            <a:stCxn id="21" idx="2"/>
            <a:endCxn id="12" idx="0"/>
          </p:cNvCxnSpPr>
          <p:nvPr/>
        </p:nvCxnSpPr>
        <p:spPr>
          <a:xfrm>
            <a:off x="6056890" y="5699143"/>
            <a:ext cx="1523579" cy="350323"/>
          </a:xfrm>
          <a:prstGeom prst="straightConnector1">
            <a:avLst/>
          </a:prstGeom>
          <a:ln w="571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5" name="직사각형 24">
            <a:extLst>
              <a:ext uri="{FF2B5EF4-FFF2-40B4-BE49-F238E27FC236}">
                <a16:creationId xmlns:a16="http://schemas.microsoft.com/office/drawing/2014/main" id="{AC69D7DB-A8F8-6A4C-FEF8-2B3B30406335}"/>
              </a:ext>
            </a:extLst>
          </p:cNvPr>
          <p:cNvSpPr/>
          <p:nvPr/>
        </p:nvSpPr>
        <p:spPr>
          <a:xfrm>
            <a:off x="5133525" y="5092424"/>
            <a:ext cx="3365607" cy="1563761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D1E9E324-AD8C-E457-DE99-DB7182ACFC18}"/>
              </a:ext>
            </a:extLst>
          </p:cNvPr>
          <p:cNvSpPr txBox="1"/>
          <p:nvPr/>
        </p:nvSpPr>
        <p:spPr>
          <a:xfrm>
            <a:off x="8639756" y="2235056"/>
            <a:ext cx="2341667" cy="175432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/>
              <a:t>Vertex buffer</a:t>
            </a:r>
          </a:p>
          <a:p>
            <a:r>
              <a:rPr lang="en-US" altLang="ko-KR" dirty="0"/>
              <a:t>Index buffer</a:t>
            </a:r>
          </a:p>
          <a:p>
            <a:r>
              <a:rPr lang="en-US" altLang="ko-KR" dirty="0"/>
              <a:t>Texture</a:t>
            </a:r>
          </a:p>
          <a:p>
            <a:r>
              <a:rPr lang="en-US" altLang="ko-KR" dirty="0" err="1"/>
              <a:t>ShaderResourceView</a:t>
            </a:r>
            <a:endParaRPr lang="en-US" altLang="ko-KR" dirty="0"/>
          </a:p>
          <a:p>
            <a:r>
              <a:rPr lang="en-US" altLang="ko-KR" dirty="0" err="1"/>
              <a:t>DepthStencilView</a:t>
            </a:r>
            <a:endParaRPr lang="en-US" altLang="ko-KR" dirty="0"/>
          </a:p>
          <a:p>
            <a:r>
              <a:rPr lang="en-US" altLang="ko-KR" dirty="0" err="1"/>
              <a:t>ConstantBuffer</a:t>
            </a:r>
            <a:endParaRPr lang="en-US" altLang="ko-KR" dirty="0"/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F949EA8A-BE6A-F3EB-6EE5-8CFCDD43FCB6}"/>
              </a:ext>
            </a:extLst>
          </p:cNvPr>
          <p:cNvSpPr txBox="1"/>
          <p:nvPr/>
        </p:nvSpPr>
        <p:spPr>
          <a:xfrm>
            <a:off x="8642268" y="5178857"/>
            <a:ext cx="2271712" cy="147732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 err="1"/>
              <a:t>AnimationKeyFrame</a:t>
            </a:r>
            <a:endParaRPr lang="en-US" altLang="ko-KR" dirty="0"/>
          </a:p>
          <a:p>
            <a:r>
              <a:rPr lang="en-US" altLang="ko-KR" dirty="0"/>
              <a:t>Skeleton(Hierarchy)</a:t>
            </a:r>
          </a:p>
          <a:p>
            <a:r>
              <a:rPr lang="en-US" altLang="ko-KR" dirty="0" err="1"/>
              <a:t>StaticMesh</a:t>
            </a:r>
            <a:r>
              <a:rPr lang="en-US" altLang="ko-KR" dirty="0"/>
              <a:t> Data</a:t>
            </a:r>
          </a:p>
          <a:p>
            <a:r>
              <a:rPr lang="en-US" altLang="ko-KR" dirty="0" err="1"/>
              <a:t>SkeletalMesh</a:t>
            </a:r>
            <a:r>
              <a:rPr lang="en-US" altLang="ko-KR" dirty="0"/>
              <a:t> Data</a:t>
            </a:r>
          </a:p>
          <a:p>
            <a:r>
              <a:rPr lang="en-US" altLang="ko-KR" dirty="0"/>
              <a:t>Material Data</a:t>
            </a:r>
          </a:p>
        </p:txBody>
      </p:sp>
      <p:cxnSp>
        <p:nvCxnSpPr>
          <p:cNvPr id="30" name="직선 화살표 연결선 29">
            <a:extLst>
              <a:ext uri="{FF2B5EF4-FFF2-40B4-BE49-F238E27FC236}">
                <a16:creationId xmlns:a16="http://schemas.microsoft.com/office/drawing/2014/main" id="{E43CEDC6-927C-3CB7-7AA2-C07645AC33C0}"/>
              </a:ext>
            </a:extLst>
          </p:cNvPr>
          <p:cNvCxnSpPr>
            <a:stCxn id="11" idx="3"/>
            <a:endCxn id="15" idx="1"/>
          </p:cNvCxnSpPr>
          <p:nvPr/>
        </p:nvCxnSpPr>
        <p:spPr>
          <a:xfrm flipV="1">
            <a:off x="3112674" y="2910267"/>
            <a:ext cx="2082173" cy="986954"/>
          </a:xfrm>
          <a:prstGeom prst="straightConnector1">
            <a:avLst/>
          </a:prstGeom>
          <a:ln w="19050" cap="flat" cmpd="sng" algn="ctr">
            <a:solidFill>
              <a:srgbClr val="0070C0"/>
            </a:solidFill>
            <a:prstDash val="solid"/>
            <a:round/>
            <a:headEnd type="none" w="med" len="med"/>
            <a:tailEnd type="triangl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31" name="직선 화살표 연결선 30">
            <a:extLst>
              <a:ext uri="{FF2B5EF4-FFF2-40B4-BE49-F238E27FC236}">
                <a16:creationId xmlns:a16="http://schemas.microsoft.com/office/drawing/2014/main" id="{C35136CA-DAD9-1710-C7D6-B9A3A7B732C2}"/>
              </a:ext>
            </a:extLst>
          </p:cNvPr>
          <p:cNvCxnSpPr>
            <a:cxnSpLocks/>
            <a:stCxn id="11" idx="3"/>
            <a:endCxn id="25" idx="1"/>
          </p:cNvCxnSpPr>
          <p:nvPr/>
        </p:nvCxnSpPr>
        <p:spPr>
          <a:xfrm>
            <a:off x="3112674" y="3897221"/>
            <a:ext cx="2020851" cy="1977084"/>
          </a:xfrm>
          <a:prstGeom prst="straightConnector1">
            <a:avLst/>
          </a:prstGeom>
          <a:ln w="12700">
            <a:solidFill>
              <a:schemeClr val="accent1"/>
            </a:solidFill>
            <a:headEnd type="oval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TextBox 2">
            <a:extLst>
              <a:ext uri="{FF2B5EF4-FFF2-40B4-BE49-F238E27FC236}">
                <a16:creationId xmlns:a16="http://schemas.microsoft.com/office/drawing/2014/main" id="{68432F84-95AF-DB4A-7A5B-2E6582987C01}"/>
              </a:ext>
            </a:extLst>
          </p:cNvPr>
          <p:cNvSpPr txBox="1"/>
          <p:nvPr/>
        </p:nvSpPr>
        <p:spPr>
          <a:xfrm>
            <a:off x="3108203" y="4589107"/>
            <a:ext cx="178652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Key</a:t>
            </a:r>
            <a:r>
              <a:rPr lang="ko-KR" altLang="en-US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로 요청</a:t>
            </a:r>
            <a:endParaRPr lang="en-US" altLang="ko-KR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  <a:p>
            <a:r>
              <a:rPr lang="en-US" altLang="ko-KR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LoadOrGet</a:t>
            </a:r>
            <a:endParaRPr lang="ko-KR" altLang="en-US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70A796A0-12ED-8F23-129B-59C58C36E879}"/>
              </a:ext>
            </a:extLst>
          </p:cNvPr>
          <p:cNvSpPr txBox="1"/>
          <p:nvPr/>
        </p:nvSpPr>
        <p:spPr>
          <a:xfrm>
            <a:off x="6777315" y="2652889"/>
            <a:ext cx="175240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생성</a:t>
            </a:r>
            <a:r>
              <a:rPr lang="en-US" altLang="ko-KR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/</a:t>
            </a:r>
            <a:r>
              <a:rPr lang="ko-KR" altLang="en-US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파괴</a:t>
            </a:r>
            <a:r>
              <a:rPr lang="en-US" altLang="ko-KR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/</a:t>
            </a:r>
            <a:r>
              <a:rPr lang="ko-KR" altLang="en-US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검색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57AD697C-F742-0E68-41B4-214C2AC7CF75}"/>
              </a:ext>
            </a:extLst>
          </p:cNvPr>
          <p:cNvSpPr txBox="1"/>
          <p:nvPr/>
        </p:nvSpPr>
        <p:spPr>
          <a:xfrm>
            <a:off x="6842701" y="5594355"/>
            <a:ext cx="175240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생성</a:t>
            </a:r>
            <a:r>
              <a:rPr lang="en-US" altLang="ko-KR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/</a:t>
            </a:r>
            <a:r>
              <a:rPr lang="ko-KR" altLang="en-US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파괴</a:t>
            </a:r>
            <a:r>
              <a:rPr lang="en-US" altLang="ko-KR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/</a:t>
            </a:r>
            <a:r>
              <a:rPr lang="ko-KR" altLang="en-US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검색</a:t>
            </a:r>
          </a:p>
        </p:txBody>
      </p:sp>
      <p:cxnSp>
        <p:nvCxnSpPr>
          <p:cNvPr id="7" name="직선 화살표 연결선 6">
            <a:extLst>
              <a:ext uri="{FF2B5EF4-FFF2-40B4-BE49-F238E27FC236}">
                <a16:creationId xmlns:a16="http://schemas.microsoft.com/office/drawing/2014/main" id="{53BDF7E4-7AFD-F8B9-3F53-97A00515D71D}"/>
              </a:ext>
            </a:extLst>
          </p:cNvPr>
          <p:cNvCxnSpPr/>
          <p:nvPr/>
        </p:nvCxnSpPr>
        <p:spPr>
          <a:xfrm flipV="1">
            <a:off x="2960274" y="2635006"/>
            <a:ext cx="2082173" cy="986954"/>
          </a:xfrm>
          <a:prstGeom prst="straightConnector1">
            <a:avLst/>
          </a:prstGeom>
          <a:ln w="19050" cap="flat" cmpd="sng" algn="ctr">
            <a:solidFill>
              <a:srgbClr val="0070C0"/>
            </a:solidFill>
            <a:prstDash val="solid"/>
            <a:round/>
            <a:headEnd type="none" w="med" len="med"/>
            <a:tailEnd type="triangl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8" name="직선 화살표 연결선 7">
            <a:extLst>
              <a:ext uri="{FF2B5EF4-FFF2-40B4-BE49-F238E27FC236}">
                <a16:creationId xmlns:a16="http://schemas.microsoft.com/office/drawing/2014/main" id="{62AF1054-EAC8-9B61-B02F-6F6C84B1C32B}"/>
              </a:ext>
            </a:extLst>
          </p:cNvPr>
          <p:cNvCxnSpPr>
            <a:cxnSpLocks/>
          </p:cNvCxnSpPr>
          <p:nvPr/>
        </p:nvCxnSpPr>
        <p:spPr>
          <a:xfrm>
            <a:off x="2960274" y="3621960"/>
            <a:ext cx="2138252" cy="2077183"/>
          </a:xfrm>
          <a:prstGeom prst="straightConnector1">
            <a:avLst/>
          </a:prstGeom>
          <a:ln w="12700">
            <a:solidFill>
              <a:schemeClr val="accent1"/>
            </a:solidFill>
            <a:headEnd type="oval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직선 화살표 연결선 15">
            <a:extLst>
              <a:ext uri="{FF2B5EF4-FFF2-40B4-BE49-F238E27FC236}">
                <a16:creationId xmlns:a16="http://schemas.microsoft.com/office/drawing/2014/main" id="{37007B67-3039-2987-2B18-71F85416E46E}"/>
              </a:ext>
            </a:extLst>
          </p:cNvPr>
          <p:cNvCxnSpPr>
            <a:cxnSpLocks/>
          </p:cNvCxnSpPr>
          <p:nvPr/>
        </p:nvCxnSpPr>
        <p:spPr>
          <a:xfrm flipV="1">
            <a:off x="2962625" y="2359745"/>
            <a:ext cx="2082173" cy="986954"/>
          </a:xfrm>
          <a:prstGeom prst="straightConnector1">
            <a:avLst/>
          </a:prstGeom>
          <a:ln w="19050" cap="flat" cmpd="sng" algn="ctr">
            <a:solidFill>
              <a:srgbClr val="0070C0"/>
            </a:solidFill>
            <a:prstDash val="solid"/>
            <a:round/>
            <a:headEnd type="none" w="med" len="med"/>
            <a:tailEnd type="triangl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18" name="직선 화살표 연결선 17">
            <a:extLst>
              <a:ext uri="{FF2B5EF4-FFF2-40B4-BE49-F238E27FC236}">
                <a16:creationId xmlns:a16="http://schemas.microsoft.com/office/drawing/2014/main" id="{A7C3EDFC-A72C-9022-4C38-CDD70A247287}"/>
              </a:ext>
            </a:extLst>
          </p:cNvPr>
          <p:cNvCxnSpPr>
            <a:cxnSpLocks/>
          </p:cNvCxnSpPr>
          <p:nvPr/>
        </p:nvCxnSpPr>
        <p:spPr>
          <a:xfrm>
            <a:off x="2962625" y="3346699"/>
            <a:ext cx="2170900" cy="2145460"/>
          </a:xfrm>
          <a:prstGeom prst="straightConnector1">
            <a:avLst/>
          </a:prstGeom>
          <a:ln w="12700">
            <a:solidFill>
              <a:schemeClr val="accent1"/>
            </a:solidFill>
            <a:headEnd type="oval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9" name="TextBox 28">
            <a:extLst>
              <a:ext uri="{FF2B5EF4-FFF2-40B4-BE49-F238E27FC236}">
                <a16:creationId xmlns:a16="http://schemas.microsoft.com/office/drawing/2014/main" id="{8E2CB7C3-2C69-0D30-15DB-B4D3B3F04670}"/>
              </a:ext>
            </a:extLst>
          </p:cNvPr>
          <p:cNvSpPr txBox="1"/>
          <p:nvPr/>
        </p:nvSpPr>
        <p:spPr>
          <a:xfrm>
            <a:off x="6331643" y="1541228"/>
            <a:ext cx="172835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/>
              <a:t>D3D </a:t>
            </a:r>
            <a:r>
              <a:rPr lang="ko-KR" altLang="en-US" dirty="0"/>
              <a:t>자원 관리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B4CC4B97-3E08-EC52-630F-5F351441B60C}"/>
              </a:ext>
            </a:extLst>
          </p:cNvPr>
          <p:cNvSpPr txBox="1"/>
          <p:nvPr/>
        </p:nvSpPr>
        <p:spPr>
          <a:xfrm>
            <a:off x="6258595" y="4694635"/>
            <a:ext cx="397416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dirty="0"/>
              <a:t>파일에서 읽은 읽기전용 데이터 관리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AF3FA8B0-18E3-4A86-42FB-5D39D16669BF}"/>
              </a:ext>
            </a:extLst>
          </p:cNvPr>
          <p:cNvSpPr txBox="1"/>
          <p:nvPr/>
        </p:nvSpPr>
        <p:spPr>
          <a:xfrm>
            <a:off x="2177583" y="2725114"/>
            <a:ext cx="931089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200" dirty="0" err="1"/>
              <a:t>Shared_ptr</a:t>
            </a:r>
            <a:endParaRPr lang="ko-KR" altLang="en-US" sz="1200" dirty="0"/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33A9518E-E0D8-2542-76D5-19D74FFF6709}"/>
              </a:ext>
            </a:extLst>
          </p:cNvPr>
          <p:cNvSpPr txBox="1"/>
          <p:nvPr/>
        </p:nvSpPr>
        <p:spPr>
          <a:xfrm>
            <a:off x="5929545" y="3612750"/>
            <a:ext cx="804195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200" dirty="0" err="1"/>
              <a:t>weak_ptr</a:t>
            </a:r>
            <a:endParaRPr lang="ko-KR" altLang="en-US" sz="1200" dirty="0"/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B2D5FD96-C1DA-8CA3-A9CE-261FE3579228}"/>
              </a:ext>
            </a:extLst>
          </p:cNvPr>
          <p:cNvSpPr txBox="1"/>
          <p:nvPr/>
        </p:nvSpPr>
        <p:spPr>
          <a:xfrm>
            <a:off x="5903698" y="6411032"/>
            <a:ext cx="804195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200" dirty="0" err="1"/>
              <a:t>weak_ptr</a:t>
            </a:r>
            <a:endParaRPr lang="ko-KR" altLang="en-US" sz="1200" dirty="0"/>
          </a:p>
        </p:txBody>
      </p:sp>
    </p:spTree>
    <p:extLst>
      <p:ext uri="{BB962C8B-B14F-4D97-AF65-F5344CB8AC3E}">
        <p14:creationId xmlns:p14="http://schemas.microsoft.com/office/powerpoint/2010/main" val="310081065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4273D71-EFC6-4D1C-3FE7-CD0837304BA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경로 기반 </a:t>
            </a:r>
            <a:r>
              <a:rPr lang="en-US" altLang="ko-KR" dirty="0"/>
              <a:t>Key / </a:t>
            </a:r>
            <a:r>
              <a:rPr lang="ko-KR" altLang="en-US" dirty="0"/>
              <a:t>데이터 기반 </a:t>
            </a:r>
            <a:r>
              <a:rPr lang="en-US" altLang="ko-KR" dirty="0"/>
              <a:t>Key </a:t>
            </a:r>
            <a:endParaRPr lang="ko-KR" altLang="en-US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3670740B-F676-28E6-561B-66E921181CB3}"/>
              </a:ext>
            </a:extLst>
          </p:cNvPr>
          <p:cNvSpPr txBox="1"/>
          <p:nvPr/>
        </p:nvSpPr>
        <p:spPr>
          <a:xfrm>
            <a:off x="475130" y="1601148"/>
            <a:ext cx="8991599" cy="23083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1200" dirty="0" err="1"/>
              <a:t>enum</a:t>
            </a:r>
            <a:r>
              <a:rPr lang="ko-KR" altLang="en-US" sz="1200" dirty="0"/>
              <a:t> </a:t>
            </a:r>
            <a:r>
              <a:rPr lang="ko-KR" altLang="en-US" sz="1200" dirty="0" err="1"/>
              <a:t>class</a:t>
            </a:r>
            <a:r>
              <a:rPr lang="ko-KR" altLang="en-US" sz="1200" dirty="0"/>
              <a:t> </a:t>
            </a:r>
            <a:r>
              <a:rPr lang="ko-KR" altLang="en-US" sz="1200" dirty="0" err="1"/>
              <a:t>EAssetKind</a:t>
            </a:r>
            <a:r>
              <a:rPr lang="ko-KR" altLang="en-US" sz="1200" dirty="0"/>
              <a:t> : uint8_t {</a:t>
            </a:r>
          </a:p>
          <a:p>
            <a:r>
              <a:rPr lang="ko-KR" altLang="en-US" sz="1200" dirty="0"/>
              <a:t>    Texture2D, </a:t>
            </a:r>
            <a:r>
              <a:rPr lang="ko-KR" altLang="en-US" sz="1200" dirty="0" err="1"/>
              <a:t>TextureCube</a:t>
            </a:r>
            <a:r>
              <a:rPr lang="ko-KR" altLang="en-US" sz="1200" dirty="0"/>
              <a:t>, </a:t>
            </a:r>
            <a:r>
              <a:rPr lang="en-US" altLang="ko-KR" sz="1200" dirty="0" err="1"/>
              <a:t>StaticMesh,SkeletalMesh</a:t>
            </a:r>
            <a:r>
              <a:rPr lang="ko-KR" altLang="en-US" sz="1200" dirty="0"/>
              <a:t>, </a:t>
            </a:r>
            <a:r>
              <a:rPr lang="ko-KR" altLang="en-US" sz="1200" dirty="0" err="1"/>
              <a:t>Skelet</a:t>
            </a:r>
            <a:r>
              <a:rPr lang="en-US" altLang="ko-KR" sz="1200" dirty="0"/>
              <a:t>on</a:t>
            </a:r>
            <a:r>
              <a:rPr lang="ko-KR" altLang="en-US" sz="1200" dirty="0"/>
              <a:t>, </a:t>
            </a:r>
            <a:r>
              <a:rPr lang="ko-KR" altLang="en-US" sz="1200" dirty="0" err="1"/>
              <a:t>Animation</a:t>
            </a:r>
            <a:r>
              <a:rPr lang="ko-KR" altLang="en-US" sz="1200" dirty="0"/>
              <a:t>, </a:t>
            </a:r>
            <a:r>
              <a:rPr lang="ko-KR" altLang="en-US" sz="1200" dirty="0" err="1"/>
              <a:t>Material</a:t>
            </a:r>
            <a:r>
              <a:rPr lang="ko-KR" altLang="en-US" sz="1200" dirty="0"/>
              <a:t>, </a:t>
            </a:r>
            <a:r>
              <a:rPr lang="ko-KR" altLang="en-US" sz="1200" dirty="0" err="1"/>
              <a:t>ShaderSrc</a:t>
            </a:r>
            <a:r>
              <a:rPr lang="ko-KR" altLang="en-US" sz="1200" dirty="0"/>
              <a:t>, </a:t>
            </a:r>
            <a:r>
              <a:rPr lang="ko-KR" altLang="en-US" sz="1200" dirty="0" err="1"/>
              <a:t>Other</a:t>
            </a:r>
            <a:endParaRPr lang="ko-KR" altLang="en-US" sz="1200" dirty="0"/>
          </a:p>
          <a:p>
            <a:r>
              <a:rPr lang="ko-KR" altLang="en-US" sz="1200" dirty="0"/>
              <a:t>};</a:t>
            </a:r>
          </a:p>
          <a:p>
            <a:endParaRPr lang="ko-KR" altLang="en-US" sz="1200" dirty="0"/>
          </a:p>
          <a:p>
            <a:r>
              <a:rPr lang="ko-KR" altLang="en-US" sz="1200" dirty="0" err="1"/>
              <a:t>struct</a:t>
            </a:r>
            <a:r>
              <a:rPr lang="ko-KR" altLang="en-US" sz="1200" dirty="0"/>
              <a:t> </a:t>
            </a:r>
            <a:r>
              <a:rPr lang="ko-KR" altLang="en-US" sz="1200" dirty="0" err="1"/>
              <a:t>AssetKey</a:t>
            </a:r>
            <a:r>
              <a:rPr lang="ko-KR" altLang="en-US" sz="1200" dirty="0"/>
              <a:t> {</a:t>
            </a:r>
          </a:p>
          <a:p>
            <a:r>
              <a:rPr lang="ko-KR" altLang="en-US" sz="1200" dirty="0"/>
              <a:t>    </a:t>
            </a:r>
            <a:r>
              <a:rPr lang="ko-KR" altLang="en-US" sz="1200" dirty="0" err="1"/>
              <a:t>std</a:t>
            </a:r>
            <a:r>
              <a:rPr lang="ko-KR" altLang="en-US" sz="1200" dirty="0"/>
              <a:t>::</a:t>
            </a:r>
            <a:r>
              <a:rPr lang="ko-KR" altLang="en-US" sz="1200" dirty="0" err="1"/>
              <a:t>string</a:t>
            </a:r>
            <a:r>
              <a:rPr lang="ko-KR" altLang="en-US" sz="1200" dirty="0"/>
              <a:t> </a:t>
            </a:r>
            <a:r>
              <a:rPr lang="ko-KR" altLang="en-US" sz="1200" dirty="0" err="1"/>
              <a:t>pathNorm</a:t>
            </a:r>
            <a:r>
              <a:rPr lang="ko-KR" altLang="en-US" sz="1200" dirty="0"/>
              <a:t>;   </a:t>
            </a:r>
          </a:p>
          <a:p>
            <a:r>
              <a:rPr lang="ko-KR" altLang="en-US" sz="1200" dirty="0"/>
              <a:t>    </a:t>
            </a:r>
            <a:r>
              <a:rPr lang="ko-KR" altLang="en-US" sz="1200" dirty="0" err="1"/>
              <a:t>EAssetKind</a:t>
            </a:r>
            <a:r>
              <a:rPr lang="ko-KR" altLang="en-US" sz="1200" dirty="0"/>
              <a:t>     </a:t>
            </a:r>
            <a:r>
              <a:rPr lang="ko-KR" altLang="en-US" sz="1200" dirty="0" err="1"/>
              <a:t>kind</a:t>
            </a:r>
            <a:r>
              <a:rPr lang="ko-KR" altLang="en-US" sz="1200" dirty="0"/>
              <a:t>;</a:t>
            </a:r>
            <a:endParaRPr lang="en-US" altLang="ko-KR" sz="1200" dirty="0"/>
          </a:p>
          <a:p>
            <a:endParaRPr lang="ko-KR" altLang="en-US" sz="1200" dirty="0"/>
          </a:p>
          <a:p>
            <a:r>
              <a:rPr lang="ko-KR" altLang="en-US" sz="1200" dirty="0"/>
              <a:t>    </a:t>
            </a:r>
            <a:r>
              <a:rPr lang="ko-KR" altLang="en-US" sz="1200" dirty="0" err="1"/>
              <a:t>friend</a:t>
            </a:r>
            <a:r>
              <a:rPr lang="ko-KR" altLang="en-US" sz="1200" dirty="0"/>
              <a:t> </a:t>
            </a:r>
            <a:r>
              <a:rPr lang="ko-KR" altLang="en-US" sz="1200" dirty="0" err="1"/>
              <a:t>bool</a:t>
            </a:r>
            <a:r>
              <a:rPr lang="ko-KR" altLang="en-US" sz="1200" dirty="0"/>
              <a:t> </a:t>
            </a:r>
            <a:r>
              <a:rPr lang="ko-KR" altLang="en-US" sz="1200" dirty="0" err="1"/>
              <a:t>operator</a:t>
            </a:r>
            <a:r>
              <a:rPr lang="ko-KR" altLang="en-US" sz="1200" dirty="0"/>
              <a:t>==(</a:t>
            </a:r>
            <a:r>
              <a:rPr lang="ko-KR" altLang="en-US" sz="1200" dirty="0" err="1"/>
              <a:t>AssetKey</a:t>
            </a:r>
            <a:r>
              <a:rPr lang="ko-KR" altLang="en-US" sz="1200" dirty="0"/>
              <a:t> </a:t>
            </a:r>
            <a:r>
              <a:rPr lang="ko-KR" altLang="en-US" sz="1200" dirty="0" err="1"/>
              <a:t>const</a:t>
            </a:r>
            <a:r>
              <a:rPr lang="ko-KR" altLang="en-US" sz="1200" dirty="0"/>
              <a:t>&amp; </a:t>
            </a:r>
            <a:r>
              <a:rPr lang="ko-KR" altLang="en-US" sz="1200" dirty="0" err="1"/>
              <a:t>a</a:t>
            </a:r>
            <a:r>
              <a:rPr lang="ko-KR" altLang="en-US" sz="1200" dirty="0"/>
              <a:t>, </a:t>
            </a:r>
            <a:r>
              <a:rPr lang="ko-KR" altLang="en-US" sz="1200" dirty="0" err="1"/>
              <a:t>AssetKey</a:t>
            </a:r>
            <a:r>
              <a:rPr lang="ko-KR" altLang="en-US" sz="1200" dirty="0"/>
              <a:t> </a:t>
            </a:r>
            <a:r>
              <a:rPr lang="ko-KR" altLang="en-US" sz="1200" dirty="0" err="1"/>
              <a:t>const</a:t>
            </a:r>
            <a:r>
              <a:rPr lang="ko-KR" altLang="en-US" sz="1200" dirty="0"/>
              <a:t>&amp; </a:t>
            </a:r>
            <a:r>
              <a:rPr lang="ko-KR" altLang="en-US" sz="1200" dirty="0" err="1"/>
              <a:t>b</a:t>
            </a:r>
            <a:r>
              <a:rPr lang="ko-KR" altLang="en-US" sz="1200" dirty="0"/>
              <a:t>) {</a:t>
            </a:r>
          </a:p>
          <a:p>
            <a:r>
              <a:rPr lang="ko-KR" altLang="en-US" sz="1200" dirty="0"/>
              <a:t>        </a:t>
            </a:r>
            <a:r>
              <a:rPr lang="ko-KR" altLang="en-US" sz="1200" dirty="0" err="1"/>
              <a:t>return</a:t>
            </a:r>
            <a:r>
              <a:rPr lang="ko-KR" altLang="en-US" sz="1200" dirty="0"/>
              <a:t> </a:t>
            </a:r>
            <a:r>
              <a:rPr lang="ko-KR" altLang="en-US" sz="1200" dirty="0" err="1"/>
              <a:t>a.kind</a:t>
            </a:r>
            <a:r>
              <a:rPr lang="ko-KR" altLang="en-US" sz="1200" dirty="0"/>
              <a:t>==</a:t>
            </a:r>
            <a:r>
              <a:rPr lang="ko-KR" altLang="en-US" sz="1200" dirty="0" err="1"/>
              <a:t>b.kind</a:t>
            </a:r>
            <a:r>
              <a:rPr lang="ko-KR" altLang="en-US" sz="1200" dirty="0"/>
              <a:t> &amp;&amp; </a:t>
            </a:r>
            <a:r>
              <a:rPr lang="ko-KR" altLang="en-US" sz="1200" dirty="0" err="1"/>
              <a:t>a.pathNorm</a:t>
            </a:r>
            <a:r>
              <a:rPr lang="ko-KR" altLang="en-US" sz="1200" dirty="0"/>
              <a:t>==</a:t>
            </a:r>
            <a:r>
              <a:rPr lang="ko-KR" altLang="en-US" sz="1200" dirty="0" err="1"/>
              <a:t>b.pathNorm</a:t>
            </a:r>
            <a:r>
              <a:rPr lang="ko-KR" altLang="en-US" sz="1200" dirty="0"/>
              <a:t>;</a:t>
            </a:r>
          </a:p>
          <a:p>
            <a:r>
              <a:rPr lang="ko-KR" altLang="en-US" sz="1200" dirty="0"/>
              <a:t>    }</a:t>
            </a:r>
          </a:p>
          <a:p>
            <a:r>
              <a:rPr lang="ko-KR" altLang="en-US" sz="1200" dirty="0"/>
              <a:t>};</a:t>
            </a:r>
          </a:p>
        </p:txBody>
      </p:sp>
      <p:graphicFrame>
        <p:nvGraphicFramePr>
          <p:cNvPr id="11" name="표 10">
            <a:extLst>
              <a:ext uri="{FF2B5EF4-FFF2-40B4-BE49-F238E27FC236}">
                <a16:creationId xmlns:a16="http://schemas.microsoft.com/office/drawing/2014/main" id="{78647B6F-5F1C-2707-927E-DF35DED6767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61599360"/>
              </p:ext>
            </p:extLst>
          </p:nvPr>
        </p:nvGraphicFramePr>
        <p:xfrm>
          <a:off x="1244813" y="3695365"/>
          <a:ext cx="9286795" cy="3122973"/>
        </p:xfrm>
        <a:graphic>
          <a:graphicData uri="http://schemas.openxmlformats.org/drawingml/2006/table">
            <a:tbl>
              <a:tblPr/>
              <a:tblGrid>
                <a:gridCol w="1416488">
                  <a:extLst>
                    <a:ext uri="{9D8B030D-6E8A-4147-A177-3AD203B41FA5}">
                      <a16:colId xmlns:a16="http://schemas.microsoft.com/office/drawing/2014/main" val="2639864501"/>
                    </a:ext>
                  </a:extLst>
                </a:gridCol>
                <a:gridCol w="3893179">
                  <a:extLst>
                    <a:ext uri="{9D8B030D-6E8A-4147-A177-3AD203B41FA5}">
                      <a16:colId xmlns:a16="http://schemas.microsoft.com/office/drawing/2014/main" val="2467710397"/>
                    </a:ext>
                  </a:extLst>
                </a:gridCol>
                <a:gridCol w="3977128">
                  <a:extLst>
                    <a:ext uri="{9D8B030D-6E8A-4147-A177-3AD203B41FA5}">
                      <a16:colId xmlns:a16="http://schemas.microsoft.com/office/drawing/2014/main" val="1685600920"/>
                    </a:ext>
                  </a:extLst>
                </a:gridCol>
              </a:tblGrid>
              <a:tr h="411613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ko-KR" altLang="en-US" sz="1200"/>
                        <a:t>구분</a:t>
                      </a:r>
                    </a:p>
                  </a:txBody>
                  <a:tcPr marL="58802" marR="58802" marT="29401" marB="2940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ko-KR" altLang="en-US" sz="1200" b="1" dirty="0"/>
                        <a:t>경로 기반 키 </a:t>
                      </a:r>
                      <a:r>
                        <a:rPr lang="en-US" altLang="ko-KR" sz="1200" b="1" dirty="0"/>
                        <a:t>(</a:t>
                      </a:r>
                      <a:r>
                        <a:rPr lang="en-US" sz="1200" b="1" dirty="0" err="1"/>
                        <a:t>PathKey</a:t>
                      </a:r>
                      <a:r>
                        <a:rPr lang="en-US" sz="1200" b="1" dirty="0"/>
                        <a:t>)</a:t>
                      </a:r>
                      <a:endParaRPr lang="en-US" sz="1200" dirty="0"/>
                    </a:p>
                  </a:txBody>
                  <a:tcPr marL="58802" marR="58802" marT="29401" marB="2940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ko-KR" altLang="en-US" sz="1200" b="1"/>
                        <a:t>데이터 기반 키 </a:t>
                      </a:r>
                      <a:r>
                        <a:rPr lang="en-US" altLang="ko-KR" sz="1200" b="1"/>
                        <a:t>(</a:t>
                      </a:r>
                      <a:r>
                        <a:rPr lang="en-US" sz="1200" b="1"/>
                        <a:t>StableID / ContentHash)</a:t>
                      </a:r>
                      <a:endParaRPr lang="en-US" sz="1200"/>
                    </a:p>
                  </a:txBody>
                  <a:tcPr marL="58802" marR="58802" marT="29401" marB="2940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793727145"/>
                  </a:ext>
                </a:extLst>
              </a:tr>
              <a:tr h="411613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ko-KR" altLang="en-US" sz="1200" b="1"/>
                        <a:t>기준</a:t>
                      </a:r>
                      <a:endParaRPr lang="ko-KR" altLang="en-US" sz="1200"/>
                    </a:p>
                  </a:txBody>
                  <a:tcPr marL="58802" marR="58802" marT="29401" marB="2940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ko-KR" altLang="en-US" sz="1200" dirty="0"/>
                        <a:t>파일의 </a:t>
                      </a:r>
                      <a:r>
                        <a:rPr lang="ko-KR" altLang="en-US" sz="1200" b="1" dirty="0"/>
                        <a:t>경로</a:t>
                      </a:r>
                      <a:r>
                        <a:rPr lang="en-US" altLang="ko-KR" sz="1200" b="1" dirty="0"/>
                        <a:t>(Path)</a:t>
                      </a:r>
                      <a:r>
                        <a:rPr lang="en-US" altLang="ko-KR" sz="1200" dirty="0"/>
                        <a:t>, </a:t>
                      </a:r>
                      <a:r>
                        <a:rPr lang="ko-KR" altLang="en-US" sz="1200" dirty="0"/>
                        <a:t>카테고리 등</a:t>
                      </a:r>
                    </a:p>
                  </a:txBody>
                  <a:tcPr marL="58802" marR="58802" marT="29401" marB="2940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ko-KR" altLang="en-US" sz="1200"/>
                        <a:t>파일의 </a:t>
                      </a:r>
                      <a:r>
                        <a:rPr lang="ko-KR" altLang="en-US" sz="1200" b="1"/>
                        <a:t>실제 내용</a:t>
                      </a:r>
                      <a:r>
                        <a:rPr lang="en-US" altLang="ko-KR" sz="1200" b="1"/>
                        <a:t>(Content)</a:t>
                      </a:r>
                      <a:r>
                        <a:rPr lang="ko-KR" altLang="en-US" sz="1200"/>
                        <a:t> 또는 고정 </a:t>
                      </a:r>
                      <a:r>
                        <a:rPr lang="en-US" altLang="ko-KR" sz="1200"/>
                        <a:t>GUID</a:t>
                      </a:r>
                    </a:p>
                  </a:txBody>
                  <a:tcPr marL="58802" marR="58802" marT="29401" marB="2940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051742382"/>
                  </a:ext>
                </a:extLst>
              </a:tr>
              <a:tr h="411613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ko-KR" altLang="en-US" sz="1200" b="1"/>
                        <a:t>생성 시점</a:t>
                      </a:r>
                      <a:endParaRPr lang="ko-KR" altLang="en-US" sz="1200"/>
                    </a:p>
                  </a:txBody>
                  <a:tcPr marL="58802" marR="58802" marT="29401" marB="2940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ko-KR" altLang="en-US" sz="1200"/>
                        <a:t>임포트 시 경로를 기반으로 즉시 계산</a:t>
                      </a:r>
                    </a:p>
                  </a:txBody>
                  <a:tcPr marL="58802" marR="58802" marT="29401" marB="2940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ko-KR" altLang="en-US" sz="1200"/>
                        <a:t>임포트 완료 후 실제 데이터</a:t>
                      </a:r>
                      <a:r>
                        <a:rPr lang="en-US" altLang="ko-KR" sz="1200"/>
                        <a:t>(</a:t>
                      </a:r>
                      <a:r>
                        <a:rPr lang="ko-KR" altLang="en-US" sz="1200"/>
                        <a:t>또는 쿠킹 결과</a:t>
                      </a:r>
                      <a:r>
                        <a:rPr lang="en-US" altLang="ko-KR" sz="1200"/>
                        <a:t>)</a:t>
                      </a:r>
                      <a:r>
                        <a:rPr lang="ko-KR" altLang="en-US" sz="1200"/>
                        <a:t>를 해싱</a:t>
                      </a:r>
                    </a:p>
                  </a:txBody>
                  <a:tcPr marL="58802" marR="58802" marT="29401" marB="2940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320270419"/>
                  </a:ext>
                </a:extLst>
              </a:tr>
              <a:tr h="411613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ko-KR" altLang="en-US" sz="1200" b="1"/>
                        <a:t>불변성</a:t>
                      </a:r>
                      <a:endParaRPr lang="ko-KR" altLang="en-US" sz="1200"/>
                    </a:p>
                  </a:txBody>
                  <a:tcPr marL="58802" marR="58802" marT="29401" marB="2940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ko-KR" altLang="en-US" sz="1200"/>
                        <a:t>❌ 경로가 바뀌면 키도 바뀜</a:t>
                      </a:r>
                    </a:p>
                  </a:txBody>
                  <a:tcPr marL="58802" marR="58802" marT="29401" marB="2940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ko-KR" altLang="en-US" sz="1200" dirty="0"/>
                        <a:t>✅ 내용이 같으면 항상 동일 </a:t>
                      </a:r>
                      <a:r>
                        <a:rPr lang="en-US" altLang="ko-KR" sz="1200" dirty="0"/>
                        <a:t>(</a:t>
                      </a:r>
                      <a:r>
                        <a:rPr lang="ko-KR" altLang="en-US" sz="1200" dirty="0" err="1"/>
                        <a:t>리네임해도</a:t>
                      </a:r>
                      <a:r>
                        <a:rPr lang="ko-KR" altLang="en-US" sz="1200" dirty="0"/>
                        <a:t> 유지</a:t>
                      </a:r>
                      <a:r>
                        <a:rPr lang="en-US" altLang="ko-KR" sz="1200" dirty="0"/>
                        <a:t>)</a:t>
                      </a:r>
                    </a:p>
                  </a:txBody>
                  <a:tcPr marL="58802" marR="58802" marT="29401" marB="2940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383107244"/>
                  </a:ext>
                </a:extLst>
              </a:tr>
              <a:tr h="411613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ko-KR" altLang="en-US" sz="1200" b="1"/>
                        <a:t>용도</a:t>
                      </a:r>
                      <a:endParaRPr lang="ko-KR" altLang="en-US" sz="1200"/>
                    </a:p>
                  </a:txBody>
                  <a:tcPr marL="58802" marR="58802" marT="29401" marB="2940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ko-KR" altLang="en-US" sz="1200"/>
                        <a:t>에디터 </a:t>
                      </a:r>
                      <a:r>
                        <a:rPr lang="en-US" altLang="ko-KR" sz="1200"/>
                        <a:t>/ </a:t>
                      </a:r>
                      <a:r>
                        <a:rPr lang="ko-KR" altLang="en-US" sz="1200"/>
                        <a:t>개발 중 조회</a:t>
                      </a:r>
                      <a:r>
                        <a:rPr lang="en-US" altLang="ko-KR" sz="1200"/>
                        <a:t>, </a:t>
                      </a:r>
                      <a:r>
                        <a:rPr lang="ko-KR" altLang="en-US" sz="1200"/>
                        <a:t>핫리로드</a:t>
                      </a:r>
                    </a:p>
                  </a:txBody>
                  <a:tcPr marL="58802" marR="58802" marT="29401" marB="2940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ko-KR" altLang="en-US" sz="1200"/>
                        <a:t>런타임 </a:t>
                      </a:r>
                      <a:r>
                        <a:rPr lang="en-US" altLang="ko-KR" sz="1200"/>
                        <a:t>/ </a:t>
                      </a:r>
                      <a:r>
                        <a:rPr lang="ko-KR" altLang="en-US" sz="1200"/>
                        <a:t>패키징 </a:t>
                      </a:r>
                      <a:r>
                        <a:rPr lang="en-US" altLang="ko-KR" sz="1200"/>
                        <a:t>/ </a:t>
                      </a:r>
                      <a:r>
                        <a:rPr lang="ko-KR" altLang="en-US" sz="1200"/>
                        <a:t>캐시 </a:t>
                      </a:r>
                      <a:r>
                        <a:rPr lang="en-US" altLang="ko-KR" sz="1200"/>
                        <a:t>/ </a:t>
                      </a:r>
                      <a:r>
                        <a:rPr lang="ko-KR" altLang="en-US" sz="1200"/>
                        <a:t>세이브 데이터</a:t>
                      </a:r>
                    </a:p>
                  </a:txBody>
                  <a:tcPr marL="58802" marR="58802" marT="29401" marB="2940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763990206"/>
                  </a:ext>
                </a:extLst>
              </a:tr>
              <a:tr h="411613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ko-KR" altLang="en-US" sz="1200" b="1"/>
                        <a:t>예시 값</a:t>
                      </a:r>
                      <a:endParaRPr lang="ko-KR" altLang="en-US" sz="1200"/>
                    </a:p>
                  </a:txBody>
                  <a:tcPr marL="58802" marR="58802" marT="29401" marB="2940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sv-SE" sz="1200">
                          <a:latin typeface="Courier New" panose="02070309020205020404" pitchFamily="49" charset="0"/>
                        </a:rPr>
                        <a:t>"Assets/Models/Hero.fbx"</a:t>
                      </a:r>
                      <a:r>
                        <a:rPr lang="sv-SE" sz="1200"/>
                        <a:t> → </a:t>
                      </a:r>
                      <a:r>
                        <a:rPr lang="sv-SE" sz="1200">
                          <a:latin typeface="Courier New" panose="02070309020205020404" pitchFamily="49" charset="0"/>
                        </a:rPr>
                        <a:t>0xA7E1…</a:t>
                      </a:r>
                      <a:endParaRPr lang="sv-SE" sz="1200"/>
                    </a:p>
                  </a:txBody>
                  <a:tcPr marL="58802" marR="58802" marT="29401" marB="2940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 dirty="0">
                          <a:latin typeface="Courier New" panose="02070309020205020404" pitchFamily="49" charset="0"/>
                        </a:rPr>
                        <a:t>xxHash64(</a:t>
                      </a:r>
                      <a:r>
                        <a:rPr lang="ko-KR" altLang="en-US" sz="1200" dirty="0">
                          <a:latin typeface="Courier New" panose="02070309020205020404" pitchFamily="49" charset="0"/>
                        </a:rPr>
                        <a:t>파일내용</a:t>
                      </a:r>
                      <a:r>
                        <a:rPr lang="en-US" altLang="ko-KR" sz="1200" dirty="0">
                          <a:latin typeface="Courier New" panose="02070309020205020404" pitchFamily="49" charset="0"/>
                        </a:rPr>
                        <a:t>)</a:t>
                      </a:r>
                      <a:r>
                        <a:rPr lang="ko-KR" altLang="en-US" sz="1200" dirty="0"/>
                        <a:t> → </a:t>
                      </a:r>
                      <a:r>
                        <a:rPr lang="en-US" altLang="ko-KR" sz="1200" dirty="0">
                          <a:latin typeface="Courier New" panose="02070309020205020404" pitchFamily="49" charset="0"/>
                        </a:rPr>
                        <a:t>0</a:t>
                      </a:r>
                      <a:r>
                        <a:rPr lang="en-US" sz="1200" dirty="0">
                          <a:latin typeface="Courier New" panose="02070309020205020404" pitchFamily="49" charset="0"/>
                        </a:rPr>
                        <a:t>xF13C…</a:t>
                      </a:r>
                      <a:endParaRPr lang="en-US" sz="1200" dirty="0"/>
                    </a:p>
                  </a:txBody>
                  <a:tcPr marL="58802" marR="58802" marT="29401" marB="2940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172521442"/>
                  </a:ext>
                </a:extLst>
              </a:tr>
              <a:tr h="235207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ko-KR" altLang="en-US" sz="1200" b="1"/>
                        <a:t>속도</a:t>
                      </a:r>
                      <a:r>
                        <a:rPr lang="en-US" altLang="ko-KR" sz="1200" b="1"/>
                        <a:t>/</a:t>
                      </a:r>
                      <a:r>
                        <a:rPr lang="ko-KR" altLang="en-US" sz="1200" b="1"/>
                        <a:t>비용</a:t>
                      </a:r>
                      <a:endParaRPr lang="ko-KR" altLang="en-US" sz="1200"/>
                    </a:p>
                  </a:txBody>
                  <a:tcPr marL="58802" marR="58802" marT="29401" marB="2940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ko-KR" altLang="en-US" sz="1200"/>
                        <a:t>문자열 비교 → 느림</a:t>
                      </a:r>
                    </a:p>
                  </a:txBody>
                  <a:tcPr marL="58802" marR="58802" marT="29401" marB="2940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ko-KR" altLang="en-US" sz="1200" dirty="0"/>
                        <a:t>정수 비교 → 매우 빠름</a:t>
                      </a:r>
                    </a:p>
                  </a:txBody>
                  <a:tcPr marL="58802" marR="58802" marT="29401" marB="2940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83457880"/>
                  </a:ext>
                </a:extLst>
              </a:tr>
              <a:tr h="411613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ko-KR" altLang="en-US" sz="1200" b="1"/>
                        <a:t>사례 </a:t>
                      </a:r>
                      <a:r>
                        <a:rPr lang="en-US" altLang="ko-KR" sz="1200" b="1"/>
                        <a:t>(</a:t>
                      </a:r>
                      <a:r>
                        <a:rPr lang="ko-KR" altLang="en-US" sz="1200" b="1"/>
                        <a:t>엔진</a:t>
                      </a:r>
                      <a:r>
                        <a:rPr lang="en-US" altLang="ko-KR" sz="1200" b="1"/>
                        <a:t>)</a:t>
                      </a:r>
                      <a:endParaRPr lang="ko-KR" altLang="en-US" sz="1200"/>
                    </a:p>
                  </a:txBody>
                  <a:tcPr marL="58802" marR="58802" marT="29401" marB="2940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/>
                        <a:t>Unreal </a:t>
                      </a:r>
                      <a:r>
                        <a:rPr lang="en-US" sz="1200">
                          <a:latin typeface="Courier New" panose="02070309020205020404" pitchFamily="49" charset="0"/>
                        </a:rPr>
                        <a:t>FSoftObjectPath</a:t>
                      </a:r>
                      <a:r>
                        <a:rPr lang="en-US" sz="1200"/>
                        <a:t>, Unity </a:t>
                      </a:r>
                      <a:r>
                        <a:rPr lang="en-US" sz="1200">
                          <a:latin typeface="Courier New" panose="02070309020205020404" pitchFamily="49" charset="0"/>
                        </a:rPr>
                        <a:t>AssetPath</a:t>
                      </a:r>
                      <a:endParaRPr lang="en-US" sz="1200"/>
                    </a:p>
                  </a:txBody>
                  <a:tcPr marL="58802" marR="58802" marT="29401" marB="2940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 dirty="0"/>
                        <a:t>Unreal </a:t>
                      </a:r>
                      <a:r>
                        <a:rPr lang="en-US" sz="1200" dirty="0" err="1">
                          <a:latin typeface="Courier New" panose="02070309020205020404" pitchFamily="49" charset="0"/>
                        </a:rPr>
                        <a:t>FGuid</a:t>
                      </a:r>
                      <a:r>
                        <a:rPr lang="en-US" sz="1200" dirty="0">
                          <a:latin typeface="Courier New" panose="02070309020205020404" pitchFamily="49" charset="0"/>
                        </a:rPr>
                        <a:t>/</a:t>
                      </a:r>
                      <a:r>
                        <a:rPr lang="en-US" sz="1200" dirty="0" err="1">
                          <a:latin typeface="Courier New" panose="02070309020205020404" pitchFamily="49" charset="0"/>
                        </a:rPr>
                        <a:t>FPackageId</a:t>
                      </a:r>
                      <a:r>
                        <a:rPr lang="en-US" sz="1200" dirty="0"/>
                        <a:t>, Unity </a:t>
                      </a:r>
                      <a:r>
                        <a:rPr lang="en-US" sz="1200" dirty="0">
                          <a:latin typeface="Courier New" panose="02070309020205020404" pitchFamily="49" charset="0"/>
                        </a:rPr>
                        <a:t>GUID</a:t>
                      </a:r>
                      <a:endParaRPr lang="en-US" sz="1200" dirty="0"/>
                    </a:p>
                  </a:txBody>
                  <a:tcPr marL="58802" marR="58802" marT="29401" marB="2940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207983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3772645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0CE1A59-D87B-4213-A961-4412B956003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리소스매니저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8204DC67-B41E-4360-822B-B4A04929919D}"/>
              </a:ext>
            </a:extLst>
          </p:cNvPr>
          <p:cNvSpPr txBox="1"/>
          <p:nvPr/>
        </p:nvSpPr>
        <p:spPr>
          <a:xfrm>
            <a:off x="510540" y="1690688"/>
            <a:ext cx="11768286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dirty="0"/>
              <a:t> 리소스 생성을 리소스 매니저를 통해서 생성한다</a:t>
            </a:r>
            <a:r>
              <a:rPr lang="en-US" altLang="ko-KR" dirty="0"/>
              <a:t>. </a:t>
            </a:r>
            <a:r>
              <a:rPr lang="ko-KR" altLang="en-US" dirty="0"/>
              <a:t>파일 경로</a:t>
            </a:r>
            <a:r>
              <a:rPr lang="en-US" altLang="ko-KR" dirty="0"/>
              <a:t>+</a:t>
            </a:r>
            <a:r>
              <a:rPr lang="ko-KR" altLang="en-US" dirty="0"/>
              <a:t>타입  키로 사용하여 컨테이너에서 찾는다</a:t>
            </a:r>
            <a:r>
              <a:rPr lang="en-US" altLang="ko-KR" dirty="0"/>
              <a:t>.</a:t>
            </a:r>
          </a:p>
          <a:p>
            <a:r>
              <a:rPr lang="ko-KR" altLang="en-US" dirty="0"/>
              <a:t>없으면 생성하여 내부에서는 리소스를 </a:t>
            </a:r>
            <a:r>
              <a:rPr lang="en-US" altLang="ko-KR" dirty="0" err="1"/>
              <a:t>weak_ptr</a:t>
            </a:r>
            <a:r>
              <a:rPr lang="en-US" altLang="ko-KR" dirty="0"/>
              <a:t> </a:t>
            </a:r>
            <a:r>
              <a:rPr lang="ko-KR" altLang="en-US" dirty="0"/>
              <a:t>로 소유하고  외부에 </a:t>
            </a:r>
            <a:r>
              <a:rPr lang="en-US" altLang="ko-KR" dirty="0" err="1"/>
              <a:t>shared_ptr</a:t>
            </a:r>
            <a:r>
              <a:rPr lang="ko-KR" altLang="en-US" dirty="0"/>
              <a:t>로 전달</a:t>
            </a:r>
            <a:r>
              <a:rPr lang="en-US" altLang="ko-KR" dirty="0"/>
              <a:t>(</a:t>
            </a:r>
            <a:r>
              <a:rPr lang="ko-KR" altLang="en-US" dirty="0" err="1"/>
              <a:t>참조카운터</a:t>
            </a:r>
            <a:r>
              <a:rPr lang="ko-KR" altLang="en-US" dirty="0"/>
              <a:t> 증가</a:t>
            </a:r>
            <a:r>
              <a:rPr lang="en-US" altLang="ko-KR" dirty="0"/>
              <a:t>)</a:t>
            </a:r>
            <a:r>
              <a:rPr lang="ko-KR" altLang="en-US" dirty="0"/>
              <a:t> 한다</a:t>
            </a:r>
            <a:r>
              <a:rPr lang="en-US" altLang="ko-KR" dirty="0"/>
              <a:t>. </a:t>
            </a:r>
          </a:p>
          <a:p>
            <a:r>
              <a:rPr lang="ko-KR" altLang="en-US" dirty="0"/>
              <a:t>있으면 메모리에 아직 유효한지 확인후 외부에 </a:t>
            </a:r>
            <a:r>
              <a:rPr lang="en-US" altLang="ko-KR" dirty="0" err="1"/>
              <a:t>shared_ptr</a:t>
            </a:r>
            <a:r>
              <a:rPr lang="ko-KR" altLang="en-US" dirty="0"/>
              <a:t>로 전달하여 공유한다</a:t>
            </a:r>
            <a:r>
              <a:rPr lang="en-US" altLang="ko-KR" dirty="0"/>
              <a:t>.</a:t>
            </a:r>
          </a:p>
        </p:txBody>
      </p:sp>
      <p:grpSp>
        <p:nvGrpSpPr>
          <p:cNvPr id="11" name="그룹 10">
            <a:extLst>
              <a:ext uri="{FF2B5EF4-FFF2-40B4-BE49-F238E27FC236}">
                <a16:creationId xmlns:a16="http://schemas.microsoft.com/office/drawing/2014/main" id="{2F86C966-5003-87EF-5A1A-EAC1BFA5064D}"/>
              </a:ext>
            </a:extLst>
          </p:cNvPr>
          <p:cNvGrpSpPr/>
          <p:nvPr/>
        </p:nvGrpSpPr>
        <p:grpSpPr>
          <a:xfrm>
            <a:off x="1358516" y="2952235"/>
            <a:ext cx="7448933" cy="1714500"/>
            <a:chOff x="4685916" y="3734494"/>
            <a:chExt cx="7448933" cy="1714500"/>
          </a:xfrm>
        </p:grpSpPr>
        <p:sp>
          <p:nvSpPr>
            <p:cNvPr id="5" name="직사각형 4">
              <a:extLst>
                <a:ext uri="{FF2B5EF4-FFF2-40B4-BE49-F238E27FC236}">
                  <a16:creationId xmlns:a16="http://schemas.microsoft.com/office/drawing/2014/main" id="{D98F7BDA-C7CE-842A-C4E9-219A0632C9E3}"/>
                </a:ext>
              </a:extLst>
            </p:cNvPr>
            <p:cNvSpPr/>
            <p:nvPr/>
          </p:nvSpPr>
          <p:spPr>
            <a:xfrm>
              <a:off x="4685916" y="3734494"/>
              <a:ext cx="7321933" cy="1714500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4" name="직사각형 3">
              <a:extLst>
                <a:ext uri="{FF2B5EF4-FFF2-40B4-BE49-F238E27FC236}">
                  <a16:creationId xmlns:a16="http://schemas.microsoft.com/office/drawing/2014/main" id="{4C65ECDB-13DA-4EF1-8621-522A6A78C998}"/>
                </a:ext>
              </a:extLst>
            </p:cNvPr>
            <p:cNvSpPr/>
            <p:nvPr/>
          </p:nvSpPr>
          <p:spPr>
            <a:xfrm>
              <a:off x="4812916" y="3806914"/>
              <a:ext cx="7321933" cy="1569660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r>
                <a:rPr lang="ko-KR" altLang="en-US" sz="1200" dirty="0" err="1"/>
                <a:t>class</a:t>
              </a:r>
              <a:r>
                <a:rPr lang="ko-KR" altLang="en-US" sz="1200" dirty="0"/>
                <a:t> </a:t>
              </a:r>
              <a:r>
                <a:rPr lang="en-US" altLang="ko-KR" sz="1200" dirty="0"/>
                <a:t>Asset</a:t>
              </a:r>
              <a:r>
                <a:rPr lang="ko-KR" altLang="en-US" sz="1200" dirty="0" err="1"/>
                <a:t>Manager</a:t>
              </a:r>
              <a:endParaRPr lang="ko-KR" altLang="en-US" sz="1200" dirty="0"/>
            </a:p>
            <a:p>
              <a:r>
                <a:rPr lang="ko-KR" altLang="en-US" sz="1200" dirty="0"/>
                <a:t>{</a:t>
              </a:r>
            </a:p>
            <a:p>
              <a:r>
                <a:rPr lang="ko-KR" altLang="en-US" sz="1200" dirty="0"/>
                <a:t>     // Container</a:t>
              </a:r>
            </a:p>
            <a:p>
              <a:r>
                <a:rPr lang="ko-KR" altLang="en-US" sz="1200" dirty="0"/>
                <a:t>     std::</a:t>
              </a:r>
              <a:r>
                <a:rPr lang="ko-KR" altLang="en-US" sz="1200" dirty="0" err="1"/>
                <a:t>map</a:t>
              </a:r>
              <a:r>
                <a:rPr lang="ko-KR" altLang="en-US" sz="1200" dirty="0"/>
                <a:t>&lt;</a:t>
              </a:r>
              <a:r>
                <a:rPr lang="en-US" altLang="ko-KR" sz="1200" dirty="0" err="1"/>
                <a:t>AssetKey</a:t>
              </a:r>
              <a:r>
                <a:rPr lang="ko-KR" altLang="en-US" sz="1200" dirty="0"/>
                <a:t>, std::weak_ptr&lt;</a:t>
              </a:r>
              <a:r>
                <a:rPr lang="ko-KR" altLang="en-US" sz="1200" dirty="0" err="1"/>
                <a:t>StaticMesh</a:t>
              </a:r>
              <a:r>
                <a:rPr lang="en-US" altLang="ko-KR" sz="1200" dirty="0"/>
                <a:t>Asset</a:t>
              </a:r>
              <a:r>
                <a:rPr lang="ko-KR" altLang="en-US" sz="1200" dirty="0"/>
                <a:t>&gt;&gt; </a:t>
              </a:r>
              <a:r>
                <a:rPr lang="ko-KR" altLang="en-US" sz="1200" dirty="0" err="1"/>
                <a:t>m_StaticMesh</a:t>
              </a:r>
              <a:r>
                <a:rPr lang="en-US" altLang="ko-KR" sz="1200" dirty="0"/>
                <a:t>Asset</a:t>
              </a:r>
              <a:r>
                <a:rPr lang="ko-KR" altLang="en-US" sz="1200" dirty="0" err="1"/>
                <a:t>Map</a:t>
              </a:r>
              <a:r>
                <a:rPr lang="ko-KR" altLang="en-US" sz="1200" dirty="0"/>
                <a:t>;</a:t>
              </a:r>
            </a:p>
            <a:p>
              <a:r>
                <a:rPr lang="ko-KR" altLang="en-US" sz="1200" dirty="0"/>
                <a:t>     </a:t>
              </a:r>
              <a:endParaRPr lang="en-US" altLang="ko-KR" sz="1200" dirty="0"/>
            </a:p>
            <a:p>
              <a:r>
                <a:rPr lang="en-US" altLang="ko-KR" sz="1200" dirty="0"/>
                <a:t>    </a:t>
              </a:r>
              <a:r>
                <a:rPr lang="ko-KR" altLang="en-US" sz="1200" dirty="0"/>
                <a:t>// FBX파일 경로로 스테틱 메시,머터리얼 정보 얻어오기</a:t>
              </a:r>
            </a:p>
            <a:p>
              <a:r>
                <a:rPr lang="ko-KR" altLang="en-US" sz="1200" dirty="0"/>
                <a:t>     std::shared_ptr&lt;</a:t>
              </a:r>
              <a:r>
                <a:rPr lang="ko-KR" altLang="en-US" sz="1200" dirty="0" err="1"/>
                <a:t>StaticMesh</a:t>
              </a:r>
              <a:r>
                <a:rPr lang="en-US" altLang="ko-KR" sz="1200" dirty="0"/>
                <a:t>Asset</a:t>
              </a:r>
              <a:r>
                <a:rPr lang="ko-KR" altLang="en-US" sz="1200" dirty="0"/>
                <a:t>&gt; </a:t>
              </a:r>
              <a:r>
                <a:rPr lang="ko-KR" altLang="en-US" sz="1200" dirty="0" err="1"/>
                <a:t>CreateStaticMesh</a:t>
              </a:r>
              <a:r>
                <a:rPr lang="en-US" altLang="ko-KR" sz="1200" dirty="0"/>
                <a:t>Asset</a:t>
              </a:r>
              <a:r>
                <a:rPr lang="ko-KR" altLang="en-US" sz="1200" dirty="0"/>
                <a:t>(std::string filePath);</a:t>
              </a:r>
            </a:p>
            <a:p>
              <a:r>
                <a:rPr lang="ko-KR" altLang="en-US" sz="1200" dirty="0"/>
                <a:t>}</a:t>
              </a:r>
            </a:p>
          </p:txBody>
        </p:sp>
      </p:grpSp>
      <p:sp>
        <p:nvSpPr>
          <p:cNvPr id="16" name="TextBox 15">
            <a:extLst>
              <a:ext uri="{FF2B5EF4-FFF2-40B4-BE49-F238E27FC236}">
                <a16:creationId xmlns:a16="http://schemas.microsoft.com/office/drawing/2014/main" id="{D4C2C8CC-E24C-27EF-3FA4-BE3C54F97821}"/>
              </a:ext>
            </a:extLst>
          </p:cNvPr>
          <p:cNvSpPr txBox="1"/>
          <p:nvPr/>
        </p:nvSpPr>
        <p:spPr>
          <a:xfrm>
            <a:off x="979900" y="5167312"/>
            <a:ext cx="10240550" cy="138499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1200" dirty="0"/>
              <a:t>std::shared_ptr&lt;StaticMeshSceneResource&gt; </a:t>
            </a:r>
            <a:r>
              <a:rPr lang="en-US" altLang="ko-KR" sz="1200" dirty="0"/>
              <a:t>resource = Asset</a:t>
            </a:r>
            <a:r>
              <a:rPr lang="ko-KR" altLang="en-US" sz="1200" dirty="0" err="1"/>
              <a:t>Manager</a:t>
            </a:r>
            <a:r>
              <a:rPr lang="en-US" altLang="ko-KR" sz="1200" dirty="0"/>
              <a:t>::</a:t>
            </a:r>
            <a:r>
              <a:rPr lang="en-US" altLang="ko-KR" sz="1200" dirty="0" err="1"/>
              <a:t>CreateStaticMeshAsset</a:t>
            </a:r>
            <a:r>
              <a:rPr lang="en-US" altLang="ko-KR" sz="1200" dirty="0"/>
              <a:t>(“../Resource/</a:t>
            </a:r>
            <a:r>
              <a:rPr lang="en-US" altLang="ko-KR" sz="1200" dirty="0" err="1"/>
              <a:t>test.fbx</a:t>
            </a:r>
            <a:r>
              <a:rPr lang="en-US" altLang="ko-KR" sz="1200" dirty="0"/>
              <a:t>“);</a:t>
            </a:r>
          </a:p>
          <a:p>
            <a:endParaRPr lang="en-US" altLang="ko-KR" sz="1200" dirty="0"/>
          </a:p>
          <a:p>
            <a:r>
              <a:rPr lang="ko-KR" altLang="en-US" sz="1200" dirty="0"/>
              <a:t>대입연산자로 </a:t>
            </a:r>
            <a:r>
              <a:rPr lang="ko-KR" altLang="en-US" sz="1200" dirty="0" err="1"/>
              <a:t>복사할때</a:t>
            </a:r>
            <a:r>
              <a:rPr lang="ko-KR" altLang="en-US" sz="1200" dirty="0"/>
              <a:t> 레퍼런스 카운터 증가 </a:t>
            </a:r>
            <a:r>
              <a:rPr lang="en-US" altLang="ko-KR" sz="1200" dirty="0"/>
              <a:t>, </a:t>
            </a:r>
            <a:r>
              <a:rPr lang="ko-KR" altLang="en-US" sz="1200" dirty="0"/>
              <a:t>객체가 </a:t>
            </a:r>
            <a:r>
              <a:rPr lang="ko-KR" altLang="en-US" sz="1200" dirty="0" err="1"/>
              <a:t>파괴될때</a:t>
            </a:r>
            <a:r>
              <a:rPr lang="ko-KR" altLang="en-US" sz="1200" dirty="0"/>
              <a:t> 레퍼런스 카운터 감소</a:t>
            </a:r>
            <a:endParaRPr lang="en-US" altLang="ko-KR" sz="1200" dirty="0"/>
          </a:p>
          <a:p>
            <a:endParaRPr lang="en-US" altLang="ko-KR" sz="1200" dirty="0"/>
          </a:p>
          <a:p>
            <a:r>
              <a:rPr lang="ko-KR" altLang="en-US" sz="1200" dirty="0"/>
              <a:t>게임 오브젝트 또는 컴포넌트 또는 월드</a:t>
            </a:r>
            <a:r>
              <a:rPr lang="en-US" altLang="ko-KR" sz="1200" dirty="0"/>
              <a:t>(Scene)</a:t>
            </a:r>
            <a:r>
              <a:rPr lang="ko-KR" altLang="en-US" sz="1200" dirty="0"/>
              <a:t>에 저장한다</a:t>
            </a:r>
            <a:r>
              <a:rPr lang="en-US" altLang="ko-KR" sz="1200" dirty="0"/>
              <a:t>. </a:t>
            </a:r>
            <a:r>
              <a:rPr lang="ko-KR" altLang="en-US" sz="1200" dirty="0"/>
              <a:t>첫번째만 실제로 파일 읽어 처리하고 이후에는 </a:t>
            </a:r>
            <a:r>
              <a:rPr lang="en-US" altLang="ko-KR" sz="1200" dirty="0" err="1"/>
              <a:t>weak_ptr</a:t>
            </a:r>
            <a:r>
              <a:rPr lang="en-US" altLang="ko-KR" sz="1200" dirty="0"/>
              <a:t>::lock </a:t>
            </a:r>
            <a:r>
              <a:rPr lang="ko-KR" altLang="en-US" sz="1200" dirty="0"/>
              <a:t>으로 </a:t>
            </a:r>
            <a:r>
              <a:rPr lang="en-US" altLang="ko-KR" sz="1200" dirty="0" err="1"/>
              <a:t>shared_ptr</a:t>
            </a:r>
            <a:r>
              <a:rPr lang="en-US" altLang="ko-KR" sz="1200" dirty="0"/>
              <a:t> </a:t>
            </a:r>
            <a:r>
              <a:rPr lang="ko-KR" altLang="en-US" sz="1200" dirty="0"/>
              <a:t>얻는다</a:t>
            </a:r>
            <a:r>
              <a:rPr lang="en-US" altLang="ko-KR" sz="1200" dirty="0"/>
              <a:t>.</a:t>
            </a:r>
          </a:p>
          <a:p>
            <a:r>
              <a:rPr lang="en-US" altLang="ko-KR" sz="1200" dirty="0"/>
              <a:t> </a:t>
            </a:r>
            <a:r>
              <a:rPr lang="en-US" altLang="ko-KR" sz="1200" dirty="0" err="1"/>
              <a:t>shared_ptr</a:t>
            </a:r>
            <a:r>
              <a:rPr lang="ko-KR" altLang="en-US" sz="1200" dirty="0"/>
              <a:t> 객체 중에서 가장 마지막에 파괴되는 순간에 실제 메모리를 해제한다</a:t>
            </a:r>
            <a:r>
              <a:rPr lang="en-US" altLang="ko-KR" sz="1200" dirty="0"/>
              <a:t>.</a:t>
            </a:r>
          </a:p>
          <a:p>
            <a:endParaRPr lang="ko-KR" altLang="en-US" sz="1200" dirty="0"/>
          </a:p>
        </p:txBody>
      </p:sp>
    </p:spTree>
    <p:extLst>
      <p:ext uri="{BB962C8B-B14F-4D97-AF65-F5344CB8AC3E}">
        <p14:creationId xmlns:p14="http://schemas.microsoft.com/office/powerpoint/2010/main" val="94508492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직사각형 3">
            <a:extLst>
              <a:ext uri="{FF2B5EF4-FFF2-40B4-BE49-F238E27FC236}">
                <a16:creationId xmlns:a16="http://schemas.microsoft.com/office/drawing/2014/main" id="{9332CBA4-17F2-CDD9-5F7A-57362CBDCFE1}"/>
              </a:ext>
            </a:extLst>
          </p:cNvPr>
          <p:cNvSpPr/>
          <p:nvPr/>
        </p:nvSpPr>
        <p:spPr>
          <a:xfrm>
            <a:off x="838200" y="1474311"/>
            <a:ext cx="9186333" cy="5170646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" name="제목 1">
            <a:extLst>
              <a:ext uri="{FF2B5EF4-FFF2-40B4-BE49-F238E27FC236}">
                <a16:creationId xmlns:a16="http://schemas.microsoft.com/office/drawing/2014/main" id="{C39A5E00-9831-47FC-84D1-8D75062B4FA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리소스 매니저</a:t>
            </a:r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F1039BFD-0F98-4581-AD1E-2DF94C103D4D}"/>
              </a:ext>
            </a:extLst>
          </p:cNvPr>
          <p:cNvSpPr/>
          <p:nvPr/>
        </p:nvSpPr>
        <p:spPr>
          <a:xfrm>
            <a:off x="895994" y="1474311"/>
            <a:ext cx="9585960" cy="489364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endParaRPr lang="ko-KR" altLang="en-US" sz="1200" dirty="0"/>
          </a:p>
          <a:p>
            <a:r>
              <a:rPr lang="ko-KR" altLang="en-US" sz="1200" dirty="0"/>
              <a:t>std::shared_ptr&lt;</a:t>
            </a:r>
            <a:r>
              <a:rPr lang="ko-KR" altLang="en-US" sz="1200" dirty="0" err="1"/>
              <a:t>StaticMesh</a:t>
            </a:r>
            <a:r>
              <a:rPr lang="en-US" altLang="ko-KR" sz="1200" dirty="0"/>
              <a:t>Asset</a:t>
            </a:r>
            <a:r>
              <a:rPr lang="ko-KR" altLang="en-US" sz="1200" dirty="0"/>
              <a:t>&gt; </a:t>
            </a:r>
            <a:r>
              <a:rPr lang="en-US" altLang="ko-KR" sz="1200" dirty="0"/>
              <a:t>Asset</a:t>
            </a:r>
            <a:r>
              <a:rPr lang="ko-KR" altLang="en-US" sz="1200" dirty="0" err="1"/>
              <a:t>Manager</a:t>
            </a:r>
            <a:r>
              <a:rPr lang="ko-KR" altLang="en-US" sz="1200" dirty="0"/>
              <a:t>::</a:t>
            </a:r>
            <a:r>
              <a:rPr lang="ko-KR" altLang="en-US" sz="1200" dirty="0" err="1"/>
              <a:t>CreateStaticMesh</a:t>
            </a:r>
            <a:r>
              <a:rPr lang="en-US" altLang="ko-KR" sz="1200" dirty="0"/>
              <a:t>Asset</a:t>
            </a:r>
            <a:r>
              <a:rPr lang="ko-KR" altLang="en-US" sz="1200" dirty="0"/>
              <a:t>(std::string filePath)</a:t>
            </a:r>
          </a:p>
          <a:p>
            <a:r>
              <a:rPr lang="ko-KR" altLang="en-US" sz="1200" dirty="0"/>
              <a:t>{</a:t>
            </a:r>
          </a:p>
          <a:p>
            <a:r>
              <a:rPr lang="ko-KR" altLang="en-US" sz="1200" dirty="0"/>
              <a:t>     // 키로 이미 만들어진 </a:t>
            </a:r>
            <a:r>
              <a:rPr lang="ko-KR" altLang="en-US" sz="1200" dirty="0" err="1"/>
              <a:t>StaticMesh</a:t>
            </a:r>
            <a:r>
              <a:rPr lang="en-US" altLang="ko-KR" sz="1200" dirty="0"/>
              <a:t>Asset</a:t>
            </a:r>
            <a:r>
              <a:rPr lang="ko-KR" altLang="en-US" sz="1200" dirty="0"/>
              <a:t> 가 있는지 찾는다.</a:t>
            </a:r>
          </a:p>
          <a:p>
            <a:r>
              <a:rPr lang="ko-KR" altLang="en-US" sz="1200" dirty="0"/>
              <a:t>     </a:t>
            </a:r>
            <a:r>
              <a:rPr lang="en-US" altLang="ko-KR" sz="1200" dirty="0"/>
              <a:t>AssetK</a:t>
            </a:r>
            <a:r>
              <a:rPr lang="ko-KR" altLang="en-US" sz="1200" dirty="0" err="1"/>
              <a:t>ey</a:t>
            </a:r>
            <a:r>
              <a:rPr lang="ko-KR" altLang="en-US" sz="1200" dirty="0"/>
              <a:t> </a:t>
            </a:r>
            <a:r>
              <a:rPr lang="en-US" altLang="ko-KR" sz="1200" dirty="0"/>
              <a:t>key(</a:t>
            </a:r>
            <a:r>
              <a:rPr lang="ko-KR" altLang="en-US" sz="1200" dirty="0" err="1"/>
              <a:t>filePath</a:t>
            </a:r>
            <a:r>
              <a:rPr lang="en-US" altLang="ko-KR" sz="1200" dirty="0"/>
              <a:t>,</a:t>
            </a:r>
            <a:r>
              <a:rPr lang="en-US" altLang="ko-KR" sz="1200" dirty="0" err="1"/>
              <a:t>StaticMesh</a:t>
            </a:r>
            <a:r>
              <a:rPr lang="en-US" altLang="ko-KR" sz="1200" dirty="0"/>
              <a:t>)</a:t>
            </a:r>
            <a:r>
              <a:rPr lang="ko-KR" altLang="en-US" sz="1200" dirty="0"/>
              <a:t>;</a:t>
            </a:r>
          </a:p>
          <a:p>
            <a:r>
              <a:rPr lang="ko-KR" altLang="en-US" sz="1200" dirty="0"/>
              <a:t>     </a:t>
            </a:r>
            <a:r>
              <a:rPr lang="ko-KR" altLang="en-US" sz="1200" dirty="0" err="1"/>
              <a:t>auto</a:t>
            </a:r>
            <a:r>
              <a:rPr lang="ko-KR" altLang="en-US" sz="1200" dirty="0"/>
              <a:t> it = </a:t>
            </a:r>
            <a:r>
              <a:rPr lang="ko-KR" altLang="en-US" sz="1200" dirty="0" err="1"/>
              <a:t>m</a:t>
            </a:r>
            <a:r>
              <a:rPr lang="ko-KR" altLang="en-US" sz="1200" dirty="0"/>
              <a:t>_ </a:t>
            </a:r>
            <a:r>
              <a:rPr lang="ko-KR" altLang="en-US" sz="1200" dirty="0" err="1"/>
              <a:t>StaticMesh</a:t>
            </a:r>
            <a:r>
              <a:rPr lang="en-US" altLang="ko-KR" sz="1200" dirty="0"/>
              <a:t>Asset</a:t>
            </a:r>
            <a:r>
              <a:rPr lang="ko-KR" altLang="en-US" sz="1200" dirty="0" err="1"/>
              <a:t>Map.find</a:t>
            </a:r>
            <a:r>
              <a:rPr lang="ko-KR" altLang="en-US" sz="1200" dirty="0"/>
              <a:t>(key);</a:t>
            </a:r>
          </a:p>
          <a:p>
            <a:r>
              <a:rPr lang="ko-KR" altLang="en-US" sz="1200" dirty="0"/>
              <a:t>     </a:t>
            </a:r>
            <a:r>
              <a:rPr lang="ko-KR" altLang="en-US" sz="1200" dirty="0" err="1"/>
              <a:t>if</a:t>
            </a:r>
            <a:r>
              <a:rPr lang="ko-KR" altLang="en-US" sz="1200" dirty="0"/>
              <a:t> (it != </a:t>
            </a:r>
            <a:r>
              <a:rPr lang="ko-KR" altLang="en-US" sz="1200" dirty="0" err="1"/>
              <a:t>m</a:t>
            </a:r>
            <a:r>
              <a:rPr lang="ko-KR" altLang="en-US" sz="1200" dirty="0"/>
              <a:t>_ </a:t>
            </a:r>
            <a:r>
              <a:rPr lang="ko-KR" altLang="en-US" sz="1200" dirty="0" err="1"/>
              <a:t>StaticMesh</a:t>
            </a:r>
            <a:r>
              <a:rPr lang="en-US" altLang="ko-KR" sz="1200" dirty="0"/>
              <a:t>Asset</a:t>
            </a:r>
            <a:r>
              <a:rPr lang="ko-KR" altLang="en-US" sz="1200" dirty="0" err="1"/>
              <a:t>Map.end</a:t>
            </a:r>
            <a:r>
              <a:rPr lang="ko-KR" altLang="en-US" sz="1200" dirty="0"/>
              <a:t>())</a:t>
            </a:r>
          </a:p>
          <a:p>
            <a:r>
              <a:rPr lang="ko-KR" altLang="en-US" sz="1200" dirty="0"/>
              <a:t>     {</a:t>
            </a:r>
          </a:p>
          <a:p>
            <a:r>
              <a:rPr lang="en-US" altLang="ko-KR" sz="1200" dirty="0"/>
              <a:t>          if (!it-&gt;</a:t>
            </a:r>
            <a:r>
              <a:rPr lang="en-US" altLang="ko-KR" sz="1200" dirty="0" err="1"/>
              <a:t>second.expired</a:t>
            </a:r>
            <a:r>
              <a:rPr lang="en-US" altLang="ko-KR" sz="1200" dirty="0"/>
              <a:t>()) // </a:t>
            </a:r>
            <a:r>
              <a:rPr lang="en-US" altLang="ko-KR" sz="1200" dirty="0" err="1"/>
              <a:t>use_count</a:t>
            </a:r>
            <a:r>
              <a:rPr lang="en-US" altLang="ko-KR" sz="1200" dirty="0"/>
              <a:t> != 0</a:t>
            </a:r>
          </a:p>
          <a:p>
            <a:r>
              <a:rPr lang="en-US" altLang="ko-KR" sz="1200" dirty="0"/>
              <a:t>          {</a:t>
            </a:r>
          </a:p>
          <a:p>
            <a:r>
              <a:rPr lang="en-US" altLang="ko-KR" sz="1200" dirty="0"/>
              <a:t>               std::</a:t>
            </a:r>
            <a:r>
              <a:rPr lang="en-US" altLang="ko-KR" sz="1200" dirty="0" err="1"/>
              <a:t>shared_ptr</a:t>
            </a:r>
            <a:r>
              <a:rPr lang="en-US" altLang="ko-KR" sz="1200" dirty="0"/>
              <a:t>&lt;</a:t>
            </a:r>
            <a:r>
              <a:rPr lang="en-US" altLang="ko-KR" sz="1200" dirty="0" err="1"/>
              <a:t>StaticMeshAsset</a:t>
            </a:r>
            <a:r>
              <a:rPr lang="en-US" altLang="ko-KR" sz="1200" dirty="0"/>
              <a:t>&gt; </a:t>
            </a:r>
            <a:r>
              <a:rPr lang="en-US" altLang="ko-KR" sz="1200" dirty="0" err="1"/>
              <a:t>resourcePtr</a:t>
            </a:r>
            <a:r>
              <a:rPr lang="en-US" altLang="ko-KR" sz="1200" dirty="0"/>
              <a:t> = it-&gt;</a:t>
            </a:r>
            <a:r>
              <a:rPr lang="en-US" altLang="ko-KR" sz="1200" dirty="0" err="1"/>
              <a:t>second.lock</a:t>
            </a:r>
            <a:r>
              <a:rPr lang="en-US" altLang="ko-KR" sz="1200" dirty="0"/>
              <a:t>();</a:t>
            </a:r>
          </a:p>
          <a:p>
            <a:r>
              <a:rPr lang="en-US" altLang="ko-KR" sz="1200" dirty="0"/>
              <a:t>               return </a:t>
            </a:r>
            <a:r>
              <a:rPr lang="en-US" altLang="ko-KR" sz="1200" dirty="0" err="1"/>
              <a:t>resourcePtr</a:t>
            </a:r>
            <a:r>
              <a:rPr lang="en-US" altLang="ko-KR" sz="1200" dirty="0"/>
              <a:t>;</a:t>
            </a:r>
          </a:p>
          <a:p>
            <a:r>
              <a:rPr lang="en-US" altLang="ko-KR" sz="1200" dirty="0"/>
              <a:t>          }</a:t>
            </a:r>
          </a:p>
          <a:p>
            <a:r>
              <a:rPr lang="en-US" altLang="ko-KR" sz="1200" dirty="0"/>
              <a:t>          else // </a:t>
            </a:r>
            <a:r>
              <a:rPr lang="en-US" altLang="ko-KR" sz="1200" dirty="0" err="1"/>
              <a:t>use_count</a:t>
            </a:r>
            <a:r>
              <a:rPr lang="en-US" altLang="ko-KR" sz="1200" dirty="0"/>
              <a:t> == 0</a:t>
            </a:r>
          </a:p>
          <a:p>
            <a:r>
              <a:rPr lang="en-US" altLang="ko-KR" sz="1200" dirty="0"/>
              <a:t>          {</a:t>
            </a:r>
          </a:p>
          <a:p>
            <a:r>
              <a:rPr lang="en-US" altLang="ko-KR" sz="1200" dirty="0"/>
              <a:t>               m_</a:t>
            </a:r>
            <a:r>
              <a:rPr lang="ko-KR" altLang="en-US" sz="1200" dirty="0" err="1"/>
              <a:t>StaticMesh</a:t>
            </a:r>
            <a:r>
              <a:rPr lang="en-US" altLang="ko-KR" sz="1200" dirty="0" err="1"/>
              <a:t>Asset.erase</a:t>
            </a:r>
            <a:r>
              <a:rPr lang="en-US" altLang="ko-KR" sz="1200" dirty="0"/>
              <a:t>(it);</a:t>
            </a:r>
          </a:p>
          <a:p>
            <a:r>
              <a:rPr lang="en-US" altLang="ko-KR" sz="1200" dirty="0"/>
              <a:t>               // </a:t>
            </a:r>
            <a:r>
              <a:rPr lang="ko-KR" altLang="en-US" sz="1200" dirty="0" err="1"/>
              <a:t>리턴하지</a:t>
            </a:r>
            <a:r>
              <a:rPr lang="ko-KR" altLang="en-US" sz="1200" dirty="0"/>
              <a:t> 않고 아래에서 새로 만들어서 </a:t>
            </a:r>
            <a:r>
              <a:rPr lang="ko-KR" altLang="en-US" sz="1200" dirty="0" err="1"/>
              <a:t>리턴한다</a:t>
            </a:r>
            <a:r>
              <a:rPr lang="en-US" altLang="ko-KR" sz="1200" dirty="0"/>
              <a:t>.</a:t>
            </a:r>
            <a:endParaRPr lang="ko-KR" altLang="en-US" sz="1200" dirty="0"/>
          </a:p>
          <a:p>
            <a:r>
              <a:rPr lang="en-US" altLang="ko-KR" sz="1200" dirty="0"/>
              <a:t>          }</a:t>
            </a:r>
          </a:p>
          <a:p>
            <a:r>
              <a:rPr lang="ko-KR" altLang="en-US" sz="1200" dirty="0"/>
              <a:t>     }</a:t>
            </a:r>
          </a:p>
          <a:p>
            <a:r>
              <a:rPr lang="ko-KR" altLang="en-US" sz="1200" dirty="0"/>
              <a:t>     // 없거나 유효하지 않으면 새로 만든다.</a:t>
            </a:r>
          </a:p>
          <a:p>
            <a:r>
              <a:rPr lang="ko-KR" altLang="en-US" sz="1200" dirty="0"/>
              <a:t>     </a:t>
            </a:r>
            <a:r>
              <a:rPr lang="ko-KR" altLang="en-US" sz="1200" dirty="0" err="1"/>
              <a:t>std</a:t>
            </a:r>
            <a:r>
              <a:rPr lang="ko-KR" altLang="en-US" sz="1200" dirty="0"/>
              <a:t>::filesystem::path path = ToWString(string(filePath));	</a:t>
            </a:r>
          </a:p>
          <a:p>
            <a:r>
              <a:rPr lang="ko-KR" altLang="en-US" sz="1200" dirty="0"/>
              <a:t>     </a:t>
            </a:r>
            <a:r>
              <a:rPr lang="ko-KR" altLang="en-US" sz="1200" dirty="0" err="1"/>
              <a:t>std</a:t>
            </a:r>
            <a:r>
              <a:rPr lang="ko-KR" altLang="en-US" sz="1200" dirty="0"/>
              <a:t>::shared_ptr&lt;StaticMeshSceneResource&gt; pSceneResource = std::make_shared&lt;StaticMeshSceneResource&gt;();</a:t>
            </a:r>
          </a:p>
          <a:p>
            <a:r>
              <a:rPr lang="ko-KR" altLang="en-US" sz="1200" dirty="0"/>
              <a:t>     </a:t>
            </a:r>
            <a:r>
              <a:rPr lang="ko-KR" altLang="en-US" sz="1200" dirty="0" err="1"/>
              <a:t>pSceneResource</a:t>
            </a:r>
            <a:r>
              <a:rPr lang="ko-KR" altLang="en-US" sz="1200" dirty="0"/>
              <a:t>-&gt;Create(filePath.c_str()); </a:t>
            </a:r>
            <a:r>
              <a:rPr lang="en-US" altLang="ko-KR" sz="1200" dirty="0"/>
              <a:t>// </a:t>
            </a:r>
            <a:r>
              <a:rPr lang="ko-KR" altLang="en-US" sz="1200" dirty="0"/>
              <a:t>내부에서 파일을 읽고 데이터를 생성한다</a:t>
            </a:r>
            <a:r>
              <a:rPr lang="en-US" altLang="ko-KR" sz="1200" dirty="0"/>
              <a:t>.</a:t>
            </a:r>
            <a:endParaRPr lang="ko-KR" altLang="en-US" sz="1200" dirty="0"/>
          </a:p>
          <a:p>
            <a:r>
              <a:rPr lang="ko-KR" altLang="en-US" sz="1200" dirty="0"/>
              <a:t>     </a:t>
            </a:r>
            <a:r>
              <a:rPr lang="ko-KR" altLang="en-US" sz="1200" dirty="0" err="1"/>
              <a:t>m_StaticMeshSceneMap</a:t>
            </a:r>
            <a:r>
              <a:rPr lang="ko-KR" altLang="en-US" sz="1200" dirty="0"/>
              <a:t>[key] = pSceneResource;</a:t>
            </a:r>
          </a:p>
          <a:p>
            <a:r>
              <a:rPr lang="ko-KR" altLang="en-US" sz="1200" dirty="0"/>
              <a:t>     </a:t>
            </a:r>
            <a:r>
              <a:rPr lang="ko-KR" altLang="en-US" sz="1200" dirty="0" err="1"/>
              <a:t>return</a:t>
            </a:r>
            <a:r>
              <a:rPr lang="ko-KR" altLang="en-US" sz="1200" dirty="0"/>
              <a:t> pSceneResource;</a:t>
            </a:r>
          </a:p>
          <a:p>
            <a:r>
              <a:rPr lang="ko-KR" altLang="en-US" sz="1200" dirty="0"/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233811502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직사각형 18">
            <a:extLst>
              <a:ext uri="{FF2B5EF4-FFF2-40B4-BE49-F238E27FC236}">
                <a16:creationId xmlns:a16="http://schemas.microsoft.com/office/drawing/2014/main" id="{2E26F943-8EDE-0AD9-60CF-46BE6E5B3F48}"/>
              </a:ext>
            </a:extLst>
          </p:cNvPr>
          <p:cNvSpPr/>
          <p:nvPr/>
        </p:nvSpPr>
        <p:spPr>
          <a:xfrm>
            <a:off x="692150" y="1961356"/>
            <a:ext cx="4127500" cy="3683794"/>
          </a:xfrm>
          <a:prstGeom prst="rect">
            <a:avLst/>
          </a:prstGeom>
          <a:solidFill>
            <a:schemeClr val="bg2">
              <a:lumMod val="9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6F0567AD-4CD4-0627-AE5E-E8443333A50D}"/>
              </a:ext>
            </a:extLst>
          </p:cNvPr>
          <p:cNvSpPr/>
          <p:nvPr/>
        </p:nvSpPr>
        <p:spPr>
          <a:xfrm>
            <a:off x="1333500" y="2609850"/>
            <a:ext cx="1612900" cy="76835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/>
              <a:t>인스턴스</a:t>
            </a:r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8B3F663E-12E3-6E5C-6804-4D7DCF699B7D}"/>
              </a:ext>
            </a:extLst>
          </p:cNvPr>
          <p:cNvSpPr/>
          <p:nvPr/>
        </p:nvSpPr>
        <p:spPr>
          <a:xfrm>
            <a:off x="1466850" y="2994025"/>
            <a:ext cx="1612900" cy="76835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/>
              <a:t>인스턴스</a:t>
            </a:r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C5C4123F-DABF-A556-4985-33ED452AB1CA}"/>
              </a:ext>
            </a:extLst>
          </p:cNvPr>
          <p:cNvSpPr/>
          <p:nvPr/>
        </p:nvSpPr>
        <p:spPr>
          <a:xfrm>
            <a:off x="1733550" y="3378200"/>
            <a:ext cx="1612900" cy="76835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/>
              <a:t>인스턴스</a:t>
            </a:r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90E30409-5AA5-7D89-69B9-8316A9CB5DBB}"/>
              </a:ext>
            </a:extLst>
          </p:cNvPr>
          <p:cNvSpPr/>
          <p:nvPr/>
        </p:nvSpPr>
        <p:spPr>
          <a:xfrm>
            <a:off x="2000250" y="3770313"/>
            <a:ext cx="1612900" cy="76835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/>
              <a:t>인스턴스</a:t>
            </a:r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5ED97DAA-C5F3-5ED2-FBB8-F9392CF6C7E6}"/>
              </a:ext>
            </a:extLst>
          </p:cNvPr>
          <p:cNvSpPr/>
          <p:nvPr/>
        </p:nvSpPr>
        <p:spPr>
          <a:xfrm>
            <a:off x="6432550" y="2660650"/>
            <a:ext cx="1612900" cy="768350"/>
          </a:xfrm>
          <a:prstGeom prst="rect">
            <a:avLst/>
          </a:prstGeom>
          <a:solidFill>
            <a:srgbClr val="00B05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/>
              <a:t>리소스</a:t>
            </a:r>
          </a:p>
        </p:txBody>
      </p:sp>
      <p:cxnSp>
        <p:nvCxnSpPr>
          <p:cNvPr id="9" name="직선 연결선 8">
            <a:extLst>
              <a:ext uri="{FF2B5EF4-FFF2-40B4-BE49-F238E27FC236}">
                <a16:creationId xmlns:a16="http://schemas.microsoft.com/office/drawing/2014/main" id="{9C42AD99-B8B9-39ED-0BA7-0A56B045C241}"/>
              </a:ext>
            </a:extLst>
          </p:cNvPr>
          <p:cNvCxnSpPr>
            <a:endCxn id="7" idx="1"/>
          </p:cNvCxnSpPr>
          <p:nvPr/>
        </p:nvCxnSpPr>
        <p:spPr>
          <a:xfrm>
            <a:off x="2946400" y="2825750"/>
            <a:ext cx="3486150" cy="219075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직선 연결선 9">
            <a:extLst>
              <a:ext uri="{FF2B5EF4-FFF2-40B4-BE49-F238E27FC236}">
                <a16:creationId xmlns:a16="http://schemas.microsoft.com/office/drawing/2014/main" id="{C3B5EC68-88AA-C3AF-F1F9-7715B19B4113}"/>
              </a:ext>
            </a:extLst>
          </p:cNvPr>
          <p:cNvCxnSpPr>
            <a:cxnSpLocks/>
            <a:endCxn id="7" idx="1"/>
          </p:cNvCxnSpPr>
          <p:nvPr/>
        </p:nvCxnSpPr>
        <p:spPr>
          <a:xfrm flipV="1">
            <a:off x="3013075" y="3044825"/>
            <a:ext cx="3419475" cy="161925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직선 연결선 11">
            <a:extLst>
              <a:ext uri="{FF2B5EF4-FFF2-40B4-BE49-F238E27FC236}">
                <a16:creationId xmlns:a16="http://schemas.microsoft.com/office/drawing/2014/main" id="{E7773776-4E0F-9A33-5B5A-82924EB1BB86}"/>
              </a:ext>
            </a:extLst>
          </p:cNvPr>
          <p:cNvCxnSpPr>
            <a:cxnSpLocks/>
            <a:endCxn id="7" idx="1"/>
          </p:cNvCxnSpPr>
          <p:nvPr/>
        </p:nvCxnSpPr>
        <p:spPr>
          <a:xfrm flipV="1">
            <a:off x="3346450" y="3044825"/>
            <a:ext cx="3086100" cy="563563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직선 연결선 15">
            <a:extLst>
              <a:ext uri="{FF2B5EF4-FFF2-40B4-BE49-F238E27FC236}">
                <a16:creationId xmlns:a16="http://schemas.microsoft.com/office/drawing/2014/main" id="{8192347C-B849-50D8-7415-412B14616CF1}"/>
              </a:ext>
            </a:extLst>
          </p:cNvPr>
          <p:cNvCxnSpPr>
            <a:cxnSpLocks/>
            <a:stCxn id="6" idx="3"/>
            <a:endCxn id="7" idx="1"/>
          </p:cNvCxnSpPr>
          <p:nvPr/>
        </p:nvCxnSpPr>
        <p:spPr>
          <a:xfrm flipV="1">
            <a:off x="3613150" y="3044825"/>
            <a:ext cx="2819400" cy="1109663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직선 연결선 19">
            <a:extLst>
              <a:ext uri="{FF2B5EF4-FFF2-40B4-BE49-F238E27FC236}">
                <a16:creationId xmlns:a16="http://schemas.microsoft.com/office/drawing/2014/main" id="{817E1531-F5C8-47B4-BC23-6CB8C00A9660}"/>
              </a:ext>
            </a:extLst>
          </p:cNvPr>
          <p:cNvCxnSpPr>
            <a:cxnSpLocks/>
            <a:endCxn id="7" idx="1"/>
          </p:cNvCxnSpPr>
          <p:nvPr/>
        </p:nvCxnSpPr>
        <p:spPr>
          <a:xfrm>
            <a:off x="4819650" y="2132806"/>
            <a:ext cx="1612900" cy="912019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extBox 1">
            <a:extLst>
              <a:ext uri="{FF2B5EF4-FFF2-40B4-BE49-F238E27FC236}">
                <a16:creationId xmlns:a16="http://schemas.microsoft.com/office/drawing/2014/main" id="{B3DEEEEB-127E-2116-856F-104C84B71C03}"/>
              </a:ext>
            </a:extLst>
          </p:cNvPr>
          <p:cNvSpPr txBox="1"/>
          <p:nvPr/>
        </p:nvSpPr>
        <p:spPr>
          <a:xfrm>
            <a:off x="1488710" y="1676419"/>
            <a:ext cx="1317990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200" dirty="0"/>
              <a:t>월드 또는 </a:t>
            </a:r>
            <a:r>
              <a:rPr lang="en-US" altLang="ko-KR" sz="1200" dirty="0"/>
              <a:t>Scene</a:t>
            </a:r>
            <a:endParaRPr lang="ko-KR" altLang="en-US" sz="1200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67D0EB61-95E6-8EC2-0895-4B19DB621AE8}"/>
              </a:ext>
            </a:extLst>
          </p:cNvPr>
          <p:cNvSpPr txBox="1"/>
          <p:nvPr/>
        </p:nvSpPr>
        <p:spPr>
          <a:xfrm>
            <a:off x="1066420" y="2366188"/>
            <a:ext cx="2140330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200" dirty="0" err="1"/>
              <a:t>게임오브젝트</a:t>
            </a:r>
            <a:r>
              <a:rPr lang="ko-KR" altLang="en-US" sz="1200" dirty="0"/>
              <a:t> 또는 컴포넌트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A7A3670F-333A-4ABF-8452-8FBBAA6C8A4C}"/>
              </a:ext>
            </a:extLst>
          </p:cNvPr>
          <p:cNvSpPr txBox="1"/>
          <p:nvPr/>
        </p:nvSpPr>
        <p:spPr>
          <a:xfrm>
            <a:off x="537882" y="1028461"/>
            <a:ext cx="1068112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dirty="0"/>
              <a:t>월드</a:t>
            </a:r>
            <a:r>
              <a:rPr lang="en-US" altLang="ko-KR" dirty="0"/>
              <a:t> </a:t>
            </a:r>
            <a:r>
              <a:rPr lang="ko-KR" altLang="en-US" dirty="0"/>
              <a:t>또는 </a:t>
            </a:r>
            <a:r>
              <a:rPr lang="ko-KR" altLang="en-US" dirty="0" err="1"/>
              <a:t>씬에서</a:t>
            </a:r>
            <a:r>
              <a:rPr lang="ko-KR" altLang="en-US" dirty="0"/>
              <a:t> 미리 로드 하지 않아도 어느곳에서 리소스를 먼저 사용해도 올바르게 작동해야 한다</a:t>
            </a:r>
            <a:r>
              <a:rPr lang="en-US" altLang="ko-KR" dirty="0"/>
              <a:t>.</a:t>
            </a:r>
            <a:endParaRPr lang="ko-KR" altLang="en-US" dirty="0"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6F7443FA-F5DD-4788-A289-A9CE9DC266BC}"/>
              </a:ext>
            </a:extLst>
          </p:cNvPr>
          <p:cNvSpPr txBox="1"/>
          <p:nvPr/>
        </p:nvSpPr>
        <p:spPr>
          <a:xfrm>
            <a:off x="3124796" y="2522150"/>
            <a:ext cx="931089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200" dirty="0" err="1"/>
              <a:t>Shared_ptr</a:t>
            </a:r>
            <a:endParaRPr lang="ko-KR" altLang="en-US" sz="1200" dirty="0"/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A3E8D0A1-39FA-4469-B972-E7DC900AE19A}"/>
              </a:ext>
            </a:extLst>
          </p:cNvPr>
          <p:cNvSpPr txBox="1"/>
          <p:nvPr/>
        </p:nvSpPr>
        <p:spPr>
          <a:xfrm>
            <a:off x="4073328" y="1662528"/>
            <a:ext cx="931089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200" dirty="0" err="1"/>
              <a:t>Shared_ptr</a:t>
            </a:r>
            <a:endParaRPr lang="ko-KR" altLang="en-US" sz="1200" dirty="0"/>
          </a:p>
        </p:txBody>
      </p:sp>
    </p:spTree>
    <p:extLst>
      <p:ext uri="{BB962C8B-B14F-4D97-AF65-F5344CB8AC3E}">
        <p14:creationId xmlns:p14="http://schemas.microsoft.com/office/powerpoint/2010/main" val="340911357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직사각형 7">
            <a:extLst>
              <a:ext uri="{FF2B5EF4-FFF2-40B4-BE49-F238E27FC236}">
                <a16:creationId xmlns:a16="http://schemas.microsoft.com/office/drawing/2014/main" id="{3C16B2F8-61FB-4C00-82CF-A43010E7509B}"/>
              </a:ext>
            </a:extLst>
          </p:cNvPr>
          <p:cNvSpPr/>
          <p:nvPr/>
        </p:nvSpPr>
        <p:spPr>
          <a:xfrm>
            <a:off x="2370157" y="3429000"/>
            <a:ext cx="1894481" cy="2752037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ko-KR" dirty="0">
                <a:solidFill>
                  <a:schemeClr val="tx1">
                    <a:lumMod val="75000"/>
                    <a:lumOff val="25000"/>
                  </a:schemeClr>
                </a:solidFill>
              </a:rPr>
              <a:t>Virtual System Memory</a:t>
            </a:r>
            <a:endParaRPr lang="ko-KR" altLang="en-US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956CC94E-3F55-4EEB-A0C5-43DE3A34B223}"/>
              </a:ext>
            </a:extLst>
          </p:cNvPr>
          <p:cNvSpPr/>
          <p:nvPr/>
        </p:nvSpPr>
        <p:spPr>
          <a:xfrm>
            <a:off x="307362" y="3429000"/>
            <a:ext cx="2028584" cy="2752037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ko-KR" dirty="0">
                <a:solidFill>
                  <a:schemeClr val="tx1">
                    <a:lumMod val="75000"/>
                    <a:lumOff val="25000"/>
                  </a:schemeClr>
                </a:solidFill>
              </a:rPr>
              <a:t>Virtual GPU Memory</a:t>
            </a:r>
            <a:endParaRPr lang="ko-KR" altLang="en-US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2" name="제목 1">
            <a:extLst>
              <a:ext uri="{FF2B5EF4-FFF2-40B4-BE49-F238E27FC236}">
                <a16:creationId xmlns:a16="http://schemas.microsoft.com/office/drawing/2014/main" id="{5E391152-CA9B-4FAE-A5CD-C6EC85E4060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Direct3D11 </a:t>
            </a:r>
            <a:r>
              <a:rPr lang="ko-KR" altLang="en-US" dirty="0"/>
              <a:t>자원관리</a:t>
            </a:r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45238BA4-A855-474B-824D-A0225F0C2EA2}"/>
              </a:ext>
            </a:extLst>
          </p:cNvPr>
          <p:cNvSpPr/>
          <p:nvPr/>
        </p:nvSpPr>
        <p:spPr>
          <a:xfrm>
            <a:off x="380406" y="4117729"/>
            <a:ext cx="1632811" cy="944438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/>
              <a:t>Video RAM</a:t>
            </a:r>
          </a:p>
          <a:p>
            <a:pPr algn="ctr"/>
            <a:r>
              <a:rPr lang="en-US" altLang="ko-KR" dirty="0"/>
              <a:t>(</a:t>
            </a:r>
            <a:r>
              <a:rPr lang="ko-KR" altLang="en-US" dirty="0"/>
              <a:t>물리메모리</a:t>
            </a:r>
            <a:r>
              <a:rPr lang="en-US" altLang="ko-KR" dirty="0"/>
              <a:t>)</a:t>
            </a:r>
            <a:endParaRPr lang="ko-KR" altLang="en-US" dirty="0"/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CBD54C4A-0A65-4F5F-8641-B375B26EECDC}"/>
              </a:ext>
            </a:extLst>
          </p:cNvPr>
          <p:cNvSpPr/>
          <p:nvPr/>
        </p:nvSpPr>
        <p:spPr>
          <a:xfrm>
            <a:off x="2086261" y="5154023"/>
            <a:ext cx="2020076" cy="944438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/>
              <a:t>System RAM</a:t>
            </a:r>
          </a:p>
          <a:p>
            <a:pPr algn="ctr"/>
            <a:r>
              <a:rPr lang="en-US" altLang="ko-KR" dirty="0"/>
              <a:t>(</a:t>
            </a:r>
            <a:r>
              <a:rPr lang="ko-KR" altLang="en-US" dirty="0"/>
              <a:t>물리메모리</a:t>
            </a:r>
            <a:r>
              <a:rPr lang="en-US" altLang="ko-KR" dirty="0"/>
              <a:t>)</a:t>
            </a:r>
            <a:endParaRPr lang="ko-KR" altLang="en-US" dirty="0"/>
          </a:p>
        </p:txBody>
      </p:sp>
      <p:sp>
        <p:nvSpPr>
          <p:cNvPr id="9" name="직사각형 8">
            <a:extLst>
              <a:ext uri="{FF2B5EF4-FFF2-40B4-BE49-F238E27FC236}">
                <a16:creationId xmlns:a16="http://schemas.microsoft.com/office/drawing/2014/main" id="{9D75B24A-8DD9-4489-9B3C-DC4A0AD05F05}"/>
              </a:ext>
            </a:extLst>
          </p:cNvPr>
          <p:cNvSpPr/>
          <p:nvPr/>
        </p:nvSpPr>
        <p:spPr>
          <a:xfrm>
            <a:off x="2086261" y="4127010"/>
            <a:ext cx="2020076" cy="944438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 err="1"/>
              <a:t>PageFile</a:t>
            </a:r>
            <a:endParaRPr lang="en-US" altLang="ko-KR" dirty="0"/>
          </a:p>
          <a:p>
            <a:pPr algn="ctr"/>
            <a:r>
              <a:rPr lang="en-US" altLang="ko-KR" dirty="0"/>
              <a:t>(</a:t>
            </a:r>
            <a:r>
              <a:rPr lang="ko-KR" altLang="en-US" dirty="0"/>
              <a:t>디스크 </a:t>
            </a:r>
            <a:r>
              <a:rPr lang="ko-KR" altLang="en-US" dirty="0" err="1"/>
              <a:t>스왑공간</a:t>
            </a:r>
            <a:r>
              <a:rPr lang="en-US" altLang="ko-KR" dirty="0"/>
              <a:t>)</a:t>
            </a:r>
            <a:endParaRPr lang="ko-KR" altLang="en-US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9948A360-957E-A540-1332-74FE165785C5}"/>
              </a:ext>
            </a:extLst>
          </p:cNvPr>
          <p:cNvSpPr txBox="1"/>
          <p:nvPr/>
        </p:nvSpPr>
        <p:spPr>
          <a:xfrm>
            <a:off x="523574" y="1624173"/>
            <a:ext cx="11592341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b="1" dirty="0"/>
              <a:t>Direct3D 11</a:t>
            </a:r>
            <a:r>
              <a:rPr lang="ko-KR" altLang="en-US" b="1" dirty="0"/>
              <a:t>의 리소스 메모리 관리</a:t>
            </a:r>
            <a:r>
              <a:rPr lang="en-US" altLang="ko-KR" b="1" dirty="0"/>
              <a:t>(D3D11_RESOURCE_USAGE </a:t>
            </a:r>
            <a:r>
              <a:rPr lang="ko-KR" altLang="en-US" b="1" dirty="0"/>
              <a:t>등</a:t>
            </a:r>
            <a:r>
              <a:rPr lang="en-US" altLang="ko-KR" b="1" dirty="0"/>
              <a:t>)</a:t>
            </a:r>
            <a:r>
              <a:rPr lang="ko-KR" altLang="en-US" b="1" dirty="0"/>
              <a:t>는</a:t>
            </a:r>
            <a:br>
              <a:rPr lang="ko-KR" altLang="en-US" dirty="0"/>
            </a:br>
            <a:r>
              <a:rPr lang="ko-KR" altLang="en-US" dirty="0"/>
              <a:t> </a:t>
            </a:r>
            <a:r>
              <a:rPr lang="ko-KR" altLang="en-US" i="1" dirty="0"/>
              <a:t>애플리케이션이 직접 메모리 위치를 제어하지 않고</a:t>
            </a:r>
            <a:r>
              <a:rPr lang="en-US" altLang="ko-KR" dirty="0"/>
              <a:t>, </a:t>
            </a:r>
            <a:r>
              <a:rPr lang="ko-KR" altLang="en-US" dirty="0"/>
              <a:t>용도만 지정하며 이 용도에 따라</a:t>
            </a:r>
            <a:br>
              <a:rPr lang="en-US" altLang="ko-KR" dirty="0"/>
            </a:br>
            <a:r>
              <a:rPr lang="en-US" altLang="ko-KR" dirty="0"/>
              <a:t> </a:t>
            </a:r>
            <a:r>
              <a:rPr lang="ko-KR" altLang="en-US" b="1" dirty="0"/>
              <a:t>드라이버</a:t>
            </a:r>
            <a:r>
              <a:rPr lang="en-US" altLang="ko-KR" b="1" dirty="0"/>
              <a:t>(DX + GPU </a:t>
            </a:r>
            <a:r>
              <a:rPr lang="ko-KR" altLang="en-US" b="1" dirty="0"/>
              <a:t>드라이버</a:t>
            </a:r>
            <a:r>
              <a:rPr lang="en-US" altLang="ko-KR" b="1" dirty="0"/>
              <a:t>)</a:t>
            </a:r>
            <a:r>
              <a:rPr lang="ko-KR" altLang="en-US" dirty="0"/>
              <a:t> 가 </a:t>
            </a:r>
            <a:r>
              <a:rPr lang="ko-KR" altLang="en-US" b="1" dirty="0"/>
              <a:t>시스템 </a:t>
            </a:r>
            <a:r>
              <a:rPr lang="en-US" altLang="ko-KR" b="1" dirty="0"/>
              <a:t>RAM</a:t>
            </a:r>
            <a:r>
              <a:rPr lang="ko-KR" altLang="en-US" b="1" dirty="0"/>
              <a:t> </a:t>
            </a:r>
            <a:r>
              <a:rPr lang="en-US" altLang="ko-KR" b="1" dirty="0"/>
              <a:t>&lt;-&gt;</a:t>
            </a:r>
            <a:r>
              <a:rPr lang="ko-KR" altLang="en-US" b="1" dirty="0"/>
              <a:t> </a:t>
            </a:r>
            <a:r>
              <a:rPr lang="en-US" altLang="ko-KR" b="1" dirty="0"/>
              <a:t>VRAM &lt;-&gt; </a:t>
            </a:r>
            <a:r>
              <a:rPr lang="en-US" altLang="ko-KR" b="1" dirty="0" err="1"/>
              <a:t>PageFile</a:t>
            </a:r>
            <a:r>
              <a:rPr lang="en-US" altLang="ko-KR" b="1" dirty="0"/>
              <a:t> </a:t>
            </a:r>
            <a:r>
              <a:rPr lang="ko-KR" altLang="en-US" b="1" dirty="0"/>
              <a:t>사이를 자동으로 관리</a:t>
            </a:r>
            <a:r>
              <a:rPr lang="en-US" altLang="ko-KR" b="1" dirty="0"/>
              <a:t>/</a:t>
            </a:r>
            <a:r>
              <a:rPr lang="ko-KR" altLang="en-US" b="1" dirty="0"/>
              <a:t>이동</a:t>
            </a:r>
            <a:r>
              <a:rPr lang="ko-KR" altLang="en-US" dirty="0"/>
              <a:t>한다</a:t>
            </a:r>
            <a:r>
              <a:rPr lang="en-US" altLang="ko-KR" dirty="0"/>
              <a:t>.</a:t>
            </a:r>
          </a:p>
        </p:txBody>
      </p:sp>
      <p:sp>
        <p:nvSpPr>
          <p:cNvPr id="11" name="직사각형 10">
            <a:extLst>
              <a:ext uri="{FF2B5EF4-FFF2-40B4-BE49-F238E27FC236}">
                <a16:creationId xmlns:a16="http://schemas.microsoft.com/office/drawing/2014/main" id="{7107F120-34F9-0E1F-6802-EEF97542080C}"/>
              </a:ext>
            </a:extLst>
          </p:cNvPr>
          <p:cNvSpPr/>
          <p:nvPr/>
        </p:nvSpPr>
        <p:spPr>
          <a:xfrm>
            <a:off x="2120541" y="5183428"/>
            <a:ext cx="200037" cy="885627"/>
          </a:xfrm>
          <a:prstGeom prst="rect">
            <a:avLst/>
          </a:prstGeom>
          <a:noFill/>
          <a:ln>
            <a:prstDash val="lg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E7F78F82-5B59-1178-1567-0CC549DDE1E6}"/>
              </a:ext>
            </a:extLst>
          </p:cNvPr>
          <p:cNvSpPr txBox="1"/>
          <p:nvPr/>
        </p:nvSpPr>
        <p:spPr>
          <a:xfrm>
            <a:off x="523574" y="5505627"/>
            <a:ext cx="1415784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12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DMA / </a:t>
            </a:r>
            <a:r>
              <a:rPr lang="ko-KR" altLang="en-US" sz="1200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PCIe</a:t>
            </a:r>
            <a:r>
              <a:rPr lang="ko-KR" altLang="en-US" sz="12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버스</a:t>
            </a:r>
            <a:endParaRPr lang="en-US" altLang="ko-KR" sz="12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  <a:p>
            <a:r>
              <a:rPr lang="ko-KR" altLang="en-US" sz="12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전송이 필요</a:t>
            </a:r>
          </a:p>
        </p:txBody>
      </p:sp>
      <p:sp>
        <p:nvSpPr>
          <p:cNvPr id="15" name="화살표: 왼쪽/오른쪽 14">
            <a:extLst>
              <a:ext uri="{FF2B5EF4-FFF2-40B4-BE49-F238E27FC236}">
                <a16:creationId xmlns:a16="http://schemas.microsoft.com/office/drawing/2014/main" id="{7A74D364-9B1B-808A-BD31-8FAC5A5F4289}"/>
              </a:ext>
            </a:extLst>
          </p:cNvPr>
          <p:cNvSpPr/>
          <p:nvPr/>
        </p:nvSpPr>
        <p:spPr>
          <a:xfrm rot="2624650">
            <a:off x="1318905" y="5312079"/>
            <a:ext cx="784600" cy="220635"/>
          </a:xfrm>
          <a:prstGeom prst="left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graphicFrame>
        <p:nvGraphicFramePr>
          <p:cNvPr id="16" name="표 15">
            <a:extLst>
              <a:ext uri="{FF2B5EF4-FFF2-40B4-BE49-F238E27FC236}">
                <a16:creationId xmlns:a16="http://schemas.microsoft.com/office/drawing/2014/main" id="{4B291590-00C4-2753-1761-D007A755DF4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884161016"/>
              </p:ext>
            </p:extLst>
          </p:nvPr>
        </p:nvGraphicFramePr>
        <p:xfrm>
          <a:off x="4458135" y="3639746"/>
          <a:ext cx="7657780" cy="2133600"/>
        </p:xfrm>
        <a:graphic>
          <a:graphicData uri="http://schemas.openxmlformats.org/drawingml/2006/table">
            <a:tbl>
              <a:tblPr/>
              <a:tblGrid>
                <a:gridCol w="1905142">
                  <a:extLst>
                    <a:ext uri="{9D8B030D-6E8A-4147-A177-3AD203B41FA5}">
                      <a16:colId xmlns:a16="http://schemas.microsoft.com/office/drawing/2014/main" val="1588220723"/>
                    </a:ext>
                  </a:extLst>
                </a:gridCol>
                <a:gridCol w="2909087">
                  <a:extLst>
                    <a:ext uri="{9D8B030D-6E8A-4147-A177-3AD203B41FA5}">
                      <a16:colId xmlns:a16="http://schemas.microsoft.com/office/drawing/2014/main" val="783501031"/>
                    </a:ext>
                  </a:extLst>
                </a:gridCol>
                <a:gridCol w="2843551">
                  <a:extLst>
                    <a:ext uri="{9D8B030D-6E8A-4147-A177-3AD203B41FA5}">
                      <a16:colId xmlns:a16="http://schemas.microsoft.com/office/drawing/2014/main" val="1654752408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ko-KR" altLang="en-US" sz="1400"/>
                        <a:t>구분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/>
                        <a:t>Virtual GPU Memory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/>
                        <a:t>Virtual System Memory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08108983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ko-KR" altLang="en-US" sz="1400" dirty="0"/>
                        <a:t>관리 주체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/>
                        <a:t>GPU </a:t>
                      </a:r>
                      <a:r>
                        <a:rPr lang="ko-KR" altLang="en-US" sz="1400"/>
                        <a:t>드라이버 </a:t>
                      </a:r>
                      <a:r>
                        <a:rPr lang="en-US" altLang="ko-KR" sz="1400"/>
                        <a:t>+ </a:t>
                      </a:r>
                      <a:r>
                        <a:rPr lang="en-US" sz="1400"/>
                        <a:t>WDDM(VidMm)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/>
                        <a:t>Windows Memory Manager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35600120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ko-KR" altLang="en-US" sz="1400" dirty="0"/>
                        <a:t>주소 공간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ko-KR" sz="1400" dirty="0"/>
                        <a:t>GPU </a:t>
                      </a:r>
                      <a:r>
                        <a:rPr lang="ko-KR" altLang="en-US" sz="1400" dirty="0"/>
                        <a:t>전용 가상 주소</a:t>
                      </a:r>
                      <a:endParaRPr lang="en-US" altLang="ko-KR" sz="1400" dirty="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ko-KR" sz="1400"/>
                        <a:t>CPU </a:t>
                      </a:r>
                      <a:r>
                        <a:rPr lang="ko-KR" altLang="en-US" sz="1400"/>
                        <a:t>전용 가상 주소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38722791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ko-KR" altLang="en-US" sz="1400"/>
                        <a:t>실제 매핑 대상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/>
                        <a:t>VRAM / System RAM / PageFile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 dirty="0"/>
                        <a:t>System RAM / </a:t>
                      </a:r>
                      <a:r>
                        <a:rPr lang="en-US" sz="1400" dirty="0" err="1"/>
                        <a:t>PageFile</a:t>
                      </a:r>
                      <a:endParaRPr lang="en-US" sz="1400" dirty="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95444174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ko-KR" altLang="en-US" sz="1400"/>
                        <a:t>사용 </a:t>
                      </a:r>
                      <a:r>
                        <a:rPr lang="en-US" sz="1400"/>
                        <a:t>API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/>
                        <a:t>D3D11, D3D12, CUDA, Vulkan </a:t>
                      </a:r>
                      <a:r>
                        <a:rPr lang="ko-KR" altLang="en-US" sz="1400"/>
                        <a:t>등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/>
                        <a:t>Win32, malloc/new </a:t>
                      </a:r>
                      <a:r>
                        <a:rPr lang="ko-KR" altLang="en-US" sz="1400"/>
                        <a:t>등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93429319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ko-KR" altLang="en-US" sz="1400"/>
                        <a:t>공통점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ko-KR" altLang="en-US" sz="1400"/>
                        <a:t>가상화 기반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ko-KR" altLang="en-US" sz="1400"/>
                        <a:t>가상화 기반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33989590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ko-KR" altLang="en-US" sz="1400"/>
                        <a:t>차이점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ko-KR" sz="1400"/>
                        <a:t>GPU </a:t>
                      </a:r>
                      <a:r>
                        <a:rPr lang="ko-KR" altLang="en-US" sz="1400"/>
                        <a:t>하드웨어 </a:t>
                      </a:r>
                      <a:r>
                        <a:rPr lang="en-US" altLang="ko-KR" sz="1400"/>
                        <a:t>MMU </a:t>
                      </a:r>
                      <a:r>
                        <a:rPr lang="ko-KR" altLang="en-US" sz="1400"/>
                        <a:t>사용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 dirty="0"/>
                        <a:t>CPU MMU </a:t>
                      </a:r>
                      <a:r>
                        <a:rPr lang="ko-KR" altLang="en-US" sz="1400" dirty="0"/>
                        <a:t>사용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83476630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97710338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B76A13D-F0E3-C5EA-4269-F34CD9A55BA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버퍼의 용도</a:t>
            </a:r>
            <a:r>
              <a:rPr lang="en-US" altLang="ko-KR" dirty="0"/>
              <a:t>(</a:t>
            </a:r>
            <a:r>
              <a:rPr lang="en-US" altLang="ko-KR" i="1" dirty="0"/>
              <a:t>Usage)</a:t>
            </a:r>
            <a:endParaRPr lang="ko-KR" altLang="en-US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56A2E606-7AF9-9152-89FE-A51BDCEB66D7}"/>
              </a:ext>
            </a:extLst>
          </p:cNvPr>
          <p:cNvSpPr txBox="1"/>
          <p:nvPr/>
        </p:nvSpPr>
        <p:spPr>
          <a:xfrm>
            <a:off x="352148" y="1454007"/>
            <a:ext cx="10573658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dirty="0"/>
              <a:t>버퍼의 용도 설정은 사용 패턴과 메모리 관리 정책을 의미한다</a:t>
            </a:r>
            <a:r>
              <a:rPr lang="en-US" altLang="ko-KR" dirty="0"/>
              <a:t>. </a:t>
            </a:r>
            <a:r>
              <a:rPr lang="ko-KR" altLang="en-US" dirty="0"/>
              <a:t>이 설정에 따라 내부 드라이버는 버퍼의 데이터를 이동</a:t>
            </a:r>
            <a:r>
              <a:rPr lang="en-US" altLang="ko-KR" dirty="0"/>
              <a:t>(System RAM &lt;-&gt; Video RAM)</a:t>
            </a:r>
            <a:r>
              <a:rPr lang="ko-KR" altLang="en-US" dirty="0"/>
              <a:t>시키거나 특정 위치에 유지한다</a:t>
            </a:r>
            <a:r>
              <a:rPr lang="en-US" altLang="ko-KR" dirty="0"/>
              <a:t>.</a:t>
            </a:r>
            <a:r>
              <a:rPr lang="ko-KR" altLang="en-US" dirty="0"/>
              <a:t> </a:t>
            </a:r>
            <a:endParaRPr lang="en-US" altLang="ko-KR" dirty="0"/>
          </a:p>
          <a:p>
            <a:r>
              <a:rPr lang="ko-KR" altLang="en-US" dirty="0"/>
              <a:t>용도에 </a:t>
            </a:r>
            <a:r>
              <a:rPr lang="en-US" altLang="ko-KR" dirty="0" err="1"/>
              <a:t>CPUAccessFlag</a:t>
            </a:r>
            <a:r>
              <a:rPr lang="ko-KR" altLang="en-US" dirty="0"/>
              <a:t>를 설정하여 한번 더 드라이버의 동작이 최적화된다</a:t>
            </a:r>
            <a:r>
              <a:rPr lang="en-US" altLang="ko-KR" dirty="0"/>
              <a:t>.</a:t>
            </a:r>
            <a:endParaRPr lang="ko-KR" altLang="en-US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8AA9A06F-EBD5-1454-53BC-4F3FFBF22F1B}"/>
              </a:ext>
            </a:extLst>
          </p:cNvPr>
          <p:cNvSpPr txBox="1"/>
          <p:nvPr/>
        </p:nvSpPr>
        <p:spPr>
          <a:xfrm>
            <a:off x="268915" y="4008741"/>
            <a:ext cx="11654170" cy="258532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1600" b="1" dirty="0">
                <a:highlight>
                  <a:srgbClr val="FFFFFF"/>
                </a:highlight>
                <a:latin typeface="+mn-ea"/>
              </a:rPr>
              <a:t>D3D11_USAGE_IMMUTABLE:   </a:t>
            </a:r>
            <a:r>
              <a:rPr lang="ko-KR" altLang="en-US" sz="1600" b="1" dirty="0">
                <a:highlight>
                  <a:srgbClr val="FFFFFF"/>
                </a:highlight>
                <a:latin typeface="+mn-ea"/>
              </a:rPr>
              <a:t>불변 하며 </a:t>
            </a:r>
            <a:r>
              <a:rPr lang="en-US" altLang="ko-KR" sz="1600" b="1" dirty="0">
                <a:highlight>
                  <a:srgbClr val="FFFFFF"/>
                </a:highlight>
                <a:latin typeface="+mn-ea"/>
              </a:rPr>
              <a:t>GPU</a:t>
            </a:r>
            <a:r>
              <a:rPr lang="ko-KR" altLang="en-US" sz="1600" b="1" dirty="0">
                <a:highlight>
                  <a:srgbClr val="FFFFFF"/>
                </a:highlight>
                <a:latin typeface="+mn-ea"/>
              </a:rPr>
              <a:t>만 읽기 가능한 용도 이므로 가능한 </a:t>
            </a:r>
            <a:r>
              <a:rPr lang="en-US" altLang="ko-KR" sz="1600" b="1" dirty="0">
                <a:highlight>
                  <a:srgbClr val="FFFFFF"/>
                </a:highlight>
                <a:latin typeface="+mn-ea"/>
              </a:rPr>
              <a:t>Video RAM</a:t>
            </a:r>
            <a:r>
              <a:rPr lang="ko-KR" altLang="en-US" sz="1600" b="1" dirty="0">
                <a:highlight>
                  <a:srgbClr val="FFFFFF"/>
                </a:highlight>
                <a:latin typeface="+mn-ea"/>
              </a:rPr>
              <a:t>에 유지한다</a:t>
            </a:r>
            <a:r>
              <a:rPr lang="en-US" altLang="ko-KR" sz="1600" b="1" dirty="0">
                <a:highlight>
                  <a:srgbClr val="FFFFFF"/>
                </a:highlight>
                <a:latin typeface="+mn-ea"/>
              </a:rPr>
              <a:t>.</a:t>
            </a:r>
          </a:p>
          <a:p>
            <a:endParaRPr lang="en-US" altLang="ko-KR" sz="1600" dirty="0"/>
          </a:p>
          <a:p>
            <a:r>
              <a:rPr lang="en-US" altLang="ko-KR" sz="1600" dirty="0"/>
              <a:t>D3D11_USAGE_DEFAULT:  GPU</a:t>
            </a:r>
            <a:r>
              <a:rPr lang="ko-KR" altLang="en-US" sz="1600" dirty="0"/>
              <a:t>만 읽기</a:t>
            </a:r>
            <a:r>
              <a:rPr lang="en-US" altLang="ko-KR" sz="1600" dirty="0"/>
              <a:t>,</a:t>
            </a:r>
            <a:r>
              <a:rPr lang="ko-KR" altLang="en-US" sz="1600" dirty="0"/>
              <a:t>쓰기</a:t>
            </a:r>
            <a:r>
              <a:rPr lang="en-US" altLang="ko-KR" sz="1600" dirty="0"/>
              <a:t>. CPU</a:t>
            </a:r>
            <a:r>
              <a:rPr lang="ko-KR" altLang="en-US" sz="1600" dirty="0"/>
              <a:t>가 직접 메모리접근이 불가이므로 가능한 </a:t>
            </a:r>
            <a:r>
              <a:rPr lang="en-US" altLang="ko-KR" sz="1600" dirty="0"/>
              <a:t>Video</a:t>
            </a:r>
            <a:r>
              <a:rPr lang="ko-KR" altLang="en-US" sz="1600" dirty="0"/>
              <a:t> </a:t>
            </a:r>
            <a:r>
              <a:rPr lang="en-US" altLang="ko-KR" sz="1600" dirty="0"/>
              <a:t>RAM </a:t>
            </a:r>
            <a:r>
              <a:rPr lang="ko-KR" altLang="en-US" sz="1600" dirty="0"/>
              <a:t>유지</a:t>
            </a:r>
            <a:endParaRPr lang="en-US" altLang="ko-KR" sz="1600" dirty="0"/>
          </a:p>
          <a:p>
            <a:r>
              <a:rPr lang="ko-KR" altLang="en-US" sz="1600" dirty="0"/>
              <a:t>간접명령</a:t>
            </a:r>
            <a:r>
              <a:rPr lang="en-US" altLang="ko-KR" sz="1600" dirty="0"/>
              <a:t>(ID3D11DeviceContext::</a:t>
            </a:r>
            <a:r>
              <a:rPr lang="en-US" altLang="ko-KR" sz="1600" dirty="0" err="1"/>
              <a:t>UpdateSubresource</a:t>
            </a:r>
            <a:r>
              <a:rPr lang="en-US" altLang="ko-KR" sz="1600" dirty="0"/>
              <a:t>)</a:t>
            </a:r>
            <a:r>
              <a:rPr lang="ko-KR" altLang="en-US" sz="1600" dirty="0"/>
              <a:t>으로 드라이버가 </a:t>
            </a:r>
            <a:r>
              <a:rPr lang="en-US" altLang="ko-KR" sz="1600" dirty="0" err="1"/>
              <a:t>SystemRAM</a:t>
            </a:r>
            <a:r>
              <a:rPr lang="en-US" altLang="ko-KR" sz="1600" dirty="0"/>
              <a:t> </a:t>
            </a:r>
            <a:r>
              <a:rPr lang="ko-KR" altLang="en-US" sz="1600" dirty="0"/>
              <a:t>데이터를 복사하게 할 수 있음</a:t>
            </a:r>
            <a:r>
              <a:rPr lang="en-US" altLang="ko-KR" sz="1600" dirty="0"/>
              <a:t>.</a:t>
            </a:r>
          </a:p>
          <a:p>
            <a:endParaRPr lang="en-US" altLang="ko-KR" sz="1600" dirty="0"/>
          </a:p>
          <a:p>
            <a:r>
              <a:rPr lang="en-US" altLang="ko-KR" sz="1600" dirty="0"/>
              <a:t>D3D11_USAGE_DYNAMIC: CPU</a:t>
            </a:r>
            <a:r>
              <a:rPr lang="ko-KR" altLang="en-US" sz="1600" dirty="0"/>
              <a:t>가 자주 갱신</a:t>
            </a:r>
            <a:r>
              <a:rPr lang="en-US" altLang="ko-KR" sz="1600" dirty="0"/>
              <a:t>(Update)</a:t>
            </a:r>
            <a:r>
              <a:rPr lang="ko-KR" altLang="en-US" sz="1600" dirty="0"/>
              <a:t>하고</a:t>
            </a:r>
            <a:r>
              <a:rPr lang="en-US" altLang="ko-KR" sz="1600" dirty="0"/>
              <a:t>, GPU</a:t>
            </a:r>
            <a:r>
              <a:rPr lang="ko-KR" altLang="en-US" sz="1600" dirty="0"/>
              <a:t>가 읽기만</a:t>
            </a:r>
            <a:r>
              <a:rPr lang="en-US" altLang="ko-KR" sz="1600" dirty="0"/>
              <a:t>(Read-only)</a:t>
            </a:r>
            <a:r>
              <a:rPr lang="ko-KR" altLang="en-US" sz="1600" dirty="0"/>
              <a:t> 하는 용도로 사용하는 버퍼 타입</a:t>
            </a:r>
            <a:r>
              <a:rPr lang="en-US" altLang="ko-KR" sz="1600" dirty="0"/>
              <a:t>.</a:t>
            </a:r>
            <a:br>
              <a:rPr lang="en-US" altLang="ko-KR" sz="1600" dirty="0"/>
            </a:br>
            <a:r>
              <a:rPr lang="ko-KR" altLang="en-US" sz="1600" dirty="0"/>
              <a:t>이때 버퍼는 시스템 메모리</a:t>
            </a:r>
            <a:r>
              <a:rPr lang="en-US" altLang="ko-KR" sz="1600" dirty="0"/>
              <a:t>(System RAM)</a:t>
            </a:r>
            <a:r>
              <a:rPr lang="ko-KR" altLang="en-US" sz="1600" dirty="0"/>
              <a:t> 에 위치하지만</a:t>
            </a:r>
            <a:r>
              <a:rPr lang="en-US" altLang="ko-KR" sz="1600" dirty="0"/>
              <a:t>, GPU</a:t>
            </a:r>
            <a:r>
              <a:rPr lang="ko-KR" altLang="en-US" sz="1600" dirty="0"/>
              <a:t>에서 접근할 수 있도록 드라이버가 내부적으로 비디오 메모리</a:t>
            </a:r>
            <a:r>
              <a:rPr lang="en-US" altLang="ko-KR" sz="1600" dirty="0"/>
              <a:t>(VRAM)</a:t>
            </a:r>
            <a:r>
              <a:rPr lang="ko-KR" altLang="en-US" sz="1600" dirty="0"/>
              <a:t>로 전송하는 과정을 거친다</a:t>
            </a:r>
            <a:r>
              <a:rPr lang="en-US" altLang="ko-KR" sz="1600" dirty="0"/>
              <a:t>.</a:t>
            </a:r>
          </a:p>
          <a:p>
            <a:endParaRPr lang="en-US" altLang="ko-KR" sz="1600" dirty="0"/>
          </a:p>
          <a:p>
            <a:r>
              <a:rPr lang="en-US" altLang="ko-KR" sz="1600" dirty="0"/>
              <a:t>D3D11_USAGE_STAGING: GPU </a:t>
            </a:r>
            <a:r>
              <a:rPr lang="ko-KR" altLang="en-US" sz="1600" dirty="0"/>
              <a:t>리소스 내용을 </a:t>
            </a:r>
            <a:r>
              <a:rPr lang="en-US" altLang="ko-KR" sz="1600" dirty="0"/>
              <a:t>CPU</a:t>
            </a:r>
            <a:r>
              <a:rPr lang="ko-KR" altLang="en-US" sz="1600" dirty="0"/>
              <a:t>로 복사해 확인하는 용도 </a:t>
            </a:r>
            <a:r>
              <a:rPr lang="en-US" altLang="ko-KR" sz="1600" dirty="0"/>
              <a:t>(</a:t>
            </a:r>
            <a:r>
              <a:rPr lang="ko-KR" altLang="en-US" sz="1600" dirty="0"/>
              <a:t>예</a:t>
            </a:r>
            <a:r>
              <a:rPr lang="en-US" altLang="ko-KR" sz="1600" dirty="0"/>
              <a:t>: Debug)</a:t>
            </a:r>
            <a:r>
              <a:rPr lang="ko-KR" altLang="en-US" dirty="0">
                <a:solidFill>
                  <a:srgbClr val="2F4F4F"/>
                </a:solidFill>
                <a:highlight>
                  <a:srgbClr val="FFFFFF"/>
                </a:highlight>
                <a:latin typeface="+mn-ea"/>
              </a:rPr>
              <a:t>  </a:t>
            </a:r>
            <a:endParaRPr lang="ko-KR" altLang="en-US" dirty="0">
              <a:latin typeface="+mn-ea"/>
            </a:endParaRPr>
          </a:p>
        </p:txBody>
      </p:sp>
      <p:grpSp>
        <p:nvGrpSpPr>
          <p:cNvPr id="17" name="그룹 16">
            <a:extLst>
              <a:ext uri="{FF2B5EF4-FFF2-40B4-BE49-F238E27FC236}">
                <a16:creationId xmlns:a16="http://schemas.microsoft.com/office/drawing/2014/main" id="{AF0C3DBA-BE65-6680-4809-57F52AF292FB}"/>
              </a:ext>
            </a:extLst>
          </p:cNvPr>
          <p:cNvGrpSpPr/>
          <p:nvPr/>
        </p:nvGrpSpPr>
        <p:grpSpPr>
          <a:xfrm>
            <a:off x="1320943" y="2377337"/>
            <a:ext cx="7001852" cy="1514686"/>
            <a:chOff x="1001628" y="2211026"/>
            <a:chExt cx="7001852" cy="1514686"/>
          </a:xfrm>
        </p:grpSpPr>
        <p:pic>
          <p:nvPicPr>
            <p:cNvPr id="6" name="그림 5">
              <a:extLst>
                <a:ext uri="{FF2B5EF4-FFF2-40B4-BE49-F238E27FC236}">
                  <a16:creationId xmlns:a16="http://schemas.microsoft.com/office/drawing/2014/main" id="{B96C827E-0D79-4908-E97E-28383FBCAE54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1001628" y="2211026"/>
              <a:ext cx="7001852" cy="1514686"/>
            </a:xfrm>
            <a:prstGeom prst="rect">
              <a:avLst/>
            </a:prstGeom>
          </p:spPr>
        </p:pic>
        <p:sp>
          <p:nvSpPr>
            <p:cNvPr id="9" name="TextBox 8">
              <a:extLst>
                <a:ext uri="{FF2B5EF4-FFF2-40B4-BE49-F238E27FC236}">
                  <a16:creationId xmlns:a16="http://schemas.microsoft.com/office/drawing/2014/main" id="{95F684D8-572C-8CFF-3721-66917165DAA9}"/>
                </a:ext>
              </a:extLst>
            </p:cNvPr>
            <p:cNvSpPr txBox="1"/>
            <p:nvPr/>
          </p:nvSpPr>
          <p:spPr>
            <a:xfrm>
              <a:off x="5626869" y="2903543"/>
              <a:ext cx="646331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ko-KR" altLang="en-US" sz="1200" b="1" dirty="0" err="1"/>
                <a:t>아니오</a:t>
              </a:r>
              <a:endParaRPr lang="ko-KR" altLang="en-US" sz="1200" b="1" dirty="0"/>
            </a:p>
          </p:txBody>
        </p:sp>
        <p:sp>
          <p:nvSpPr>
            <p:cNvPr id="10" name="TextBox 9">
              <a:extLst>
                <a:ext uri="{FF2B5EF4-FFF2-40B4-BE49-F238E27FC236}">
                  <a16:creationId xmlns:a16="http://schemas.microsoft.com/office/drawing/2014/main" id="{12FC5E2C-71D5-B0EB-8B65-0B489C38A853}"/>
                </a:ext>
              </a:extLst>
            </p:cNvPr>
            <p:cNvSpPr txBox="1"/>
            <p:nvPr/>
          </p:nvSpPr>
          <p:spPr>
            <a:xfrm>
              <a:off x="4364127" y="2903542"/>
              <a:ext cx="646331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ko-KR" altLang="en-US" sz="1200" b="1" dirty="0" err="1"/>
                <a:t>아니오</a:t>
              </a:r>
              <a:endParaRPr lang="ko-KR" altLang="en-US" sz="1200" b="1" dirty="0"/>
            </a:p>
          </p:txBody>
        </p:sp>
        <p:sp>
          <p:nvSpPr>
            <p:cNvPr id="11" name="TextBox 10">
              <a:extLst>
                <a:ext uri="{FF2B5EF4-FFF2-40B4-BE49-F238E27FC236}">
                  <a16:creationId xmlns:a16="http://schemas.microsoft.com/office/drawing/2014/main" id="{BA27C58F-F6D5-2CF7-73FC-ACF6AB6187BB}"/>
                </a:ext>
              </a:extLst>
            </p:cNvPr>
            <p:cNvSpPr txBox="1"/>
            <p:nvPr/>
          </p:nvSpPr>
          <p:spPr>
            <a:xfrm>
              <a:off x="3060426" y="3152001"/>
              <a:ext cx="646331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ko-KR" altLang="en-US" sz="1200" b="1" dirty="0" err="1"/>
                <a:t>아니오</a:t>
              </a:r>
              <a:endParaRPr lang="ko-KR" altLang="en-US" sz="1200" b="1" dirty="0"/>
            </a:p>
          </p:txBody>
        </p:sp>
        <p:sp>
          <p:nvSpPr>
            <p:cNvPr id="12" name="TextBox 11">
              <a:extLst>
                <a:ext uri="{FF2B5EF4-FFF2-40B4-BE49-F238E27FC236}">
                  <a16:creationId xmlns:a16="http://schemas.microsoft.com/office/drawing/2014/main" id="{751F7419-B470-1F7B-5AA0-34F223E47DCD}"/>
                </a:ext>
              </a:extLst>
            </p:cNvPr>
            <p:cNvSpPr txBox="1"/>
            <p:nvPr/>
          </p:nvSpPr>
          <p:spPr>
            <a:xfrm>
              <a:off x="3060426" y="3405527"/>
              <a:ext cx="646331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ko-KR" altLang="en-US" sz="1200" b="1" dirty="0" err="1"/>
                <a:t>아니오</a:t>
              </a:r>
              <a:endParaRPr lang="ko-KR" altLang="en-US" sz="1200" b="1" dirty="0"/>
            </a:p>
          </p:txBody>
        </p:sp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id="{F17C24F9-24F4-2C57-033D-E648BD908029}"/>
                </a:ext>
              </a:extLst>
            </p:cNvPr>
            <p:cNvSpPr txBox="1"/>
            <p:nvPr/>
          </p:nvSpPr>
          <p:spPr>
            <a:xfrm>
              <a:off x="4364127" y="3128528"/>
              <a:ext cx="646331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ko-KR" altLang="en-US" sz="1200" b="1" dirty="0" err="1"/>
                <a:t>아니오</a:t>
              </a:r>
              <a:endParaRPr lang="ko-KR" altLang="en-US" sz="1200" b="1" dirty="0"/>
            </a:p>
          </p:txBody>
        </p:sp>
        <p:sp>
          <p:nvSpPr>
            <p:cNvPr id="14" name="TextBox 13">
              <a:extLst>
                <a:ext uri="{FF2B5EF4-FFF2-40B4-BE49-F238E27FC236}">
                  <a16:creationId xmlns:a16="http://schemas.microsoft.com/office/drawing/2014/main" id="{1FA6143A-DC98-036B-E523-4530BB1A7778}"/>
                </a:ext>
              </a:extLst>
            </p:cNvPr>
            <p:cNvSpPr txBox="1"/>
            <p:nvPr/>
          </p:nvSpPr>
          <p:spPr>
            <a:xfrm>
              <a:off x="5626868" y="3180541"/>
              <a:ext cx="646331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ko-KR" altLang="en-US" sz="1200" b="1" dirty="0" err="1"/>
                <a:t>아니오</a:t>
              </a:r>
              <a:endParaRPr lang="ko-KR" altLang="en-US" sz="1200" b="1" dirty="0"/>
            </a:p>
          </p:txBody>
        </p:sp>
        <p:sp>
          <p:nvSpPr>
            <p:cNvPr id="15" name="TextBox 14">
              <a:extLst>
                <a:ext uri="{FF2B5EF4-FFF2-40B4-BE49-F238E27FC236}">
                  <a16:creationId xmlns:a16="http://schemas.microsoft.com/office/drawing/2014/main" id="{AA6349F0-E81F-8988-E919-BE99AE6B9F1A}"/>
                </a:ext>
              </a:extLst>
            </p:cNvPr>
            <p:cNvSpPr txBox="1"/>
            <p:nvPr/>
          </p:nvSpPr>
          <p:spPr>
            <a:xfrm>
              <a:off x="5638977" y="3405526"/>
              <a:ext cx="646331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ko-KR" altLang="en-US" sz="1200" b="1" dirty="0" err="1"/>
                <a:t>아니오</a:t>
              </a:r>
              <a:endParaRPr lang="ko-KR" altLang="en-US" sz="1200" b="1" dirty="0"/>
            </a:p>
          </p:txBody>
        </p:sp>
      </p:grpSp>
    </p:spTree>
    <p:extLst>
      <p:ext uri="{BB962C8B-B14F-4D97-AF65-F5344CB8AC3E}">
        <p14:creationId xmlns:p14="http://schemas.microsoft.com/office/powerpoint/2010/main" val="397334643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DA9DB0A2-660E-38E3-6E15-3E0D4C2CC3B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b="1" dirty="0"/>
              <a:t>IDXGIDevice3::Trim()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7B6BED34-5B24-8DA1-EF71-15512AAB136B}"/>
              </a:ext>
            </a:extLst>
          </p:cNvPr>
          <p:cNvSpPr txBox="1"/>
          <p:nvPr/>
        </p:nvSpPr>
        <p:spPr>
          <a:xfrm>
            <a:off x="103334" y="1690688"/>
            <a:ext cx="12074139" cy="489364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/>
              <a:t>  Release()</a:t>
            </a:r>
            <a:r>
              <a:rPr lang="ko-KR" altLang="en-US" dirty="0"/>
              <a:t>가 의미하는 것은 단지 </a:t>
            </a:r>
            <a:r>
              <a:rPr lang="en-US" altLang="ko-KR" dirty="0"/>
              <a:t>COM</a:t>
            </a:r>
            <a:r>
              <a:rPr lang="ko-KR" altLang="en-US" dirty="0"/>
              <a:t>객체를 사용하는 </a:t>
            </a:r>
            <a:r>
              <a:rPr lang="en-US" altLang="ko-KR" dirty="0"/>
              <a:t>Client</a:t>
            </a:r>
            <a:r>
              <a:rPr lang="ko-KR" altLang="en-US" dirty="0"/>
              <a:t>입장에서 더 이상 사용하지 않는다고 </a:t>
            </a:r>
            <a:r>
              <a:rPr lang="ko-KR" altLang="en-US" dirty="0" err="1"/>
              <a:t>하는것</a:t>
            </a:r>
            <a:endParaRPr lang="en-US" altLang="ko-KR" dirty="0"/>
          </a:p>
          <a:p>
            <a:r>
              <a:rPr lang="ko-KR" altLang="en-US" dirty="0"/>
              <a:t> 인스턴스는 소멸하지만 드라이버는 내부의 실제 리소스를 바로 해제 하지 않는다</a:t>
            </a:r>
            <a:r>
              <a:rPr lang="en-US" altLang="ko-KR" dirty="0"/>
              <a:t>.</a:t>
            </a:r>
            <a:r>
              <a:rPr lang="ko-KR" altLang="en-US" dirty="0"/>
              <a:t> </a:t>
            </a:r>
            <a:r>
              <a:rPr lang="en-US" altLang="ko-KR" dirty="0"/>
              <a:t>GPU</a:t>
            </a:r>
            <a:r>
              <a:rPr lang="ko-KR" altLang="en-US" dirty="0"/>
              <a:t>가 사용하는 중 일수</a:t>
            </a:r>
            <a:r>
              <a:rPr lang="en-US" altLang="ko-KR" dirty="0"/>
              <a:t> </a:t>
            </a:r>
            <a:r>
              <a:rPr lang="ko-KR" altLang="en-US" dirty="0"/>
              <a:t>있으며</a:t>
            </a:r>
            <a:endParaRPr lang="en-US" altLang="ko-KR" dirty="0"/>
          </a:p>
          <a:p>
            <a:r>
              <a:rPr lang="ko-KR" altLang="en-US" dirty="0"/>
              <a:t>같은 타입 내부 리소스는 드라이버 수준에서 동일 포맷</a:t>
            </a:r>
            <a:r>
              <a:rPr lang="en-US" altLang="ko-KR" dirty="0"/>
              <a:t>/</a:t>
            </a:r>
            <a:r>
              <a:rPr lang="ko-KR" altLang="en-US" dirty="0"/>
              <a:t>사이즈의 리소스를 빠르게 재사용 가능하다</a:t>
            </a:r>
            <a:endParaRPr lang="en-US" altLang="ko-KR" dirty="0"/>
          </a:p>
          <a:p>
            <a:r>
              <a:rPr lang="en-US" altLang="ko-KR" dirty="0"/>
              <a:t> </a:t>
            </a:r>
            <a:r>
              <a:rPr lang="ko-KR" altLang="en-US" dirty="0"/>
              <a:t>또한 메모리가 여유 있는 상황에서는 최대한 지연 전략으로 나중에 해제를 처리한다</a:t>
            </a:r>
            <a:r>
              <a:rPr lang="en-US" altLang="ko-KR" dirty="0"/>
              <a:t>.</a:t>
            </a:r>
            <a:r>
              <a:rPr lang="ko-KR" altLang="en-US" dirty="0"/>
              <a:t>  </a:t>
            </a:r>
            <a:endParaRPr lang="en-US" altLang="ko-KR" dirty="0"/>
          </a:p>
          <a:p>
            <a:endParaRPr lang="en-US" altLang="ko-KR" dirty="0"/>
          </a:p>
          <a:p>
            <a:r>
              <a:rPr lang="en-US" altLang="ko-KR" b="1" dirty="0"/>
              <a:t>IDXGIDevice3::Trim() </a:t>
            </a:r>
            <a:r>
              <a:rPr lang="ko-KR" altLang="en-US" b="1" dirty="0"/>
              <a:t>함수는 드라이버에게 </a:t>
            </a:r>
            <a:r>
              <a:rPr lang="en-US" altLang="ko-KR" b="1" dirty="0"/>
              <a:t>VRAM/DRAM/pagefile.sys </a:t>
            </a:r>
            <a:r>
              <a:rPr lang="ko-KR" altLang="en-US" b="1" dirty="0"/>
              <a:t>에서 리소스 제거를 요청한다</a:t>
            </a:r>
            <a:r>
              <a:rPr lang="en-US" altLang="ko-KR" b="1" dirty="0"/>
              <a:t>.</a:t>
            </a:r>
          </a:p>
          <a:p>
            <a:r>
              <a:rPr lang="en-US" altLang="ko-KR" b="1" dirty="0"/>
              <a:t> </a:t>
            </a:r>
            <a:r>
              <a:rPr lang="ko-KR" altLang="en-US" dirty="0"/>
              <a:t>이 요청이 없으면 사용하지 않는 리소스가 계속 남아 있으면서 </a:t>
            </a:r>
            <a:r>
              <a:rPr lang="en-US" altLang="ko-KR" dirty="0"/>
              <a:t>GPU </a:t>
            </a:r>
            <a:r>
              <a:rPr lang="ko-KR" altLang="en-US" dirty="0"/>
              <a:t>메모리 퇴출</a:t>
            </a:r>
            <a:r>
              <a:rPr lang="en-US" altLang="ko-KR" dirty="0"/>
              <a:t>(eviction)</a:t>
            </a:r>
            <a:r>
              <a:rPr lang="ko-KR" altLang="en-US" dirty="0"/>
              <a:t>과  </a:t>
            </a:r>
            <a:endParaRPr lang="en-US" altLang="ko-KR" dirty="0"/>
          </a:p>
          <a:p>
            <a:r>
              <a:rPr lang="en-US" altLang="ko-KR" dirty="0" err="1"/>
              <a:t>DRAM↔Pagefile</a:t>
            </a:r>
            <a:r>
              <a:rPr lang="en-US" altLang="ko-KR" dirty="0"/>
              <a:t> </a:t>
            </a:r>
            <a:r>
              <a:rPr lang="ko-KR" altLang="en-US" dirty="0"/>
              <a:t>간 페이지 이동이 잦아질 수 있다</a:t>
            </a:r>
            <a:r>
              <a:rPr lang="en-US" altLang="ko-KR" dirty="0"/>
              <a:t>.  </a:t>
            </a:r>
            <a:r>
              <a:rPr lang="ko-KR" altLang="en-US" dirty="0"/>
              <a:t>따라서 대규모 리소스 해제 후</a:t>
            </a:r>
            <a:r>
              <a:rPr lang="en-US" altLang="ko-KR" dirty="0"/>
              <a:t>(Scene</a:t>
            </a:r>
            <a:r>
              <a:rPr lang="ko-KR" altLang="en-US" dirty="0"/>
              <a:t>전환</a:t>
            </a:r>
            <a:r>
              <a:rPr lang="en-US" altLang="ko-KR" dirty="0"/>
              <a:t>) </a:t>
            </a:r>
            <a:r>
              <a:rPr lang="ko-KR" altLang="en-US" dirty="0"/>
              <a:t>사용을 권장함</a:t>
            </a:r>
            <a:r>
              <a:rPr lang="en-US" altLang="ko-KR" dirty="0"/>
              <a:t>.</a:t>
            </a:r>
            <a:endParaRPr lang="en-US" altLang="ko-KR" b="1" dirty="0"/>
          </a:p>
          <a:p>
            <a:endParaRPr lang="en-US" altLang="ko-KR" sz="1400" dirty="0"/>
          </a:p>
          <a:p>
            <a:r>
              <a:rPr lang="en-US" altLang="ko-KR" sz="1400" dirty="0"/>
              <a:t>[</a:t>
            </a:r>
            <a:r>
              <a:rPr lang="ko-KR" altLang="en-US" sz="1400" dirty="0"/>
              <a:t>앱이 </a:t>
            </a:r>
            <a:r>
              <a:rPr lang="en-US" altLang="ko-KR" sz="1400" dirty="0"/>
              <a:t>Release </a:t>
            </a:r>
            <a:r>
              <a:rPr lang="ko-KR" altLang="en-US" sz="1400" dirty="0"/>
              <a:t>호출</a:t>
            </a:r>
            <a:r>
              <a:rPr lang="en-US" altLang="ko-KR" sz="1400" dirty="0"/>
              <a:t>]</a:t>
            </a:r>
          </a:p>
          <a:p>
            <a:r>
              <a:rPr lang="en-US" altLang="ko-KR" sz="1400" dirty="0"/>
              <a:t>        ↓</a:t>
            </a:r>
          </a:p>
          <a:p>
            <a:r>
              <a:rPr lang="en-US" altLang="ko-KR" sz="1400" dirty="0"/>
              <a:t>[COM </a:t>
            </a:r>
            <a:r>
              <a:rPr lang="ko-KR" altLang="en-US" sz="1400" dirty="0"/>
              <a:t>객체 소멸 </a:t>
            </a:r>
            <a:r>
              <a:rPr lang="en-US" altLang="ko-KR" sz="1400" dirty="0"/>
              <a:t>(C++ delete this)]</a:t>
            </a:r>
          </a:p>
          <a:p>
            <a:r>
              <a:rPr lang="en-US" altLang="ko-KR" sz="1400" dirty="0"/>
              <a:t>        ↓</a:t>
            </a:r>
          </a:p>
          <a:p>
            <a:r>
              <a:rPr lang="en-US" altLang="ko-KR" sz="1400" dirty="0"/>
              <a:t>[</a:t>
            </a:r>
            <a:r>
              <a:rPr lang="ko-KR" altLang="en-US" sz="1400" dirty="0"/>
              <a:t>드라이버</a:t>
            </a:r>
            <a:r>
              <a:rPr lang="en-US" altLang="ko-KR" sz="1400" dirty="0"/>
              <a:t>: "</a:t>
            </a:r>
            <a:r>
              <a:rPr lang="ko-KR" altLang="en-US" sz="1400" dirty="0"/>
              <a:t>이 리소스는 누가 쓰고 있진 않구나</a:t>
            </a:r>
            <a:r>
              <a:rPr lang="en-US" altLang="ko-KR" sz="1400" dirty="0"/>
              <a:t>"]</a:t>
            </a:r>
          </a:p>
          <a:p>
            <a:r>
              <a:rPr lang="en-US" altLang="ko-KR" sz="1400" dirty="0"/>
              <a:t>        ↓</a:t>
            </a:r>
          </a:p>
          <a:p>
            <a:r>
              <a:rPr lang="en-US" altLang="ko-KR" sz="1400" dirty="0"/>
              <a:t>[Trim </a:t>
            </a:r>
            <a:r>
              <a:rPr lang="ko-KR" altLang="en-US" sz="1400" dirty="0"/>
              <a:t>호출 전까지 캐시 상태로 보류</a:t>
            </a:r>
            <a:r>
              <a:rPr lang="en-US" altLang="ko-KR" sz="1400" dirty="0"/>
              <a:t>]</a:t>
            </a:r>
          </a:p>
          <a:p>
            <a:r>
              <a:rPr lang="en-US" altLang="ko-KR" sz="1400" dirty="0"/>
              <a:t>        ↓</a:t>
            </a:r>
          </a:p>
          <a:p>
            <a:r>
              <a:rPr lang="en-US" altLang="ko-KR" sz="1400" dirty="0"/>
              <a:t>[Trim </a:t>
            </a:r>
            <a:r>
              <a:rPr lang="ko-KR" altLang="en-US" sz="1400" dirty="0"/>
              <a:t>호출 </a:t>
            </a:r>
            <a:r>
              <a:rPr lang="en-US" altLang="ko-KR" sz="1400" dirty="0"/>
              <a:t>or </a:t>
            </a:r>
            <a:r>
              <a:rPr lang="ko-KR" altLang="en-US" sz="1400" dirty="0"/>
              <a:t>메모리 부족</a:t>
            </a:r>
            <a:r>
              <a:rPr lang="en-US" altLang="ko-KR" sz="1400" dirty="0"/>
              <a:t>]</a:t>
            </a:r>
          </a:p>
          <a:p>
            <a:r>
              <a:rPr lang="en-US" altLang="ko-KR" sz="1400" dirty="0"/>
              <a:t>        ↓</a:t>
            </a:r>
          </a:p>
          <a:p>
            <a:r>
              <a:rPr lang="en-US" altLang="ko-KR" sz="1400" dirty="0"/>
              <a:t>[</a:t>
            </a:r>
            <a:r>
              <a:rPr lang="ko-KR" altLang="en-US" sz="1400" dirty="0"/>
              <a:t>드라이버가 실제 </a:t>
            </a:r>
            <a:r>
              <a:rPr lang="en-US" altLang="ko-KR" sz="1400" dirty="0"/>
              <a:t>GPU/</a:t>
            </a:r>
            <a:r>
              <a:rPr lang="ko-KR" altLang="en-US" sz="1400" dirty="0"/>
              <a:t>시스템 메모리에서 리소스 제거</a:t>
            </a:r>
            <a:r>
              <a:rPr lang="en-US" altLang="ko-KR" sz="1400" dirty="0"/>
              <a:t>] </a:t>
            </a:r>
            <a:r>
              <a:rPr lang="ko-KR" altLang="en-US" sz="1400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342020856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F0537A8-B093-2AE9-8F7E-32CB29FD02B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과제</a:t>
            </a:r>
            <a:r>
              <a:rPr lang="en-US" altLang="ko-KR" dirty="0"/>
              <a:t> </a:t>
            </a:r>
            <a:endParaRPr lang="ko-KR" altLang="en-US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4142A202-894E-76EE-27F2-BCDFC8879974}"/>
              </a:ext>
            </a:extLst>
          </p:cNvPr>
          <p:cNvSpPr txBox="1"/>
          <p:nvPr/>
        </p:nvSpPr>
        <p:spPr>
          <a:xfrm>
            <a:off x="510539" y="1690688"/>
            <a:ext cx="11112501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dirty="0"/>
              <a:t> 애니메이션을 재생하는 캐릭터 다수를  화면에 렌더링 합니다</a:t>
            </a:r>
            <a:r>
              <a:rPr lang="en-US" altLang="ko-KR" dirty="0"/>
              <a:t>. </a:t>
            </a:r>
          </a:p>
          <a:p>
            <a:r>
              <a:rPr lang="ko-KR" altLang="en-US" dirty="0"/>
              <a:t>특정 키를 누르면 화면에 보이는 특정 범위에서 인스턴스를 추가 생성</a:t>
            </a:r>
            <a:r>
              <a:rPr lang="en-US" altLang="ko-KR" dirty="0"/>
              <a:t>/</a:t>
            </a:r>
            <a:r>
              <a:rPr lang="ko-KR" altLang="en-US" dirty="0"/>
              <a:t>삭제 합니다</a:t>
            </a:r>
            <a:r>
              <a:rPr lang="en-US" altLang="ko-KR" dirty="0"/>
              <a:t>.</a:t>
            </a:r>
          </a:p>
          <a:p>
            <a:r>
              <a:rPr lang="ko-KR" altLang="en-US" dirty="0"/>
              <a:t>특정 키를 누르거나 씬 전환 </a:t>
            </a:r>
            <a:r>
              <a:rPr lang="ko-KR" altLang="en-US" dirty="0" err="1"/>
              <a:t>할때면</a:t>
            </a:r>
            <a:r>
              <a:rPr lang="ko-KR" altLang="en-US" dirty="0"/>
              <a:t> </a:t>
            </a:r>
            <a:r>
              <a:rPr lang="en-US" altLang="ko-KR" dirty="0"/>
              <a:t>IDXGIDevice3::Trim() </a:t>
            </a:r>
            <a:r>
              <a:rPr lang="ko-KR" altLang="en-US" dirty="0"/>
              <a:t>호출 하여 리소스 제거를 하도록 합니다</a:t>
            </a:r>
            <a:r>
              <a:rPr lang="en-US" altLang="ko-KR" dirty="0"/>
              <a:t>.</a:t>
            </a:r>
          </a:p>
          <a:p>
            <a:r>
              <a:rPr lang="ko-KR" altLang="en-US" dirty="0"/>
              <a:t>시스템 메모리</a:t>
            </a:r>
            <a:r>
              <a:rPr lang="en-US" altLang="ko-KR" dirty="0"/>
              <a:t>, </a:t>
            </a:r>
            <a:r>
              <a:rPr lang="ko-KR" altLang="en-US" dirty="0"/>
              <a:t>비디오 메모리</a:t>
            </a:r>
            <a:r>
              <a:rPr lang="en-US" altLang="ko-KR" dirty="0"/>
              <a:t>,</a:t>
            </a:r>
            <a:r>
              <a:rPr lang="ko-KR" altLang="en-US" dirty="0"/>
              <a:t>페이지 파일 사용량을 화면에 출력합니다</a:t>
            </a:r>
            <a:r>
              <a:rPr lang="en-US" altLang="ko-KR" dirty="0"/>
              <a:t>.</a:t>
            </a:r>
          </a:p>
          <a:p>
            <a:endParaRPr lang="en-US" altLang="ko-KR" dirty="0"/>
          </a:p>
          <a:p>
            <a:r>
              <a:rPr lang="ko-KR" altLang="en-US" dirty="0"/>
              <a:t>문서를 작성하여 어떤 부분의 </a:t>
            </a:r>
            <a:r>
              <a:rPr lang="en-US" altLang="ko-KR" dirty="0"/>
              <a:t>D3D</a:t>
            </a:r>
            <a:r>
              <a:rPr lang="ko-KR" altLang="en-US" dirty="0"/>
              <a:t>자원과 </a:t>
            </a:r>
            <a:r>
              <a:rPr lang="en-US" altLang="ko-KR" dirty="0" err="1"/>
              <a:t>AssetData</a:t>
            </a:r>
            <a:r>
              <a:rPr lang="ko-KR" altLang="en-US" dirty="0"/>
              <a:t>를 </a:t>
            </a:r>
            <a:r>
              <a:rPr lang="ko-KR" altLang="en-US" dirty="0" err="1"/>
              <a:t>캐싱하는지</a:t>
            </a:r>
            <a:r>
              <a:rPr lang="ko-KR" altLang="en-US" dirty="0"/>
              <a:t> 설명문서를 작성합니다</a:t>
            </a:r>
            <a:r>
              <a:rPr lang="en-US" altLang="ko-KR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396642424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4168</TotalTime>
  <Words>1451</Words>
  <Application>Microsoft Office PowerPoint</Application>
  <PresentationFormat>와이드스크린</PresentationFormat>
  <Paragraphs>223</Paragraphs>
  <Slides>13</Slides>
  <Notes>1</Notes>
  <HiddenSlides>0</HiddenSlides>
  <MMClips>0</MMClips>
  <ScaleCrop>false</ScaleCrop>
  <HeadingPairs>
    <vt:vector size="6" baseType="variant">
      <vt:variant>
        <vt:lpstr>사용한 글꼴</vt:lpstr>
      </vt:variant>
      <vt:variant>
        <vt:i4>3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13</vt:i4>
      </vt:variant>
    </vt:vector>
  </HeadingPairs>
  <TitlesOfParts>
    <vt:vector size="17" baseType="lpstr">
      <vt:lpstr>맑은 고딕</vt:lpstr>
      <vt:lpstr>Arial</vt:lpstr>
      <vt:lpstr>Courier New</vt:lpstr>
      <vt:lpstr>Office 테마</vt:lpstr>
      <vt:lpstr>Direct3D11 프로그래밍</vt:lpstr>
      <vt:lpstr>학습목표</vt:lpstr>
      <vt:lpstr>인스턴스 데이터</vt:lpstr>
      <vt:lpstr>데이터- D3D 자원 중복 문제</vt:lpstr>
      <vt:lpstr>리소스 설계 참고</vt:lpstr>
      <vt:lpstr>경로 기반 Key / 데이터 기반 Key </vt:lpstr>
      <vt:lpstr>리소스매니저</vt:lpstr>
      <vt:lpstr>리소스 매니저</vt:lpstr>
      <vt:lpstr>PowerPoint 프레젠테이션</vt:lpstr>
      <vt:lpstr>Direct3D11 자원관리</vt:lpstr>
      <vt:lpstr>버퍼의 용도(Usage)</vt:lpstr>
      <vt:lpstr>IDXGIDevice3::Trim()</vt:lpstr>
      <vt:lpstr>과제 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Direct3D11 프로그래밍</dc:title>
  <dc:creator>동원 이</dc:creator>
  <cp:lastModifiedBy>Dongwon Lee</cp:lastModifiedBy>
  <cp:revision>821</cp:revision>
  <dcterms:created xsi:type="dcterms:W3CDTF">2023-10-17T05:27:19Z</dcterms:created>
  <dcterms:modified xsi:type="dcterms:W3CDTF">2025-11-10T19:42:44Z</dcterms:modified>
</cp:coreProperties>
</file>