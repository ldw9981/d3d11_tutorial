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9" r:id="rId4"/>
    <p:sldId id="270" r:id="rId5"/>
    <p:sldId id="281" r:id="rId6"/>
    <p:sldId id="272" r:id="rId7"/>
    <p:sldId id="274" r:id="rId8"/>
    <p:sldId id="276" r:id="rId9"/>
    <p:sldId id="273" r:id="rId10"/>
    <p:sldId id="27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316" y="1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31T11:14:58.9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54 24575,'13'1'0,"-1"1"0,0 0 0,0 1 0,0 0 0,0 1 0,0 0 0,-1 1 0,1 0 0,-1 1 0,-1 0 0,21 16 0,15 7 0,-44-27 0,1-1 0,0 0 0,0 1 0,0-1 0,0 0 0,0 0 0,0 0 0,0-1 0,0 1 0,0-1 0,0 0 0,0 0 0,0 0 0,1 0 0,-1 0 0,0-1 0,0 1 0,0-1 0,0 0 0,0 0 0,0 0 0,0 0 0,3-2 0,3-4 0,1 1 0,-1-1 0,0-1 0,15-16 0,3-4 0,-26 27 0,0 0 0,0 0 0,0 0 0,1 1 0,-1-1 0,0 0 0,0 0 0,1 1 0,-1-1 0,0 1 0,1-1 0,-1 1 0,0-1 0,1 1 0,-1 0 0,1 0 0,-1-1 0,1 1 0,-1 0 0,0 0 0,1 1 0,-1-1 0,1 0 0,-1 0 0,0 1 0,1-1 0,-1 1 0,2 0 0,2 2 0,-1 1 0,1-1 0,-1 1 0,0 0 0,0 0 0,3 5 0,18 16 0,-17-18 0,0 0 0,-1 0 0,0 1 0,7 10 0,-9-11 0,0 0 0,1 0 0,0-1 0,0 0 0,0 0 0,9 5 0,-12-9 0,-1-1 0,1 0 0,-1 0 0,1 0 0,-1 0 0,1-1 0,0 1 0,-1-1 0,1 1 0,0-1 0,0 0 0,-1 0 0,1 0 0,0-1 0,-1 1 0,1-1 0,0 1 0,-1-1 0,1 0 0,-1 0 0,1 0 0,-1 0 0,1-1 0,2-1 0,48-37 0,-43 31 0,1 0 0,-1 1 0,1 1 0,1-1 0,18-7 0,-27 13 0,0 1 0,0 0 0,1 1 0,-1-1 0,1 1 0,-1-1 0,0 1 0,1 0 0,-1 0 0,1 0 0,-1 1 0,1-1 0,-1 1 0,0 0 0,1 0 0,-1 0 0,0 0 0,0 1 0,0-1 0,0 1 0,0 0 0,0 0 0,0 0 0,-1 0 0,1 1 0,2 2 0,-1-1 0,0 0 0,1 0 0,-1 0 0,1-1 0,0 1 0,0-1 0,0 0 0,1-1 0,-1 1 0,1-1 0,-1 0 0,1 0 0,0-1 0,0 0 0,-1 0 0,1 0 0,0-1 0,0 0 0,11-1 0,-4 2 0,1-2 0,-1 1 0,0-2 0,0 0 0,0-1 0,0 0 0,0-1 0,0 0 0,-1-1 0,16-8 0,-11 4 0,2-1 0,-1 0 0,1 0 0,-2-2 0,0 0 0,0-2 0,27-27 0,-44 40 0,1 0 0,0 0 0,0 0 0,0 1 0,0-1 0,0 0 0,0 0 0,1 1 0,-1-1 0,0 1 0,0-1 0,0 1 0,1-1 0,-1 1 0,0 0 0,0 0 0,1 0 0,-1 0 0,0 0 0,0 0 0,1 0 0,-1 0 0,0 0 0,1 0 0,-1 1 0,0-1 0,0 0 0,0 1 0,1-1 0,-1 1 0,0 0 0,0-1 0,0 1 0,0 0 0,1 0 0,45 41 0,-20-16 0,-18-21 0,-1 0 0,1-1 0,0 0 0,0 0 0,1-1 0,-1 0 0,1 0 0,-1-1 0,1-1 0,0 0 0,0 0 0,0-1 0,0 0 0,-1 0 0,1-1 0,0-1 0,0 1 0,-1-2 0,1 1 0,-1-1 0,15-7 0,4-2 0,54-15 0,21-8 0,-89 29 0,0 1 0,0 1 0,1 0 0,-1 1 0,1 0 0,0 1 0,29 0 0,-37 4 0,-1 0 0,-1 1 0,1-1 0,0 1 0,-1 1 0,1-1 0,-1 1 0,0 0 0,0 0 0,0 1 0,6 8 0,10 6 0,-9-9 0,1 0 0,1-1 0,-1 0 0,2-1 0,-1 0 0,1-1 0,0-1 0,0-1 0,1 0 0,0 0 0,0-2 0,0 0 0,0-1 0,0-1 0,1 0 0,-1-1 0,0-1 0,0 0 0,1-1 0,-1-1 0,0-1 0,26-9 0,-38 11-1,1 0-1,-1 1 0,1 0 1,0 0-1,-1 0 0,1 0 1,0 1-1,0-1 0,-1 1 1,1 1-1,0-1 0,0 1 1,8 1-1,-2 2 33,0 1 0,0-1-1,19 13 1,-20-11-275,0 0 0,1-1 0,-1 0-1,1-1 1,12 4 0,-17-7-6582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31T18:17:46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1348 1554 24575,'-2'-3'0,"-1"0"0,1 0 0,-1 0 0,0 1 0,1 0 0,-1-1 0,0 1 0,-1 0 0,1 0 0,0 1 0,0-1 0,-1 1 0,1-1 0,-5 0 0,3 0 0,-55-21 0,-31-15 0,-128-79 0,15 8 0,159 82 0,1-2 0,-46-39 0,33 23 0,-131-105 0,157 120 0,0-1 0,2-1 0,2-2 0,1-1 0,-30-52 0,38 58 0,7 10 0,1 0 0,-10-30 0,4 10 0,11 21 0,0-1 0,1 0 0,1 0 0,1 0 0,1 0 0,0 0 0,2 0 0,3-24 0,-2-24 0,-2 53 0,0 0 0,1 1 0,5-25 0,-4 32 0,0 0 0,0 0 0,1 0 0,-1 1 0,1-1 0,1 1 0,-1 0 0,1 0 0,0 0 0,8-7 0,-4 6 0,0-1 0,1 1 0,0 1 0,0-1 0,0 2 0,1-1 0,14-4 0,73-19 0,-70 21 0,1 1 0,-1 1 0,1 2 0,38-1 0,-35 4 0,-8-1 0,-1 2 0,1 0 0,-1 1 0,1 1 0,-1 1 0,35 11 0,-12 3 0,0 2 0,-1 2 0,-1 2 0,-1 1 0,-2 3 0,-1 1 0,62 59 0,-71-63 0,-24-21 0,0 0 0,0 0 0,-1 1 0,0 0 0,7 8 0,87 94 0,-83-88 0,-1-2 0,0 1 0,-1 0 0,-1 1 0,16 33 0,-12-9 0,-1 1 0,-3 0 0,14 88 0,-4 58 0,-21-170 0,-1-16 0,0-1 0,-1 1 0,1 0 0,-1 0 0,1-1 0,-1 1 0,0 0 0,-1 0 0,1-1 0,-1 1 0,1 0 0,-1 0 0,0-1 0,-1 1 0,1-1 0,-1 1 0,1-1 0,-1 0 0,0 1 0,0-1 0,0 0 0,-1 0 0,1 0 0,-1-1 0,-5 5 0,-8 8 0,1-1 0,0 2 0,1 0 0,0 1 0,2 0 0,0 1 0,1 0 0,-11 25 0,10-20 0,5-10 0,1-1 0,0 1 0,0 1 0,1-1 0,1 1 0,0 0 0,-3 22 0,1 3-1365,7-30-5461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31T18:17:48.3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624 728 24575,'-81'2'0,"-85"-4"0,148-1 0,0-1 0,1-1 0,-1-1 0,2 0 0,-1-1 0,1-1 0,-20-11 0,-9-5 0,40 20 0,0 0 0,1 0 0,-1-1 0,1 1 0,0-1 0,1 0 0,-1 0 0,1-1 0,0 1 0,0-1 0,0 1 0,1-1 0,-4-11 0,-18-35 0,13 35 0,2-1 0,0 0 0,0 0 0,-7-30 0,-10-19 0,22 52 0,0 0 0,1-1 0,0 1 0,1-1 0,1 0 0,1 1 0,0-1 0,3-22 0,0-17 0,-3 52 0,0 0 0,1 0 0,-1-1 0,1 1 0,0 0 0,0 0 0,0 0 0,0 0 0,0 0 0,1 0 0,-1 1 0,1-1 0,0 0 0,0 1 0,0-1 0,0 1 0,0 0 0,1-1 0,-1 1 0,1 0 0,-1 1 0,1-1 0,0 0 0,0 1 0,0-1 0,3 0 0,11-4 0,-1 1 0,1 0 0,31-3 0,-12 1 0,-14 3 0,0 1 0,0 1 0,1 1 0,-1 1 0,1 0 0,-1 2 0,38 7 0,-43-2 0,0 0 0,0 1 0,0 1 0,-1 1 0,0 0 0,-1 1 0,0 0 0,-1 1 0,0 1 0,-1 0 0,0 1 0,-1 1 0,10 16 0,-11-13 0,-2 0 0,0 0 0,-1 1 0,0 1 0,-2-1 0,-1 1 0,0 0 0,-1 0 0,1 24 0,-1 30 0,-6 90 0,0-54 0,0-100 0,1-1 0,-1 0 0,0 1 0,-1-1 0,0 0 0,-1 0 0,0-1 0,0 1 0,-1-1 0,0 0 0,-1 0 0,-7 9 0,-8-3-1365,10-11-5461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31T18:17:55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 24575,'0'35'0,"-1"-11"0,0-1 0,2 1 0,1-1 0,1 0 0,1 1 0,12 42 0,-7-40 0,-2 0 0,7 50 0,-9-43 0,12 42 0,39 139 0,-49-183 0,11 25 0,3 12 0,-16-46 0,1 0 0,1 1 0,11 23 0,-8-23 0,-2 1 0,8 30 0,-7-19 0,2 0 0,23 48 0,-17-41 0,134 303 0,-9-38 0,-92-204 0,-17-38 0,45 65 0,33 54 0,-74-121 0,180 243 0,-187-267 0,33 43 0,242 297 0,-136-180 0,-133-153 0,2-2 0,2-2 0,71 58 0,-36-33 0,-48-42 0,0-1 0,32 20 0,-21-17 0,40 38 0,13 9 0,119 81 0,-157-119 0,57 29 0,104 61 0,-193-113 0,-2-1 0,257 151 0,-195-121 0,68 37 0,-110-59 0,0-1 0,57 17 0,-31-12 0,55 18 0,44 18 0,-38-11 0,-93-35 0,51 12 0,19 8 0,-66-20 0,50 11 0,-53-17 0,-1 2 0,41 17 0,66 26 0,97 42 0,-89-38 0,85 39 0,55 33 0,-88-44 0,-35-5 0,-125-61 0,53 35 0,17 9 0,-55-29 0,-44-26 0,0 0 0,1-1 0,-1-1 0,17 7 0,132 58 0,-109-51 0,-22-8 0,42 11 0,-33-12 0,39 18 0,23 6 0,-45-18 0,-21-6 0,69 13 0,55 11 0,-127-29 0,0 2 0,30 11 0,-31-9 0,0-1 0,35 5 0,2 6 0,-54-15 0,0-1 0,0 0 0,20 3 0,127 28 0,-99-18 0,-52-13 0,2-1 0,-1 0 0,0 0 0,1-1 0,18 1 0,-7-1 0,-1 1 0,42 10 0,-42-8 0,1 0 0,41 2 0,-48-5 0,1 0 0,-1 0 0,0 2 0,17 5 0,33 8 0,-31-12 0,-8 0 0,-1-2 0,32 1 0,-34-2 0,0 1 0,0 1 0,0 1 0,-1 1 0,1 1 0,31 15 0,54 15 0,-48-19 0,61 27 0,-92-33 0,-11-5-273,-2 1 0,1 1 0,-1 0 0,28 23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31T18:17:58.1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24575,'0'3'0,"1"0"0,-1-1 0,1 1 0,0 0 0,0 0 0,0 0 0,0 0 0,0-1 0,1 1 0,-1-1 0,1 1 0,0-1 0,0 1 0,0-1 0,0 0 0,0 0 0,3 2 0,48 34 0,-25-19 0,6 6 0,71 42 0,-1-6 0,-87-50 0,65 33 0,-17-4 0,-32-20 0,58 44 0,-26-22 0,-19-14 0,-17-7 0,16 8 0,-2 3 0,48 45 0,-81-68 0,1-1 0,0 1 0,24 11 0,11 8 0,83 60 0,-15-21 0,-32-21 0,-21-14 0,6 8 0,120 65 0,-113-67 0,-33-16 0,74 29 0,5 8 0,-60-34 0,89 52 0,14 6 0,5-2 0,-124-60 0,206 107 0,-104-55 0,-37-29 0,-46-19 0,66 35 0,-103-48 0,0 0 0,37 9 0,25 12 0,57 21 0,-50-21 0,71 20 0,-87-32 0,-48-14 0,47 18 0,126 46 0,-154-54 0,27 4 0,23 8 0,-68-18 0,59 11 0,-59-15 0,63 20 0,-55-13 0,45 9 0,-2-1 0,8 1 0,-61-17 0,0 2 0,-1 1 0,31 14 0,-36-14 0,-1-1 0,43 10 0,1-1 0,-32-7 0,1-2 0,57 5 0,-69-11 0,17 1 0,1 2 0,-1 2 0,58 18 0,-56-13 0,1-2 0,44 5 0,-50-9 0,106 27 0,10-1 0,4 2 0,-117-24 0,1-3 0,49 4 0,-73-9 0,20 3 0,59 17 0,15 3 0,83 10 0,-170-30 0,46 16 0,-48-12 0,1-2 0,27 5 0,-20-6 0,0 2 0,38 14 0,29 9 0,51 17 0,11-6 0,-109-30 0,87 8 0,-113-17-143,0-2 0,27-1 0,-35 0-793,-1 0-5890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31T18:17:59.1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24575,'4'1'0,"0"0"0,0 0 0,0 0 0,0 1 0,0-1 0,-1 1 0,1 0 0,0 0 0,-1 0 0,1 1 0,5 4 0,33 34 0,143 190 0,-158-201 0,-17-20 0,-1 0 0,-1 0 0,14 22 0,58 79 0,-77-107 0,0 0 0,1 0 0,0 0 0,0 0 0,0-1 0,0 1 0,0-1 0,1 0 0,-1 0 0,10 3 0,-10-4 0,0 0 0,0 0 0,-1 0 0,1 1 0,0-1 0,-1 1 0,1 0 0,-1 0 0,0 0 0,0 0 0,0 0 0,-1 1 0,1-1 0,2 6 0,-5-8 0,1 1 0,-1-1 0,0 0 0,0 1 0,-1-1 0,1 0 0,0 0 0,0 1 0,0-1 0,-1 0 0,1 0 0,-1 1 0,1-1 0,-1 0 0,0 0 0,1 0 0,-1 0 0,0 0 0,0 0 0,1 0 0,-1 0 0,0 0 0,0 0 0,0 0 0,0-1 0,0 1 0,-1 0 0,1-1 0,0 1 0,0-1 0,-2 1 0,-47 20 0,36-16 0,-318 138 0,301-127-1365,20-8-5461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BE21D1-FB6C-45D2-B3F9-92D6DF61F5DB}" type="datetimeFigureOut">
              <a:rPr lang="ko-KR" altLang="en-US" smtClean="0"/>
              <a:t>2026-01-04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A51EB-9ADF-4976-BEE6-D72191B13C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80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A51EB-9ADF-4976-BEE6-D72191B13C9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1613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A51EB-9ADF-4976-BEE6-D72191B13C9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4417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2A9122-F7EF-F782-776C-03E6F5779F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322115-489C-EB9D-FF9C-DFCE2A46C8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43989F-0BB3-0D46-9AC6-FB22D042F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F8F7F-8666-4814-9722-5C9DAC821B19}" type="datetimeFigureOut">
              <a:rPr lang="ko-KR" altLang="en-US" smtClean="0"/>
              <a:t>2026-01-04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DD1F75-72C0-CFCC-27B9-466EB8932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3C9A61-70B1-4C40-33E1-7C4E0ACE7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7480-2EA1-4112-A94F-9E993E523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598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A12ADC-5111-8ABB-F106-BA79BA461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79CFB3-F503-D586-A13A-EA955F69F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7AF439-BA4E-9FDB-6089-7B48B6A03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F8F7F-8666-4814-9722-5C9DAC821B19}" type="datetimeFigureOut">
              <a:rPr lang="ko-KR" altLang="en-US" smtClean="0"/>
              <a:t>2026-01-04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34F419-190A-FF03-00DE-6BF5AD2C2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79FBEC-64DD-8DF8-7D4E-145251455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7480-2EA1-4112-A94F-9E993E523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057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0BCB74-237F-6A07-965E-01F603AB1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90ED0F-EFB9-F1FE-E49D-0BAE4938C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B45E61-5FF7-F24D-1F10-D8013214F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F8F7F-8666-4814-9722-5C9DAC821B19}" type="datetimeFigureOut">
              <a:rPr lang="ko-KR" altLang="en-US" smtClean="0"/>
              <a:t>2026-01-04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164FF2-D31B-FC09-C804-9E86BE754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A792C2-6617-ED1F-159B-C1DF57024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7480-2EA1-4112-A94F-9E993E523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672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B4D6D0-2637-1197-4E81-B99F36679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851A59-C313-9FB5-C588-1B8D644307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AAFE1F-1F83-45A5-D652-32A6272CF2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830591-D1E7-280D-232C-6D6059838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F8F7F-8666-4814-9722-5C9DAC821B19}" type="datetimeFigureOut">
              <a:rPr lang="ko-KR" altLang="en-US" smtClean="0"/>
              <a:t>2026-01-04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FD8D2D-A33F-0525-811E-074729300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81578D-10FB-26B4-4DB3-31988D75A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7480-2EA1-4112-A94F-9E993E523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4550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3C04D9-AD7A-92A4-F7E7-B6CF3AD49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9957A4-299E-F47F-E88E-9BF785B3C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20774B-E98B-4C6A-9F56-32EE0FB7A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0A2F7B-1AAC-100C-16A3-5DABB05F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A9701C5-7060-DCD0-A064-61BDEC66E5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13244D-8B2B-D948-CBC8-887FB07AF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F8F7F-8666-4814-9722-5C9DAC821B19}" type="datetimeFigureOut">
              <a:rPr lang="ko-KR" altLang="en-US" smtClean="0"/>
              <a:t>2026-01-04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362C7B3-0E2C-2245-0642-03E3DEBC4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3F80B0E-E50F-5A4D-C060-AD914A578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7480-2EA1-4112-A94F-9E993E523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358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1E832A-6CE2-6305-EB34-E529FDEDF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CA2965-EE1D-2D4F-0F3D-5672C9B33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F8F7F-8666-4814-9722-5C9DAC821B19}" type="datetimeFigureOut">
              <a:rPr lang="ko-KR" altLang="en-US" smtClean="0"/>
              <a:t>2026-01-04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0F1F990-EB8E-97E7-FE0D-5AE63BDFF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7DF4CAD-FC29-803E-B6BF-CE5043461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7480-2EA1-4112-A94F-9E993E523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139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F934CD4-A330-2961-A5D5-6BAE7B31D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F8F7F-8666-4814-9722-5C9DAC821B19}" type="datetimeFigureOut">
              <a:rPr lang="ko-KR" altLang="en-US" smtClean="0"/>
              <a:t>2026-01-04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462B259-85E2-2F81-409C-E2252C536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672714-1E3F-E27E-B674-704BA08B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7480-2EA1-4112-A94F-9E993E523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4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1DFF55-EEEB-5485-C3D2-10E9F1043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0943D4-280F-858A-D158-4DF186E43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42D37C8-D58B-A8FC-850E-8C890E62C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01572F-3347-F20F-584B-98D1B93FA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F8F7F-8666-4814-9722-5C9DAC821B19}" type="datetimeFigureOut">
              <a:rPr lang="ko-KR" altLang="en-US" smtClean="0"/>
              <a:t>2026-01-04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5A9A20-4F18-5CF5-8E19-920ACD31E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18F470-8BA7-73CC-1A98-862A20420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7480-2EA1-4112-A94F-9E993E523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282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047B3-0C72-C779-B194-4BA4EE0C5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AADF85D-8876-F0E1-5FEB-4153C00A1A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E32878-0C42-276D-3CC5-66A3CAFA42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AC8C7A-23DF-DA97-F609-6C51BF469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F8F7F-8666-4814-9722-5C9DAC821B19}" type="datetimeFigureOut">
              <a:rPr lang="ko-KR" altLang="en-US" smtClean="0"/>
              <a:t>2026-01-04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D9596E-6C55-3072-304F-7CBD908EF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E2186D-5734-16E2-46E0-F628D021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7480-2EA1-4112-A94F-9E993E523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201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426B0D-4DC2-AEDA-F731-0FF3F8518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69E19F2-7E01-4F4F-06DF-77A7869CA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668D67-8D34-5D08-B0E3-CB8D383D6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F8F7F-8666-4814-9722-5C9DAC821B19}" type="datetimeFigureOut">
              <a:rPr lang="ko-KR" altLang="en-US" smtClean="0"/>
              <a:t>2026-01-04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D13CAE-4A10-BF74-9B8B-56DE5B19B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DD1263-062E-E899-055C-A92C497AB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7480-2EA1-4112-A94F-9E993E523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8329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3B36407-31F0-ABC5-FDA0-6FAAA69BC1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8FCEF1D-D544-DC2D-9549-A0D39468C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FB74CC-FF15-264D-2107-6407580C0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F8F7F-8666-4814-9722-5C9DAC821B19}" type="datetimeFigureOut">
              <a:rPr lang="ko-KR" altLang="en-US" smtClean="0"/>
              <a:t>2026-01-04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4E9BD3-AC5C-D19F-A1C0-1F39C3EE7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7B7237-A35C-04AF-7ACD-5DDCA902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7480-2EA1-4112-A94F-9E993E523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06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B9B4073-50AD-00DB-307D-70FDA5AF3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6274BE-4AE4-4698-8523-185824C01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7C577A-D4C1-DFFC-E3D3-7BF912B41F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F8F7F-8666-4814-9722-5C9DAC821B19}" type="datetimeFigureOut">
              <a:rPr lang="ko-KR" altLang="en-US" smtClean="0"/>
              <a:t>2026-01-04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D37A54-9199-DFC3-2018-89425CCDFC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4D0758-DB74-6EF7-C35B-0A4FD19828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4B7480-2EA1-4112-A94F-9E993E523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246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customXml" Target="../ink/ink6.xml"/><Relationship Id="rId3" Type="http://schemas.openxmlformats.org/officeDocument/2006/relationships/image" Target="../media/image10.png"/><Relationship Id="rId7" Type="http://schemas.openxmlformats.org/officeDocument/2006/relationships/customXml" Target="../ink/ink3.xml"/><Relationship Id="rId12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0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20.png"/><Relationship Id="rId4" Type="http://schemas.openxmlformats.org/officeDocument/2006/relationships/image" Target="../media/image11.png"/><Relationship Id="rId9" Type="http://schemas.openxmlformats.org/officeDocument/2006/relationships/customXml" Target="../ink/ink4.xml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685004-D9B8-0BF9-5E5B-BCBA7C86B7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Direct3D11 </a:t>
            </a:r>
            <a:r>
              <a:rPr lang="ko-KR" altLang="en-US" dirty="0"/>
              <a:t>프로그래밍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CD820F-C031-7D37-3253-EAE9601FE6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11-SkinnedSkeletalMesh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0057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534DC5-9D58-3A85-4905-47CA89A9E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A5C34C-C4AC-A319-4917-892273620FF8}"/>
              </a:ext>
            </a:extLst>
          </p:cNvPr>
          <p:cNvSpPr txBox="1"/>
          <p:nvPr/>
        </p:nvSpPr>
        <p:spPr>
          <a:xfrm>
            <a:off x="654049" y="1862088"/>
            <a:ext cx="1144354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 err="1"/>
              <a:t>리깅</a:t>
            </a:r>
            <a:r>
              <a:rPr lang="en-US" altLang="ko-KR" dirty="0"/>
              <a:t>(Rigging)</a:t>
            </a:r>
            <a:r>
              <a:rPr lang="ko-KR" altLang="en-US" dirty="0"/>
              <a:t>된 </a:t>
            </a:r>
            <a:r>
              <a:rPr lang="en-US" altLang="ko-KR" dirty="0"/>
              <a:t>Skinned Skeletal Mesh(</a:t>
            </a:r>
            <a:r>
              <a:rPr lang="ko-KR" altLang="en-US" dirty="0"/>
              <a:t>캐릭터</a:t>
            </a:r>
            <a:r>
              <a:rPr lang="en-US" altLang="ko-KR" dirty="0"/>
              <a:t>)</a:t>
            </a:r>
            <a:r>
              <a:rPr lang="ko-KR" altLang="en-US" dirty="0"/>
              <a:t>를 이해합니다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en-US" altLang="ko-KR" dirty="0" err="1"/>
              <a:t>Assimp</a:t>
            </a:r>
            <a:r>
              <a:rPr lang="ko-KR" altLang="en-US" dirty="0"/>
              <a:t>가 </a:t>
            </a:r>
            <a:r>
              <a:rPr lang="ko-KR" altLang="en-US" dirty="0" err="1"/>
              <a:t>리깅된</a:t>
            </a:r>
            <a:r>
              <a:rPr lang="ko-KR" altLang="en-US" dirty="0"/>
              <a:t> </a:t>
            </a:r>
            <a:r>
              <a:rPr lang="en-US" altLang="ko-KR" dirty="0"/>
              <a:t>Mesh</a:t>
            </a:r>
            <a:r>
              <a:rPr lang="ko-KR" altLang="en-US" dirty="0"/>
              <a:t>를 표현하는 </a:t>
            </a:r>
            <a:r>
              <a:rPr lang="en-US" altLang="ko-KR" dirty="0"/>
              <a:t>Bone(Joint),</a:t>
            </a:r>
            <a:r>
              <a:rPr lang="en-US" altLang="ko-KR" dirty="0" err="1"/>
              <a:t>VertexWeight</a:t>
            </a:r>
            <a:r>
              <a:rPr lang="ko-KR" altLang="en-US" dirty="0"/>
              <a:t> 데이터를 이해합니다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 </a:t>
            </a:r>
            <a:r>
              <a:rPr lang="ko-KR" altLang="en-US" dirty="0"/>
              <a:t>기본 포즈 </a:t>
            </a:r>
            <a:r>
              <a:rPr lang="en-US" altLang="ko-KR" dirty="0"/>
              <a:t>Bone </a:t>
            </a:r>
            <a:r>
              <a:rPr lang="ko-KR" altLang="en-US" dirty="0"/>
              <a:t>기준의 </a:t>
            </a:r>
            <a:r>
              <a:rPr lang="ko-KR" altLang="en-US" dirty="0" err="1"/>
              <a:t>메쉬의</a:t>
            </a:r>
            <a:r>
              <a:rPr lang="ko-KR" altLang="en-US" dirty="0"/>
              <a:t> 상대적 변환을 표현하는 </a:t>
            </a:r>
            <a:r>
              <a:rPr lang="en-US" altLang="ko-KR" dirty="0" err="1"/>
              <a:t>OffsetMatrix</a:t>
            </a:r>
            <a:r>
              <a:rPr lang="ko-KR" altLang="en-US" dirty="0"/>
              <a:t>를 이해합니다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4. </a:t>
            </a:r>
            <a:r>
              <a:rPr lang="ko-KR" altLang="en-US" dirty="0"/>
              <a:t>새로운 </a:t>
            </a:r>
            <a:r>
              <a:rPr lang="ko-KR" altLang="en-US" dirty="0" err="1"/>
              <a:t>버텍스</a:t>
            </a:r>
            <a:r>
              <a:rPr lang="ko-KR" altLang="en-US" dirty="0"/>
              <a:t> 포맷을 선언합니다</a:t>
            </a:r>
            <a:r>
              <a:rPr lang="en-US" altLang="ko-KR" dirty="0"/>
              <a:t>. </a:t>
            </a:r>
            <a:r>
              <a:rPr lang="en-US" altLang="ko-KR" dirty="0" err="1"/>
              <a:t>BoneWeightVertex</a:t>
            </a:r>
            <a:r>
              <a:rPr lang="en-US" altLang="ko-KR" dirty="0"/>
              <a:t>  ( </a:t>
            </a:r>
            <a:r>
              <a:rPr lang="en-US" altLang="ko-KR" dirty="0" err="1"/>
              <a:t>BoneIndex,BoneWeight</a:t>
            </a:r>
            <a:r>
              <a:rPr lang="en-US" altLang="ko-KR" dirty="0"/>
              <a:t> 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5. </a:t>
            </a:r>
            <a:r>
              <a:rPr lang="ko-KR" altLang="en-US" dirty="0" err="1"/>
              <a:t>메쉬에</a:t>
            </a:r>
            <a:r>
              <a:rPr lang="ko-KR" altLang="en-US" dirty="0"/>
              <a:t> 영향을 주는</a:t>
            </a:r>
            <a:r>
              <a:rPr lang="en-US" altLang="ko-KR" dirty="0"/>
              <a:t> </a:t>
            </a:r>
            <a:r>
              <a:rPr lang="en-US" altLang="ko-KR" dirty="0" err="1"/>
              <a:t>aiBone</a:t>
            </a:r>
            <a:r>
              <a:rPr lang="ko-KR" altLang="en-US" dirty="0"/>
              <a:t>의 </a:t>
            </a:r>
            <a:r>
              <a:rPr lang="en-US" altLang="ko-KR" dirty="0" err="1"/>
              <a:t>Index,Weight</a:t>
            </a:r>
            <a:r>
              <a:rPr lang="ko-KR" altLang="en-US" dirty="0"/>
              <a:t>처리하여 </a:t>
            </a:r>
            <a:r>
              <a:rPr lang="en-US" altLang="ko-KR" dirty="0"/>
              <a:t> </a:t>
            </a:r>
            <a:r>
              <a:rPr lang="en-US" altLang="ko-KR" dirty="0" err="1"/>
              <a:t>VertexBuffer</a:t>
            </a:r>
            <a:r>
              <a:rPr lang="en-US" altLang="ko-KR" dirty="0"/>
              <a:t>, </a:t>
            </a:r>
            <a:r>
              <a:rPr lang="en-US" altLang="ko-KR" dirty="0" err="1"/>
              <a:t>IndexBuffer</a:t>
            </a:r>
            <a:r>
              <a:rPr lang="ko-KR" altLang="en-US" dirty="0"/>
              <a:t>를 생성합니다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6. </a:t>
            </a:r>
            <a:r>
              <a:rPr lang="ko-KR" altLang="en-US" dirty="0"/>
              <a:t>애니메이션을 업데이트한</a:t>
            </a:r>
            <a:r>
              <a:rPr lang="en-US" altLang="ko-KR" dirty="0"/>
              <a:t> Pose</a:t>
            </a:r>
            <a:r>
              <a:rPr lang="ko-KR" altLang="en-US" dirty="0"/>
              <a:t>와 </a:t>
            </a:r>
            <a:r>
              <a:rPr lang="ko-KR" altLang="en-US" dirty="0" err="1"/>
              <a:t>고정값</a:t>
            </a:r>
            <a:r>
              <a:rPr lang="ko-KR" altLang="en-US" dirty="0"/>
              <a:t> </a:t>
            </a:r>
            <a:r>
              <a:rPr lang="en-US" altLang="ko-KR" dirty="0"/>
              <a:t>Offset</a:t>
            </a:r>
            <a:r>
              <a:rPr lang="ko-KR" altLang="en-US" dirty="0"/>
              <a:t>을 </a:t>
            </a:r>
            <a:r>
              <a:rPr lang="en-US" altLang="ko-KR" dirty="0" err="1"/>
              <a:t>MatrixPalette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업데이트합니다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7. </a:t>
            </a:r>
            <a:r>
              <a:rPr lang="en-US" altLang="ko-KR" dirty="0" err="1"/>
              <a:t>VertexShader</a:t>
            </a:r>
            <a:r>
              <a:rPr lang="ko-KR" altLang="en-US" dirty="0"/>
              <a:t>에서 인덱스와 가중치로 </a:t>
            </a:r>
            <a:r>
              <a:rPr lang="en-US" altLang="ko-KR" dirty="0"/>
              <a:t>vertex</a:t>
            </a:r>
            <a:r>
              <a:rPr lang="ko-KR" altLang="en-US" dirty="0"/>
              <a:t>의 위치를 계산합니다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1231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6B333FFF-0140-4006-AF5E-B3CAE59DF3D2}"/>
              </a:ext>
            </a:extLst>
          </p:cNvPr>
          <p:cNvGrpSpPr/>
          <p:nvPr/>
        </p:nvGrpSpPr>
        <p:grpSpPr>
          <a:xfrm>
            <a:off x="748030" y="2981631"/>
            <a:ext cx="8883650" cy="3105229"/>
            <a:chOff x="786130" y="2388791"/>
            <a:chExt cx="8883650" cy="310522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0712D99-3357-F88B-9B85-70F3D1A791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375" b="29818"/>
            <a:stretch/>
          </p:blipFill>
          <p:spPr>
            <a:xfrm>
              <a:off x="901700" y="2388791"/>
              <a:ext cx="8768080" cy="3105229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123045F-79C6-3576-C928-0CD6C8BA88A5}"/>
                </a:ext>
              </a:extLst>
            </p:cNvPr>
            <p:cNvSpPr txBox="1"/>
            <p:nvPr/>
          </p:nvSpPr>
          <p:spPr>
            <a:xfrm>
              <a:off x="901700" y="3222356"/>
              <a:ext cx="182293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solidFill>
                    <a:schemeClr val="bg2"/>
                  </a:solidFill>
                </a:rPr>
                <a:t>일반적인 의미의 </a:t>
              </a:r>
              <a:r>
                <a:rPr lang="en-US" altLang="ko-KR" sz="1100" dirty="0">
                  <a:solidFill>
                    <a:schemeClr val="bg2"/>
                  </a:solidFill>
                </a:rPr>
                <a:t>Bone(</a:t>
              </a:r>
              <a:r>
                <a:rPr lang="ko-KR" altLang="en-US" sz="1100" dirty="0">
                  <a:solidFill>
                    <a:schemeClr val="bg2"/>
                  </a:solidFill>
                </a:rPr>
                <a:t>뼈</a:t>
              </a:r>
              <a:r>
                <a:rPr lang="en-US" altLang="ko-KR" sz="1100" dirty="0">
                  <a:solidFill>
                    <a:schemeClr val="bg2"/>
                  </a:solidFill>
                </a:rPr>
                <a:t>)</a:t>
              </a:r>
              <a:endParaRPr lang="ko-KR" altLang="en-US" sz="1100" dirty="0">
                <a:solidFill>
                  <a:schemeClr val="bg2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7F55956-C964-C502-CB07-D3CC98704B7E}"/>
                </a:ext>
              </a:extLst>
            </p:cNvPr>
            <p:cNvSpPr txBox="1"/>
            <p:nvPr/>
          </p:nvSpPr>
          <p:spPr>
            <a:xfrm>
              <a:off x="1560324" y="4170170"/>
              <a:ext cx="150554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solidFill>
                    <a:schemeClr val="bg2"/>
                  </a:solidFill>
                </a:rPr>
                <a:t>3D </a:t>
              </a:r>
              <a:r>
                <a:rPr lang="ko-KR" altLang="en-US" sz="1100" dirty="0">
                  <a:solidFill>
                    <a:schemeClr val="bg2"/>
                  </a:solidFill>
                </a:rPr>
                <a:t>애니메이션의 </a:t>
              </a:r>
              <a:endParaRPr lang="en-US" altLang="ko-KR" sz="1100" dirty="0">
                <a:solidFill>
                  <a:schemeClr val="bg2"/>
                </a:solidFill>
              </a:endParaRPr>
            </a:p>
            <a:p>
              <a:r>
                <a:rPr lang="en-US" altLang="ko-KR" sz="1100" dirty="0">
                  <a:solidFill>
                    <a:schemeClr val="bg2"/>
                  </a:solidFill>
                </a:rPr>
                <a:t>Bone(</a:t>
              </a:r>
              <a:r>
                <a:rPr lang="ko-KR" altLang="en-US" sz="1100" dirty="0">
                  <a:solidFill>
                    <a:schemeClr val="bg2"/>
                  </a:solidFill>
                </a:rPr>
                <a:t>뼈</a:t>
              </a:r>
              <a:r>
                <a:rPr lang="en-US" altLang="ko-KR" sz="1100" dirty="0">
                  <a:solidFill>
                    <a:schemeClr val="bg2"/>
                  </a:solidFill>
                </a:rPr>
                <a:t>)=</a:t>
              </a:r>
              <a:r>
                <a:rPr lang="en-US" altLang="ko-KR" sz="1100" dirty="0">
                  <a:solidFill>
                    <a:srgbClr val="FFC000"/>
                  </a:solidFill>
                </a:rPr>
                <a:t>Joint(</a:t>
              </a:r>
              <a:r>
                <a:rPr lang="ko-KR" altLang="en-US" sz="1100" dirty="0">
                  <a:solidFill>
                    <a:srgbClr val="FFC000"/>
                  </a:solidFill>
                </a:rPr>
                <a:t>관절</a:t>
              </a:r>
              <a:r>
                <a:rPr lang="en-US" altLang="ko-KR" sz="1100" dirty="0">
                  <a:solidFill>
                    <a:srgbClr val="FFC000"/>
                  </a:solidFill>
                </a:rPr>
                <a:t>)</a:t>
              </a:r>
              <a:endParaRPr lang="ko-KR" altLang="en-US" sz="1100" dirty="0">
                <a:solidFill>
                  <a:srgbClr val="FFC000"/>
                </a:solidFill>
              </a:endParaRPr>
            </a:p>
          </p:txBody>
        </p:sp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13C9B914-4900-C692-3493-67A00FE6D2FF}"/>
                </a:ext>
              </a:extLst>
            </p:cNvPr>
            <p:cNvCxnSpPr>
              <a:cxnSpLocks/>
            </p:cNvCxnSpPr>
            <p:nvPr/>
          </p:nvCxnSpPr>
          <p:spPr>
            <a:xfrm>
              <a:off x="3346450" y="4151090"/>
              <a:ext cx="2286000" cy="44996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DEB52A4-A7F0-4BA8-90D1-4D5D837B49D5}"/>
                </a:ext>
              </a:extLst>
            </p:cNvPr>
            <p:cNvSpPr/>
            <p:nvPr/>
          </p:nvSpPr>
          <p:spPr>
            <a:xfrm>
              <a:off x="786130" y="2649756"/>
              <a:ext cx="536448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200" dirty="0"/>
                <a:t> </a:t>
              </a:r>
              <a:r>
                <a:rPr lang="en-US" altLang="ko-KR" sz="1200" dirty="0" err="1">
                  <a:solidFill>
                    <a:schemeClr val="bg1">
                      <a:lumMod val="75000"/>
                    </a:schemeClr>
                  </a:solidFill>
                </a:rPr>
                <a:t>ObjectMode</a:t>
              </a:r>
              <a:r>
                <a:rPr lang="en-US" altLang="ko-KR" sz="1200" dirty="0">
                  <a:solidFill>
                    <a:schemeClr val="bg1">
                      <a:lumMod val="75000"/>
                    </a:schemeClr>
                  </a:solidFill>
                </a:rPr>
                <a:t> -&gt; </a:t>
              </a:r>
              <a:r>
                <a:rPr lang="ko-KR" altLang="en-US" sz="1200" dirty="0" err="1">
                  <a:solidFill>
                    <a:schemeClr val="bg1">
                      <a:lumMod val="75000"/>
                    </a:schemeClr>
                  </a:solidFill>
                </a:rPr>
                <a:t>메쉬선택</a:t>
              </a:r>
              <a:r>
                <a:rPr lang="ko-KR" altLang="en-US" sz="1200" dirty="0">
                  <a:solidFill>
                    <a:schemeClr val="bg1">
                      <a:lumMod val="75000"/>
                    </a:schemeClr>
                  </a:solidFill>
                </a:rPr>
                <a:t> </a:t>
              </a:r>
              <a:r>
                <a:rPr lang="en-US" altLang="ko-KR" sz="1200" dirty="0">
                  <a:solidFill>
                    <a:schemeClr val="bg1">
                      <a:lumMod val="75000"/>
                    </a:schemeClr>
                  </a:solidFill>
                </a:rPr>
                <a:t>-&gt; weight paint -&gt; </a:t>
              </a:r>
              <a:r>
                <a:rPr lang="en-US" altLang="ko-KR" sz="1200" dirty="0" err="1">
                  <a:solidFill>
                    <a:schemeClr val="bg1">
                      <a:lumMod val="75000"/>
                    </a:schemeClr>
                  </a:solidFill>
                </a:rPr>
                <a:t>EditMode</a:t>
              </a:r>
              <a:r>
                <a:rPr lang="en-US" altLang="ko-KR" sz="1200" dirty="0">
                  <a:solidFill>
                    <a:schemeClr val="bg1">
                      <a:lumMod val="75000"/>
                    </a:schemeClr>
                  </a:solidFill>
                </a:rPr>
                <a:t>-&gt; </a:t>
              </a:r>
              <a:r>
                <a:rPr lang="ko-KR" altLang="en-US" sz="1200" dirty="0">
                  <a:solidFill>
                    <a:schemeClr val="bg1">
                      <a:lumMod val="75000"/>
                    </a:schemeClr>
                  </a:solidFill>
                </a:rPr>
                <a:t>화살표 </a:t>
              </a:r>
              <a:r>
                <a:rPr lang="en-US" altLang="ko-KR" sz="1200" dirty="0">
                  <a:solidFill>
                    <a:schemeClr val="bg1">
                      <a:lumMod val="75000"/>
                    </a:schemeClr>
                  </a:solidFill>
                </a:rPr>
                <a:t>Item </a:t>
              </a:r>
              <a:r>
                <a:rPr lang="ko-KR" altLang="en-US" sz="1200" dirty="0">
                  <a:solidFill>
                    <a:schemeClr val="bg1">
                      <a:lumMod val="75000"/>
                    </a:schemeClr>
                  </a:solidFill>
                </a:rPr>
                <a:t>탭</a:t>
              </a:r>
              <a:endParaRPr lang="en-US" altLang="ko-KR" sz="12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742885E7-7B9F-C637-7A88-FB33ED047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리깅</a:t>
            </a:r>
            <a:r>
              <a:rPr lang="en-US" altLang="ko-KR" dirty="0"/>
              <a:t>(Rigging)</a:t>
            </a:r>
            <a:r>
              <a:rPr lang="ko-KR" altLang="en-US" dirty="0"/>
              <a:t>된 캐릭터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0E3267-69B5-CA95-77AC-53A231128B1A}"/>
              </a:ext>
            </a:extLst>
          </p:cNvPr>
          <p:cNvSpPr txBox="1"/>
          <p:nvPr/>
        </p:nvSpPr>
        <p:spPr>
          <a:xfrm>
            <a:off x="257328" y="1492758"/>
            <a:ext cx="1159963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Vertex</a:t>
            </a:r>
            <a:r>
              <a:rPr lang="ko-KR" altLang="en-US" dirty="0"/>
              <a:t> 는 </a:t>
            </a:r>
            <a:r>
              <a:rPr lang="en-US" altLang="ko-KR" dirty="0"/>
              <a:t>1</a:t>
            </a:r>
            <a:r>
              <a:rPr lang="ko-KR" altLang="en-US" dirty="0"/>
              <a:t>개 이상의 관절</a:t>
            </a:r>
            <a:r>
              <a:rPr lang="en-US" altLang="ko-KR" dirty="0"/>
              <a:t>(Bone or Joint)</a:t>
            </a:r>
            <a:r>
              <a:rPr lang="ko-KR" altLang="en-US" dirty="0"/>
              <a:t>의 </a:t>
            </a:r>
            <a:r>
              <a:rPr lang="en-US" altLang="ko-KR" b="1" dirty="0"/>
              <a:t>Transform</a:t>
            </a:r>
            <a:r>
              <a:rPr lang="ko-KR" altLang="en-US" dirty="0"/>
              <a:t>과 연결되고 각 관절에 대한 가중치 값에 따라 </a:t>
            </a:r>
            <a:endParaRPr lang="en-US" altLang="ko-KR" dirty="0"/>
          </a:p>
          <a:p>
            <a:r>
              <a:rPr lang="en-US" altLang="ko-KR" dirty="0"/>
              <a:t>Vertex</a:t>
            </a:r>
            <a:r>
              <a:rPr lang="ko-KR" altLang="en-US" dirty="0"/>
              <a:t>의 최종 월드 위치가 결정된다</a:t>
            </a:r>
            <a:r>
              <a:rPr lang="en-US" altLang="ko-KR" dirty="0"/>
              <a:t>.  vertex</a:t>
            </a:r>
            <a:r>
              <a:rPr lang="ko-KR" altLang="en-US" dirty="0"/>
              <a:t>를 관절</a:t>
            </a:r>
            <a:r>
              <a:rPr lang="en-US" altLang="ko-KR" dirty="0"/>
              <a:t> </a:t>
            </a:r>
            <a:r>
              <a:rPr lang="ko-KR" altLang="en-US" dirty="0"/>
              <a:t>변환 이후 비율로 </a:t>
            </a:r>
            <a:r>
              <a:rPr lang="ko-KR" altLang="en-US" dirty="0" err="1"/>
              <a:t>누적합</a:t>
            </a:r>
            <a:r>
              <a:rPr lang="ko-KR" altLang="en-US" dirty="0"/>
              <a:t> 적용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sz="1200" dirty="0"/>
              <a:t>*Bone</a:t>
            </a:r>
            <a:r>
              <a:rPr lang="ko-KR" altLang="en-US" sz="1200" dirty="0"/>
              <a:t>은 정확한 명칭이라고 할 수는 없지만 </a:t>
            </a:r>
            <a:r>
              <a:rPr lang="en-US" altLang="ko-KR" sz="1200" dirty="0"/>
              <a:t>3D</a:t>
            </a:r>
            <a:r>
              <a:rPr lang="ko-KR" altLang="en-US" sz="1200" dirty="0"/>
              <a:t>애니메이션에서는 </a:t>
            </a:r>
            <a:r>
              <a:rPr lang="en-US" altLang="ko-KR" sz="1200" dirty="0"/>
              <a:t>Bone(</a:t>
            </a:r>
            <a:r>
              <a:rPr lang="ko-KR" altLang="en-US" sz="1200" dirty="0"/>
              <a:t>뼈</a:t>
            </a:r>
            <a:r>
              <a:rPr lang="en-US" altLang="ko-KR" sz="1200" dirty="0"/>
              <a:t>) = Joint(</a:t>
            </a:r>
            <a:r>
              <a:rPr lang="ko-KR" altLang="en-US" sz="1200" dirty="0"/>
              <a:t>관절</a:t>
            </a:r>
            <a:r>
              <a:rPr lang="en-US" altLang="ko-KR" sz="1200" dirty="0"/>
              <a:t>) </a:t>
            </a:r>
            <a:r>
              <a:rPr lang="ko-KR" altLang="en-US" sz="1200" dirty="0"/>
              <a:t>같은 의미로 통용하여 사용한다</a:t>
            </a:r>
            <a:r>
              <a:rPr lang="en-US" altLang="ko-KR" sz="1200" dirty="0"/>
              <a:t>.  </a:t>
            </a:r>
            <a:r>
              <a:rPr lang="ko-KR" altLang="en-US" sz="1200" dirty="0"/>
              <a:t>회색 그림은 관절의 연결을 보여줄 뿐이다</a:t>
            </a:r>
            <a:endParaRPr lang="en-US" altLang="ko-KR" sz="1200" dirty="0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09A46A3B-EEF2-1813-D91F-80BC542B0BC9}"/>
              </a:ext>
            </a:extLst>
          </p:cNvPr>
          <p:cNvCxnSpPr>
            <a:cxnSpLocks/>
          </p:cNvCxnSpPr>
          <p:nvPr/>
        </p:nvCxnSpPr>
        <p:spPr>
          <a:xfrm>
            <a:off x="1701531" y="4032014"/>
            <a:ext cx="438165" cy="50936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3F720949-1458-29FC-FC42-5FAC9DA25ADB}"/>
              </a:ext>
            </a:extLst>
          </p:cNvPr>
          <p:cNvCxnSpPr>
            <a:cxnSpLocks/>
          </p:cNvCxnSpPr>
          <p:nvPr/>
        </p:nvCxnSpPr>
        <p:spPr>
          <a:xfrm flipV="1">
            <a:off x="2429488" y="4567864"/>
            <a:ext cx="0" cy="19514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타원 2">
            <a:extLst>
              <a:ext uri="{FF2B5EF4-FFF2-40B4-BE49-F238E27FC236}">
                <a16:creationId xmlns:a16="http://schemas.microsoft.com/office/drawing/2014/main" id="{019ACC81-AF4B-4829-906A-BF6C63EC7D55}"/>
              </a:ext>
            </a:extLst>
          </p:cNvPr>
          <p:cNvSpPr/>
          <p:nvPr/>
        </p:nvSpPr>
        <p:spPr>
          <a:xfrm>
            <a:off x="2386318" y="4471736"/>
            <a:ext cx="86341" cy="69647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6F5861E-5C73-C27C-814F-4FCF82A730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20" t="1715" b="41328"/>
          <a:stretch/>
        </p:blipFill>
        <p:spPr>
          <a:xfrm>
            <a:off x="569910" y="5493525"/>
            <a:ext cx="6147442" cy="120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927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8B94D9C2-0A35-FC30-05AD-8D4CC555A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0559" y="1881160"/>
            <a:ext cx="1693082" cy="399908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F0504A3-E132-F718-05B9-AAF26B611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리깅된</a:t>
            </a:r>
            <a:r>
              <a:rPr lang="ko-KR" altLang="en-US" dirty="0"/>
              <a:t> </a:t>
            </a:r>
            <a:r>
              <a:rPr lang="en-US" altLang="ko-KR" dirty="0"/>
              <a:t>Mesh</a:t>
            </a:r>
            <a:r>
              <a:rPr lang="ko-KR" altLang="en-US" dirty="0"/>
              <a:t>의 </a:t>
            </a:r>
            <a:r>
              <a:rPr lang="en-US" altLang="ko-KR" dirty="0" err="1"/>
              <a:t>assimp</a:t>
            </a:r>
            <a:r>
              <a:rPr lang="ko-KR" altLang="en-US" dirty="0"/>
              <a:t> 데이터 구조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67F1213-CF1C-AD70-9DC2-D70A4BCE508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777" t="27729" b="40353"/>
          <a:stretch/>
        </p:blipFill>
        <p:spPr>
          <a:xfrm>
            <a:off x="2815512" y="3429000"/>
            <a:ext cx="6154980" cy="21780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484732-C9CD-4856-61B0-03751DFD6979}"/>
              </a:ext>
            </a:extLst>
          </p:cNvPr>
          <p:cNvSpPr txBox="1"/>
          <p:nvPr/>
        </p:nvSpPr>
        <p:spPr>
          <a:xfrm>
            <a:off x="2741673" y="3267668"/>
            <a:ext cx="18891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err="1">
                <a:solidFill>
                  <a:srgbClr val="FF0000"/>
                </a:solidFill>
              </a:rPr>
              <a:t>aiNode</a:t>
            </a:r>
            <a:r>
              <a:rPr lang="ko-KR" altLang="en-US" sz="1100" b="1" dirty="0">
                <a:solidFill>
                  <a:srgbClr val="FF0000"/>
                </a:solidFill>
              </a:rPr>
              <a:t>와 연결된 </a:t>
            </a:r>
            <a:r>
              <a:rPr lang="en-US" altLang="ko-KR" sz="1100" b="1" dirty="0">
                <a:solidFill>
                  <a:srgbClr val="FF0000"/>
                </a:solidFill>
              </a:rPr>
              <a:t>Mesh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6E5EF7-D500-AE23-ED79-DACBB345336C}"/>
              </a:ext>
            </a:extLst>
          </p:cNvPr>
          <p:cNvSpPr txBox="1"/>
          <p:nvPr/>
        </p:nvSpPr>
        <p:spPr>
          <a:xfrm>
            <a:off x="4920726" y="3217905"/>
            <a:ext cx="37076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err="1">
                <a:solidFill>
                  <a:srgbClr val="FF0000"/>
                </a:solidFill>
              </a:rPr>
              <a:t>aiMesh</a:t>
            </a:r>
            <a:r>
              <a:rPr lang="ko-KR" altLang="en-US" sz="1100" b="1" dirty="0">
                <a:solidFill>
                  <a:srgbClr val="FF0000"/>
                </a:solidFill>
              </a:rPr>
              <a:t>에게 영향을 주는 </a:t>
            </a:r>
            <a:r>
              <a:rPr lang="en-US" altLang="ko-KR" sz="1100" b="1" dirty="0">
                <a:solidFill>
                  <a:srgbClr val="FF0000"/>
                </a:solidFill>
              </a:rPr>
              <a:t>Bone(</a:t>
            </a:r>
            <a:r>
              <a:rPr lang="en-US" altLang="ko-KR" sz="1100" b="1" dirty="0" err="1">
                <a:solidFill>
                  <a:srgbClr val="FF0000"/>
                </a:solidFill>
              </a:rPr>
              <a:t>aiNode</a:t>
            </a:r>
            <a:r>
              <a:rPr lang="en-US" altLang="ko-KR" sz="1100" b="1" dirty="0">
                <a:solidFill>
                  <a:srgbClr val="FF0000"/>
                </a:solidFill>
              </a:rPr>
              <a:t>) </a:t>
            </a:r>
            <a:r>
              <a:rPr lang="ko-KR" altLang="en-US" sz="1100" b="1" dirty="0">
                <a:solidFill>
                  <a:srgbClr val="FF0000"/>
                </a:solidFill>
              </a:rPr>
              <a:t>정보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D09ABA-0968-E223-7A9D-7523AA14E226}"/>
              </a:ext>
            </a:extLst>
          </p:cNvPr>
          <p:cNvSpPr txBox="1"/>
          <p:nvPr/>
        </p:nvSpPr>
        <p:spPr>
          <a:xfrm>
            <a:off x="7703757" y="3374081"/>
            <a:ext cx="18027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FF0000"/>
                </a:solidFill>
              </a:rPr>
              <a:t>영향을 주는 </a:t>
            </a:r>
            <a:r>
              <a:rPr lang="en-US" altLang="ko-KR" sz="1100" b="1" dirty="0">
                <a:solidFill>
                  <a:srgbClr val="FF0000"/>
                </a:solidFill>
              </a:rPr>
              <a:t>Vertex</a:t>
            </a:r>
            <a:r>
              <a:rPr lang="ko-KR" altLang="en-US" sz="1100" b="1" dirty="0">
                <a:solidFill>
                  <a:srgbClr val="FF0000"/>
                </a:solidFill>
              </a:rPr>
              <a:t>정보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5AFD21-53B0-7ADA-93B4-F3391470164F}"/>
              </a:ext>
            </a:extLst>
          </p:cNvPr>
          <p:cNvSpPr txBox="1"/>
          <p:nvPr/>
        </p:nvSpPr>
        <p:spPr>
          <a:xfrm>
            <a:off x="9693445" y="1444072"/>
            <a:ext cx="23730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Spine1</a:t>
            </a:r>
            <a:r>
              <a:rPr lang="ko-KR" altLang="en-US" sz="1100" dirty="0"/>
              <a:t>이 영향을 주는 </a:t>
            </a:r>
            <a:r>
              <a:rPr lang="ko-KR" altLang="en-US" sz="1100" dirty="0" err="1"/>
              <a:t>버텍스와</a:t>
            </a:r>
            <a:endParaRPr lang="en-US" altLang="ko-KR" sz="1100" dirty="0"/>
          </a:p>
          <a:p>
            <a:r>
              <a:rPr lang="ko-KR" altLang="en-US" sz="1100" dirty="0"/>
              <a:t>그 가중치를 색으로 표현한 예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374AFAC-F75F-3C63-9021-8521FAC5633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3816" t="7066" r="710" b="94"/>
          <a:stretch/>
        </p:blipFill>
        <p:spPr>
          <a:xfrm>
            <a:off x="204113" y="1393845"/>
            <a:ext cx="2373050" cy="43477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0963354-08B0-AAA1-3F5C-C6A57CB946F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777" r="43294" b="74527"/>
          <a:stretch/>
        </p:blipFill>
        <p:spPr>
          <a:xfrm>
            <a:off x="2729777" y="1454222"/>
            <a:ext cx="2190949" cy="173831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8252A43-6382-E89D-F39B-3D1BCD70D50A}"/>
              </a:ext>
            </a:extLst>
          </p:cNvPr>
          <p:cNvSpPr txBox="1"/>
          <p:nvPr/>
        </p:nvSpPr>
        <p:spPr>
          <a:xfrm>
            <a:off x="5367132" y="1565949"/>
            <a:ext cx="14927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err="1"/>
              <a:t>RootNode</a:t>
            </a:r>
            <a:r>
              <a:rPr lang="en-US" altLang="ko-KR" sz="1100" dirty="0"/>
              <a:t>(</a:t>
            </a:r>
            <a:r>
              <a:rPr lang="ko-KR" altLang="en-US" sz="1100" dirty="0"/>
              <a:t>컨테이너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EA2C2E-C1E9-754E-AF8B-C7F3FA3884E6}"/>
              </a:ext>
            </a:extLst>
          </p:cNvPr>
          <p:cNvSpPr txBox="1"/>
          <p:nvPr/>
        </p:nvSpPr>
        <p:spPr>
          <a:xfrm>
            <a:off x="5490691" y="1847614"/>
            <a:ext cx="19447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err="1"/>
              <a:t>Mixamorig:Hips</a:t>
            </a:r>
            <a:r>
              <a:rPr lang="en-US" altLang="ko-KR" sz="1100" dirty="0"/>
              <a:t>(</a:t>
            </a:r>
            <a:r>
              <a:rPr lang="en-US" altLang="ko-KR" sz="1100" dirty="0" err="1"/>
              <a:t>BoneNode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4FEC59-3466-DC08-95B5-A4DF1064B56B}"/>
              </a:ext>
            </a:extLst>
          </p:cNvPr>
          <p:cNvSpPr txBox="1"/>
          <p:nvPr/>
        </p:nvSpPr>
        <p:spPr>
          <a:xfrm>
            <a:off x="5966453" y="2158586"/>
            <a:ext cx="20152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err="1"/>
              <a:t>Mixamorig:Spine</a:t>
            </a:r>
            <a:r>
              <a:rPr lang="en-US" altLang="ko-KR" sz="1100" dirty="0"/>
              <a:t>(</a:t>
            </a:r>
            <a:r>
              <a:rPr lang="en-US" altLang="ko-KR" sz="1100" dirty="0" err="1"/>
              <a:t>BoneNode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AA64C58-6CDF-0AC7-0B52-B45E297EA2A9}"/>
              </a:ext>
            </a:extLst>
          </p:cNvPr>
          <p:cNvGrpSpPr/>
          <p:nvPr/>
        </p:nvGrpSpPr>
        <p:grpSpPr>
          <a:xfrm>
            <a:off x="5490691" y="2674532"/>
            <a:ext cx="1779654" cy="462707"/>
            <a:chOff x="7469155" y="2340667"/>
            <a:chExt cx="1779654" cy="46270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453B8A1-C750-0217-7E51-2D198424E7A2}"/>
                </a:ext>
              </a:extLst>
            </p:cNvPr>
            <p:cNvSpPr txBox="1"/>
            <p:nvPr/>
          </p:nvSpPr>
          <p:spPr>
            <a:xfrm>
              <a:off x="7469155" y="2340667"/>
              <a:ext cx="161133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 err="1"/>
                <a:t>Beta_Joint</a:t>
              </a:r>
              <a:r>
                <a:rPr lang="en-US" altLang="ko-KR" sz="1100" dirty="0"/>
                <a:t>(</a:t>
              </a:r>
              <a:r>
                <a:rPr lang="en-US" altLang="ko-KR" sz="1100" dirty="0" err="1"/>
                <a:t>MeshNode</a:t>
              </a:r>
              <a:r>
                <a:rPr lang="en-US" altLang="ko-KR" sz="1100" dirty="0"/>
                <a:t>)</a:t>
              </a:r>
              <a:endParaRPr lang="ko-KR" altLang="en-US" sz="11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DC610F2-66FE-6982-789F-3BCD5FD065BC}"/>
                </a:ext>
              </a:extLst>
            </p:cNvPr>
            <p:cNvSpPr txBox="1"/>
            <p:nvPr/>
          </p:nvSpPr>
          <p:spPr>
            <a:xfrm>
              <a:off x="7469155" y="2541764"/>
              <a:ext cx="17796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 err="1"/>
                <a:t>Beta_Surface</a:t>
              </a:r>
              <a:r>
                <a:rPr lang="en-US" altLang="ko-KR" sz="1100" dirty="0"/>
                <a:t>(</a:t>
              </a:r>
              <a:r>
                <a:rPr lang="en-US" altLang="ko-KR" sz="1100" dirty="0" err="1"/>
                <a:t>MeshNode</a:t>
              </a:r>
              <a:r>
                <a:rPr lang="en-US" altLang="ko-KR" sz="1100" dirty="0"/>
                <a:t>)</a:t>
              </a:r>
              <a:endParaRPr lang="ko-KR" altLang="en-US" sz="1100" dirty="0"/>
            </a:p>
          </p:txBody>
        </p: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4393390-7338-5865-3E94-3E44789AF72D}"/>
              </a:ext>
            </a:extLst>
          </p:cNvPr>
          <p:cNvCxnSpPr>
            <a:cxnSpLocks/>
          </p:cNvCxnSpPr>
          <p:nvPr/>
        </p:nvCxnSpPr>
        <p:spPr>
          <a:xfrm>
            <a:off x="5676180" y="1827559"/>
            <a:ext cx="0" cy="130618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5F4A55D1-0246-891C-A6AA-BC93324B733F}"/>
              </a:ext>
            </a:extLst>
          </p:cNvPr>
          <p:cNvCxnSpPr>
            <a:cxnSpLocks/>
          </p:cNvCxnSpPr>
          <p:nvPr/>
        </p:nvCxnSpPr>
        <p:spPr>
          <a:xfrm>
            <a:off x="6155886" y="2105284"/>
            <a:ext cx="0" cy="29360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EC22F5F-CFA9-241B-D9DA-9B3CD69BEA7A}"/>
              </a:ext>
            </a:extLst>
          </p:cNvPr>
          <p:cNvSpPr txBox="1"/>
          <p:nvPr/>
        </p:nvSpPr>
        <p:spPr>
          <a:xfrm>
            <a:off x="7694758" y="4346853"/>
            <a:ext cx="25514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>
                <a:solidFill>
                  <a:srgbClr val="FF0000"/>
                </a:solidFill>
              </a:rPr>
              <a:t>mVertexId</a:t>
            </a:r>
            <a:r>
              <a:rPr lang="en-US" altLang="ko-KR" sz="1100" dirty="0">
                <a:solidFill>
                  <a:srgbClr val="FF0000"/>
                </a:solidFill>
              </a:rPr>
              <a:t> : Mesh</a:t>
            </a:r>
            <a:r>
              <a:rPr lang="ko-KR" altLang="en-US" sz="1100" dirty="0">
                <a:solidFill>
                  <a:srgbClr val="FF0000"/>
                </a:solidFill>
              </a:rPr>
              <a:t>의 </a:t>
            </a:r>
            <a:r>
              <a:rPr lang="en-US" altLang="ko-KR" sz="1100" dirty="0" err="1">
                <a:solidFill>
                  <a:srgbClr val="FF0000"/>
                </a:solidFill>
              </a:rPr>
              <a:t>VertexIndex</a:t>
            </a:r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en-US" altLang="ko-KR" sz="1100" dirty="0" err="1">
                <a:solidFill>
                  <a:srgbClr val="FF0000"/>
                </a:solidFill>
              </a:rPr>
              <a:t>mWeight</a:t>
            </a:r>
            <a:r>
              <a:rPr lang="en-US" altLang="ko-KR" sz="1100" dirty="0">
                <a:solidFill>
                  <a:srgbClr val="FF0000"/>
                </a:solidFill>
              </a:rPr>
              <a:t>: bone</a:t>
            </a:r>
            <a:r>
              <a:rPr lang="ko-KR" altLang="en-US" sz="1100" dirty="0">
                <a:solidFill>
                  <a:srgbClr val="FF0000"/>
                </a:solidFill>
              </a:rPr>
              <a:t>에 대한 가중치 값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18F4EAA-EC4B-7A8C-A852-3BA77E6D8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6013" y="1837811"/>
            <a:ext cx="2162174" cy="51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D9B00D3E-3884-D9D1-4FDB-9FD2E0E4A41B}"/>
              </a:ext>
            </a:extLst>
          </p:cNvPr>
          <p:cNvCxnSpPr>
            <a:cxnSpLocks/>
          </p:cNvCxnSpPr>
          <p:nvPr/>
        </p:nvCxnSpPr>
        <p:spPr>
          <a:xfrm flipH="1">
            <a:off x="5283200" y="4000965"/>
            <a:ext cx="599856" cy="1993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3" name="잉크 42">
                <a:extLst>
                  <a:ext uri="{FF2B5EF4-FFF2-40B4-BE49-F238E27FC236}">
                    <a16:creationId xmlns:a16="http://schemas.microsoft.com/office/drawing/2014/main" id="{C9A10EDF-90F0-19FE-6D17-A15EBC6E49D1}"/>
                  </a:ext>
                </a:extLst>
              </p14:cNvPr>
              <p14:cNvContentPartPr/>
              <p14:nvPr/>
            </p14:nvContentPartPr>
            <p14:xfrm>
              <a:off x="5556010" y="3949210"/>
              <a:ext cx="965880" cy="80280"/>
            </p14:xfrm>
          </p:contentPart>
        </mc:Choice>
        <mc:Fallback xmlns="">
          <p:pic>
            <p:nvPicPr>
              <p:cNvPr id="43" name="잉크 42">
                <a:extLst>
                  <a:ext uri="{FF2B5EF4-FFF2-40B4-BE49-F238E27FC236}">
                    <a16:creationId xmlns:a16="http://schemas.microsoft.com/office/drawing/2014/main" id="{C9A10EDF-90F0-19FE-6D17-A15EBC6E49D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51690" y="3944890"/>
                <a:ext cx="974520" cy="88920"/>
              </a:xfrm>
              <a:prstGeom prst="rect">
                <a:avLst/>
              </a:prstGeom>
            </p:spPr>
          </p:pic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E11BBE52-4E9B-968B-AD01-49F48B854540}"/>
              </a:ext>
            </a:extLst>
          </p:cNvPr>
          <p:cNvSpPr txBox="1"/>
          <p:nvPr/>
        </p:nvSpPr>
        <p:spPr>
          <a:xfrm>
            <a:off x="3544799" y="6051426"/>
            <a:ext cx="84219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(inverse bind pose matrix) </a:t>
            </a:r>
            <a:r>
              <a:rPr lang="en-US" altLang="ko-KR" sz="1100" b="1" dirty="0" err="1">
                <a:solidFill>
                  <a:srgbClr val="FF0000"/>
                </a:solidFill>
              </a:rPr>
              <a:t>OffsetMatrix</a:t>
            </a:r>
            <a:r>
              <a:rPr lang="en-US" altLang="ko-KR" sz="1100" b="1" dirty="0">
                <a:solidFill>
                  <a:srgbClr val="FF0000"/>
                </a:solidFill>
              </a:rPr>
              <a:t> =  </a:t>
            </a:r>
            <a:r>
              <a:rPr lang="en-US" altLang="ko-KR" sz="1100" b="1" dirty="0" err="1">
                <a:solidFill>
                  <a:srgbClr val="FF0000"/>
                </a:solidFill>
              </a:rPr>
              <a:t>MeshGlobalTransform</a:t>
            </a:r>
            <a:r>
              <a:rPr lang="en-US" altLang="ko-KR" sz="1100" b="1" dirty="0">
                <a:solidFill>
                  <a:srgbClr val="FF0000"/>
                </a:solidFill>
              </a:rPr>
              <a:t> * </a:t>
            </a:r>
            <a:r>
              <a:rPr lang="en-US" altLang="ko-KR" sz="1100" b="1" dirty="0" err="1">
                <a:solidFill>
                  <a:srgbClr val="FF0000"/>
                </a:solidFill>
              </a:rPr>
              <a:t>InverseGlobalBoneTransform</a:t>
            </a:r>
            <a:endParaRPr lang="en-US" altLang="ko-KR" sz="1100" b="1" dirty="0">
              <a:solidFill>
                <a:srgbClr val="FF0000"/>
              </a:solidFill>
            </a:endParaRPr>
          </a:p>
          <a:p>
            <a:r>
              <a:rPr lang="ko-KR" altLang="en-US" sz="1100" b="1" dirty="0">
                <a:solidFill>
                  <a:srgbClr val="FF0000"/>
                </a:solidFill>
              </a:rPr>
              <a:t>기본 본의 포즈 기준으로 본 기준에서 메시의 상대적인  변환</a:t>
            </a:r>
            <a:r>
              <a:rPr lang="en-US" altLang="ko-KR" sz="1100" b="1" dirty="0">
                <a:solidFill>
                  <a:srgbClr val="FF0000"/>
                </a:solidFill>
              </a:rPr>
              <a:t>(</a:t>
            </a:r>
            <a:r>
              <a:rPr lang="ko-KR" altLang="en-US" sz="1100" b="1" dirty="0">
                <a:solidFill>
                  <a:srgbClr val="FF0000"/>
                </a:solidFill>
              </a:rPr>
              <a:t>회전</a:t>
            </a:r>
            <a:r>
              <a:rPr lang="en-US" altLang="ko-KR" sz="1100" b="1" dirty="0">
                <a:solidFill>
                  <a:srgbClr val="FF0000"/>
                </a:solidFill>
              </a:rPr>
              <a:t>,</a:t>
            </a:r>
            <a:r>
              <a:rPr lang="ko-KR" altLang="en-US" sz="1100" b="1" dirty="0">
                <a:solidFill>
                  <a:srgbClr val="FF0000"/>
                </a:solidFill>
              </a:rPr>
              <a:t>위치</a:t>
            </a:r>
            <a:r>
              <a:rPr lang="en-US" altLang="ko-KR" sz="1100" b="1" dirty="0">
                <a:solidFill>
                  <a:srgbClr val="FF0000"/>
                </a:solidFill>
              </a:rPr>
              <a:t>)</a:t>
            </a:r>
            <a:r>
              <a:rPr lang="ko-KR" altLang="en-US" sz="1100" b="1" dirty="0">
                <a:solidFill>
                  <a:srgbClr val="FF0000"/>
                </a:solidFill>
              </a:rPr>
              <a:t>을 하는 행렬을 의미한다</a:t>
            </a:r>
            <a:r>
              <a:rPr lang="en-US" altLang="ko-KR" sz="1100" b="1" dirty="0">
                <a:solidFill>
                  <a:srgbClr val="FF0000"/>
                </a:solidFill>
              </a:rPr>
              <a:t>.</a:t>
            </a:r>
            <a:r>
              <a:rPr lang="ko-KR" altLang="en-US" sz="1100" b="1" dirty="0">
                <a:solidFill>
                  <a:srgbClr val="FF0000"/>
                </a:solidFill>
              </a:rPr>
              <a:t>  </a:t>
            </a:r>
            <a:endParaRPr lang="en-US" altLang="ko-KR" sz="1100" dirty="0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F95EAC9-A6F4-A1BC-C0A5-04B30C0D4D11}"/>
              </a:ext>
            </a:extLst>
          </p:cNvPr>
          <p:cNvSpPr txBox="1"/>
          <p:nvPr/>
        </p:nvSpPr>
        <p:spPr>
          <a:xfrm>
            <a:off x="5330262" y="1353133"/>
            <a:ext cx="19768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메모리에 생성되는 계층구조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D58FA3F-51DC-B149-CA27-C53977458840}"/>
              </a:ext>
            </a:extLst>
          </p:cNvPr>
          <p:cNvCxnSpPr>
            <a:cxnSpLocks/>
          </p:cNvCxnSpPr>
          <p:nvPr/>
        </p:nvCxnSpPr>
        <p:spPr>
          <a:xfrm>
            <a:off x="10905650" y="4668362"/>
            <a:ext cx="32115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1BD7B38-8712-1B93-1623-FD214FD36814}"/>
              </a:ext>
            </a:extLst>
          </p:cNvPr>
          <p:cNvCxnSpPr>
            <a:cxnSpLocks/>
          </p:cNvCxnSpPr>
          <p:nvPr/>
        </p:nvCxnSpPr>
        <p:spPr>
          <a:xfrm flipV="1">
            <a:off x="10905650" y="4346853"/>
            <a:ext cx="0" cy="3215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559A5314-6BC2-4206-C80C-82A6481F4FD0}"/>
              </a:ext>
            </a:extLst>
          </p:cNvPr>
          <p:cNvCxnSpPr>
            <a:cxnSpLocks/>
          </p:cNvCxnSpPr>
          <p:nvPr/>
        </p:nvCxnSpPr>
        <p:spPr>
          <a:xfrm flipV="1">
            <a:off x="10918350" y="4453663"/>
            <a:ext cx="237943" cy="2146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2EDC81F1-5D5D-3286-FF18-1721D1669DFA}"/>
              </a:ext>
            </a:extLst>
          </p:cNvPr>
          <p:cNvCxnSpPr>
            <a:cxnSpLocks/>
          </p:cNvCxnSpPr>
          <p:nvPr/>
        </p:nvCxnSpPr>
        <p:spPr>
          <a:xfrm>
            <a:off x="10766537" y="5741634"/>
            <a:ext cx="32115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700D123A-269F-C150-37D4-31817C91E974}"/>
              </a:ext>
            </a:extLst>
          </p:cNvPr>
          <p:cNvCxnSpPr>
            <a:cxnSpLocks/>
          </p:cNvCxnSpPr>
          <p:nvPr/>
        </p:nvCxnSpPr>
        <p:spPr>
          <a:xfrm flipV="1">
            <a:off x="10766537" y="5420125"/>
            <a:ext cx="0" cy="32150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7F386653-2419-0E5E-1893-AD1856551748}"/>
              </a:ext>
            </a:extLst>
          </p:cNvPr>
          <p:cNvCxnSpPr>
            <a:cxnSpLocks/>
          </p:cNvCxnSpPr>
          <p:nvPr/>
        </p:nvCxnSpPr>
        <p:spPr>
          <a:xfrm flipV="1">
            <a:off x="10779237" y="5526935"/>
            <a:ext cx="237943" cy="21469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C27519A-6E06-DFD6-0B75-732E62B938C4}"/>
              </a:ext>
            </a:extLst>
          </p:cNvPr>
          <p:cNvSpPr txBox="1"/>
          <p:nvPr/>
        </p:nvSpPr>
        <p:spPr>
          <a:xfrm>
            <a:off x="10496429" y="5836741"/>
            <a:ext cx="12643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Mesh</a:t>
            </a:r>
          </a:p>
          <a:p>
            <a:r>
              <a:rPr lang="en-US" altLang="ko-KR" sz="11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GlobalTransform</a:t>
            </a:r>
            <a:endParaRPr lang="ko-KR" altLang="en-US" sz="11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7B66B1-8C97-380F-DDD7-E61221F50EFE}"/>
              </a:ext>
            </a:extLst>
          </p:cNvPr>
          <p:cNvSpPr txBox="1"/>
          <p:nvPr/>
        </p:nvSpPr>
        <p:spPr>
          <a:xfrm>
            <a:off x="10879969" y="4038165"/>
            <a:ext cx="133472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Bone</a:t>
            </a:r>
          </a:p>
          <a:p>
            <a:r>
              <a:rPr lang="en-US" altLang="ko-KR" sz="1100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GlobalTransform</a:t>
            </a:r>
            <a:endParaRPr lang="ko-KR" altLang="en-US" sz="11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051E7B39-C17F-2618-A9E9-61441103BE76}"/>
              </a:ext>
            </a:extLst>
          </p:cNvPr>
          <p:cNvCxnSpPr>
            <a:cxnSpLocks/>
          </p:cNvCxnSpPr>
          <p:nvPr/>
        </p:nvCxnSpPr>
        <p:spPr>
          <a:xfrm>
            <a:off x="10905650" y="3811878"/>
            <a:ext cx="32115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58005E19-B39A-938F-66FF-B201CECAEA37}"/>
              </a:ext>
            </a:extLst>
          </p:cNvPr>
          <p:cNvCxnSpPr>
            <a:cxnSpLocks/>
          </p:cNvCxnSpPr>
          <p:nvPr/>
        </p:nvCxnSpPr>
        <p:spPr>
          <a:xfrm flipV="1">
            <a:off x="10905650" y="3490369"/>
            <a:ext cx="0" cy="3215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2C96B6F7-2BEF-29C0-1813-4FA92CBD4E81}"/>
              </a:ext>
            </a:extLst>
          </p:cNvPr>
          <p:cNvCxnSpPr>
            <a:cxnSpLocks/>
          </p:cNvCxnSpPr>
          <p:nvPr/>
        </p:nvCxnSpPr>
        <p:spPr>
          <a:xfrm flipV="1">
            <a:off x="10918350" y="3597179"/>
            <a:ext cx="237943" cy="2146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FD14C29-408E-3901-E327-B3D85C974506}"/>
              </a:ext>
            </a:extLst>
          </p:cNvPr>
          <p:cNvSpPr txBox="1"/>
          <p:nvPr/>
        </p:nvSpPr>
        <p:spPr>
          <a:xfrm>
            <a:off x="11017180" y="3192534"/>
            <a:ext cx="12794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Bone</a:t>
            </a:r>
          </a:p>
          <a:p>
            <a:r>
              <a:rPr lang="en-US" altLang="ko-KR" sz="1100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GlobalTransform</a:t>
            </a:r>
            <a:endParaRPr lang="ko-KR" altLang="en-US" sz="11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07B58E98-7515-4DB7-A91C-B61CCB28BAAE}"/>
              </a:ext>
            </a:extLst>
          </p:cNvPr>
          <p:cNvCxnSpPr>
            <a:cxnSpLocks/>
          </p:cNvCxnSpPr>
          <p:nvPr/>
        </p:nvCxnSpPr>
        <p:spPr>
          <a:xfrm flipH="1" flipV="1">
            <a:off x="3798976" y="2059123"/>
            <a:ext cx="1851085" cy="1752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CAC32B6-7FCD-43E6-B05B-3D30DC767D8B}"/>
              </a:ext>
            </a:extLst>
          </p:cNvPr>
          <p:cNvSpPr/>
          <p:nvPr/>
        </p:nvSpPr>
        <p:spPr>
          <a:xfrm>
            <a:off x="10691443" y="3148244"/>
            <a:ext cx="51328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/>
              <a:t>Spine1</a:t>
            </a:r>
            <a:endParaRPr lang="ko-KR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3254286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ADEC53-FB25-4F64-8F66-7C2977757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SkeletonResource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7C60D9-7BA8-42B7-AB93-A7F76CB5AA22}"/>
              </a:ext>
            </a:extLst>
          </p:cNvPr>
          <p:cNvSpPr txBox="1"/>
          <p:nvPr/>
        </p:nvSpPr>
        <p:spPr>
          <a:xfrm>
            <a:off x="214421" y="1478279"/>
            <a:ext cx="116745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aiNode</a:t>
            </a:r>
            <a:r>
              <a:rPr lang="ko-KR" altLang="en-US" dirty="0"/>
              <a:t>을 순회하여 캐릭터의 전체 본 이름과 해당 본의 </a:t>
            </a:r>
            <a:r>
              <a:rPr lang="en-US" altLang="ko-KR" dirty="0" err="1"/>
              <a:t>RelativeMatrix</a:t>
            </a:r>
            <a:r>
              <a:rPr lang="en-US" altLang="ko-KR" dirty="0"/>
              <a:t> </a:t>
            </a:r>
            <a:r>
              <a:rPr lang="ko-KR" altLang="en-US" dirty="0"/>
              <a:t>정보를 수집하고 본에 번호를 부여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</a:t>
            </a:r>
            <a:r>
              <a:rPr lang="en-US" altLang="ko-KR" dirty="0"/>
              <a:t>map</a:t>
            </a:r>
            <a:r>
              <a:rPr lang="ko-KR" altLang="en-US" dirty="0"/>
              <a:t>컨테이너를 두어 본 이름으로 번호를 얻거나  </a:t>
            </a:r>
            <a:r>
              <a:rPr lang="en-US" altLang="ko-KR" dirty="0"/>
              <a:t>  </a:t>
            </a:r>
            <a:r>
              <a:rPr lang="ko-KR" altLang="en-US" dirty="0"/>
              <a:t>번호로 본 정보를 얻는데 활용한다</a:t>
            </a:r>
            <a:r>
              <a:rPr lang="en-US" altLang="ko-KR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5BAA85-2475-4FF1-9879-659B2A6EEFB5}"/>
              </a:ext>
            </a:extLst>
          </p:cNvPr>
          <p:cNvSpPr txBox="1"/>
          <p:nvPr/>
        </p:nvSpPr>
        <p:spPr>
          <a:xfrm>
            <a:off x="487680" y="2743200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BoneInfo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2F1BF8-CEB4-482C-8EE1-E059728D2A83}"/>
              </a:ext>
            </a:extLst>
          </p:cNvPr>
          <p:cNvSpPr txBox="1"/>
          <p:nvPr/>
        </p:nvSpPr>
        <p:spPr>
          <a:xfrm>
            <a:off x="5846405" y="2803842"/>
            <a:ext cx="3273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BoneInfo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모은 </a:t>
            </a:r>
            <a:r>
              <a:rPr lang="en-US" altLang="ko-KR" dirty="0" err="1"/>
              <a:t>SkeletonInfo</a:t>
            </a:r>
            <a:endParaRPr lang="ko-KR" altLang="en-US" dirty="0"/>
          </a:p>
        </p:txBody>
      </p:sp>
      <p:pic>
        <p:nvPicPr>
          <p:cNvPr id="11" name="그림 10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98790D-1D91-BD81-3AEA-AE5186AFB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68" y="3173174"/>
            <a:ext cx="4565044" cy="1815543"/>
          </a:xfrm>
          <a:prstGeom prst="rect">
            <a:avLst/>
          </a:prstGeom>
        </p:spPr>
      </p:pic>
      <p:pic>
        <p:nvPicPr>
          <p:cNvPr id="13" name="그림 1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150835-F8AA-1EBB-1198-EFC327CA0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831" y="3173174"/>
            <a:ext cx="5785085" cy="358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483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6533F-59EA-9517-B49A-E8254DD8F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Vertex Layout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EB6160-72F3-4E67-3A5D-6E97C63A1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833" y="2282711"/>
            <a:ext cx="4010025" cy="23526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960047-8694-6088-C0FC-F12C9052ADB0}"/>
              </a:ext>
            </a:extLst>
          </p:cNvPr>
          <p:cNvSpPr txBox="1"/>
          <p:nvPr/>
        </p:nvSpPr>
        <p:spPr>
          <a:xfrm>
            <a:off x="894664" y="1690688"/>
            <a:ext cx="7656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추가할것은</a:t>
            </a:r>
            <a:r>
              <a:rPr lang="ko-KR" altLang="en-US" dirty="0"/>
              <a:t> </a:t>
            </a:r>
            <a:r>
              <a:rPr lang="en-US" altLang="ko-KR" dirty="0"/>
              <a:t>Vertex</a:t>
            </a:r>
            <a:r>
              <a:rPr lang="ko-KR" altLang="en-US" dirty="0"/>
              <a:t>가 참조할 </a:t>
            </a:r>
            <a:r>
              <a:rPr lang="en-US" altLang="ko-KR" dirty="0"/>
              <a:t>Matrix </a:t>
            </a:r>
            <a:r>
              <a:rPr lang="en-US" altLang="ko-KR" dirty="0" err="1"/>
              <a:t>Pallete</a:t>
            </a:r>
            <a:r>
              <a:rPr lang="ko-KR" altLang="en-US" dirty="0"/>
              <a:t>의</a:t>
            </a:r>
            <a:r>
              <a:rPr lang="en-US" altLang="ko-KR" dirty="0"/>
              <a:t> Index</a:t>
            </a:r>
            <a:r>
              <a:rPr lang="ko-KR" altLang="en-US" dirty="0"/>
              <a:t>와 </a:t>
            </a:r>
            <a:r>
              <a:rPr lang="ko-KR" altLang="en-US" dirty="0" err="1"/>
              <a:t>가충치</a:t>
            </a:r>
            <a:r>
              <a:rPr lang="ko-KR" altLang="en-US" dirty="0"/>
              <a:t> 값이다</a:t>
            </a:r>
            <a:r>
              <a:rPr lang="en-US" altLang="ko-KR" dirty="0"/>
              <a:t>.</a:t>
            </a:r>
            <a:r>
              <a:rPr lang="ko-KR" altLang="en-US" dirty="0"/>
              <a:t> 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921A974-3867-37F4-CB1A-7F95DF69D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42" y="2282711"/>
            <a:ext cx="6431991" cy="434175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46B143D-02FA-4170-2AA5-CE9121185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4600" y="5083837"/>
            <a:ext cx="7008112" cy="1409038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15E1FE47-C541-4D9F-4CD5-1EBE0FA0E8C0}"/>
              </a:ext>
            </a:extLst>
          </p:cNvPr>
          <p:cNvGrpSpPr/>
          <p:nvPr/>
        </p:nvGrpSpPr>
        <p:grpSpPr>
          <a:xfrm>
            <a:off x="1787890" y="3269530"/>
            <a:ext cx="3804120" cy="2961360"/>
            <a:chOff x="1787890" y="3269530"/>
            <a:chExt cx="3804120" cy="296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82791445-8277-8CF7-F41B-FA473BC7958E}"/>
                    </a:ext>
                  </a:extLst>
                </p14:cNvPr>
                <p14:cNvContentPartPr/>
                <p14:nvPr/>
              </p14:nvContentPartPr>
              <p14:xfrm>
                <a:off x="1787890" y="3269530"/>
                <a:ext cx="507240" cy="55944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82791445-8277-8CF7-F41B-FA473BC7958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778890" y="3260530"/>
                  <a:ext cx="52488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27594AB4-CE06-4B5E-3324-94799BE1638B}"/>
                    </a:ext>
                  </a:extLst>
                </p14:cNvPr>
                <p14:cNvContentPartPr/>
                <p14:nvPr/>
              </p14:nvContentPartPr>
              <p14:xfrm>
                <a:off x="2366050" y="4716010"/>
                <a:ext cx="252000" cy="31968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27594AB4-CE06-4B5E-3324-94799BE1638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357410" y="4707370"/>
                  <a:ext cx="26964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5863A0D2-5176-4F57-A44F-625B9652B70F}"/>
                    </a:ext>
                  </a:extLst>
                </p14:cNvPr>
                <p14:cNvContentPartPr/>
                <p14:nvPr/>
              </p14:nvContentPartPr>
              <p14:xfrm>
                <a:off x="2304130" y="3701530"/>
                <a:ext cx="3266280" cy="241236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5863A0D2-5176-4F57-A44F-625B9652B70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295130" y="3692890"/>
                  <a:ext cx="3283920" cy="24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5E50107D-75EB-2474-B306-F80AA7082BDE}"/>
                    </a:ext>
                  </a:extLst>
                </p14:cNvPr>
                <p14:cNvContentPartPr/>
                <p14:nvPr/>
              </p14:nvContentPartPr>
              <p14:xfrm>
                <a:off x="2590330" y="4990690"/>
                <a:ext cx="2958840" cy="113112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5E50107D-75EB-2474-B306-F80AA7082BD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81690" y="4982050"/>
                  <a:ext cx="2976480" cy="11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1FB430A3-7C97-AAB1-2B66-A2733BF9E101}"/>
                    </a:ext>
                  </a:extLst>
                </p14:cNvPr>
                <p14:cNvContentPartPr/>
                <p14:nvPr/>
              </p14:nvContentPartPr>
              <p14:xfrm>
                <a:off x="5397250" y="5937130"/>
                <a:ext cx="194760" cy="29376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1FB430A3-7C97-AAB1-2B66-A2733BF9E10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388610" y="5928130"/>
                  <a:ext cx="212400" cy="311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DB33C04-F577-B9D6-880E-8E202B5656CC}"/>
              </a:ext>
            </a:extLst>
          </p:cNvPr>
          <p:cNvSpPr txBox="1"/>
          <p:nvPr/>
        </p:nvSpPr>
        <p:spPr>
          <a:xfrm>
            <a:off x="4598691" y="2334700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C++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5B9118-E442-EC05-EC0F-1781B159DCEE}"/>
              </a:ext>
            </a:extLst>
          </p:cNvPr>
          <p:cNvSpPr txBox="1"/>
          <p:nvPr/>
        </p:nvSpPr>
        <p:spPr>
          <a:xfrm>
            <a:off x="10193041" y="2341271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HLSL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510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85550C4-228E-4269-BB2D-C5E551CAD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37" y="2020968"/>
            <a:ext cx="6581085" cy="470154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3557C7F-E18C-B5F2-B9E4-6932826D8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Vertex Data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F10755-AD37-0563-A4E2-E23B68D4FC05}"/>
              </a:ext>
            </a:extLst>
          </p:cNvPr>
          <p:cNvSpPr txBox="1"/>
          <p:nvPr/>
        </p:nvSpPr>
        <p:spPr>
          <a:xfrm>
            <a:off x="158320" y="1651636"/>
            <a:ext cx="10540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Bone</a:t>
            </a:r>
            <a:r>
              <a:rPr lang="ko-KR" altLang="en-US" dirty="0"/>
              <a:t>이 </a:t>
            </a:r>
            <a:r>
              <a:rPr lang="en-US" altLang="ko-KR" dirty="0" err="1"/>
              <a:t>MatrixPalette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사용할 </a:t>
            </a:r>
            <a:r>
              <a:rPr lang="en-US" altLang="ko-KR" dirty="0"/>
              <a:t>Index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결정하고 </a:t>
            </a:r>
            <a:r>
              <a:rPr lang="en-US" altLang="ko-KR" dirty="0"/>
              <a:t>, </a:t>
            </a:r>
            <a:r>
              <a:rPr lang="ko-KR" altLang="en-US" dirty="0"/>
              <a:t>영향을 주는 </a:t>
            </a:r>
            <a:r>
              <a:rPr lang="en-US" altLang="ko-KR" dirty="0"/>
              <a:t>Vertex</a:t>
            </a:r>
            <a:r>
              <a:rPr lang="ko-KR" altLang="en-US" dirty="0"/>
              <a:t>에 </a:t>
            </a:r>
            <a:r>
              <a:rPr lang="en-US" altLang="ko-KR" dirty="0"/>
              <a:t>Index</a:t>
            </a:r>
            <a:r>
              <a:rPr lang="ko-KR" altLang="en-US" dirty="0"/>
              <a:t>와 가중치를 설정한다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EB352647-D981-4BDA-BF10-7C04818205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777" t="27729" b="43791"/>
          <a:stretch/>
        </p:blipFill>
        <p:spPr>
          <a:xfrm>
            <a:off x="5197955" y="2336638"/>
            <a:ext cx="6822408" cy="215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88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그림 33" descr="텍스트, 스크린샷, 흑백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F85CA7-F6B6-07DF-A1DC-8C39ECDB0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240" y="3475019"/>
            <a:ext cx="2539695" cy="3151852"/>
          </a:xfrm>
          <a:prstGeom prst="rect">
            <a:avLst/>
          </a:prstGeom>
        </p:spPr>
      </p:pic>
      <p:pic>
        <p:nvPicPr>
          <p:cNvPr id="43" name="그림 42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E6873F-56AA-47B6-CBF9-E0D2199E4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412" y="5489757"/>
            <a:ext cx="3991505" cy="116544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EE1D92F-5943-ED7D-7A45-85AE793A8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9743"/>
            <a:ext cx="10515600" cy="1325563"/>
          </a:xfrm>
        </p:spPr>
        <p:txBody>
          <a:bodyPr/>
          <a:lstStyle/>
          <a:p>
            <a:r>
              <a:rPr lang="en-US" altLang="ko-KR" dirty="0"/>
              <a:t>Matrix Palette Update</a:t>
            </a:r>
            <a:endParaRPr lang="ko-KR" altLang="en-US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810DC87-BBEF-CACA-CFB3-3E9F47402EF2}"/>
              </a:ext>
            </a:extLst>
          </p:cNvPr>
          <p:cNvGrpSpPr/>
          <p:nvPr/>
        </p:nvGrpSpPr>
        <p:grpSpPr>
          <a:xfrm>
            <a:off x="352772" y="2627782"/>
            <a:ext cx="2318347" cy="4230218"/>
            <a:chOff x="977859" y="2262657"/>
            <a:chExt cx="2318347" cy="4230218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E01C8A48-4101-C0EE-ED6E-F09CCCE1F041}"/>
                </a:ext>
              </a:extLst>
            </p:cNvPr>
            <p:cNvGrpSpPr/>
            <p:nvPr/>
          </p:nvGrpSpPr>
          <p:grpSpPr>
            <a:xfrm>
              <a:off x="977859" y="2262657"/>
              <a:ext cx="1927627" cy="4230218"/>
              <a:chOff x="977859" y="2262657"/>
              <a:chExt cx="1927627" cy="4230218"/>
            </a:xfrm>
          </p:grpSpPr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ECE536AE-B423-4E3B-320C-DEF5681A72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7859" y="2262657"/>
                <a:ext cx="1693082" cy="3999089"/>
              </a:xfrm>
              <a:prstGeom prst="rect">
                <a:avLst/>
              </a:prstGeom>
            </p:spPr>
          </p:pic>
          <p:cxnSp>
            <p:nvCxnSpPr>
              <p:cNvPr id="4" name="직선 화살표 연결선 3">
                <a:extLst>
                  <a:ext uri="{FF2B5EF4-FFF2-40B4-BE49-F238E27FC236}">
                    <a16:creationId xmlns:a16="http://schemas.microsoft.com/office/drawing/2014/main" id="{95434172-739B-FF85-D81F-D54D306DAC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02950" y="5049859"/>
                <a:ext cx="321150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직선 화살표 연결선 4">
                <a:extLst>
                  <a:ext uri="{FF2B5EF4-FFF2-40B4-BE49-F238E27FC236}">
                    <a16:creationId xmlns:a16="http://schemas.microsoft.com/office/drawing/2014/main" id="{8B16CBE8-81B6-8DE9-5C83-995F0AD40E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02950" y="4728350"/>
                <a:ext cx="0" cy="321509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직선 화살표 연결선 5">
                <a:extLst>
                  <a:ext uri="{FF2B5EF4-FFF2-40B4-BE49-F238E27FC236}">
                    <a16:creationId xmlns:a16="http://schemas.microsoft.com/office/drawing/2014/main" id="{A437AC54-1513-5E46-D9CC-1381B5F8F9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5650" y="4835160"/>
                <a:ext cx="237943" cy="214699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화살표 연결선 6">
                <a:extLst>
                  <a:ext uri="{FF2B5EF4-FFF2-40B4-BE49-F238E27FC236}">
                    <a16:creationId xmlns:a16="http://schemas.microsoft.com/office/drawing/2014/main" id="{C37502E9-ABAB-4348-5CE7-B9523957BA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63837" y="6123131"/>
                <a:ext cx="321150" cy="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직선 화살표 연결선 7">
                <a:extLst>
                  <a:ext uri="{FF2B5EF4-FFF2-40B4-BE49-F238E27FC236}">
                    <a16:creationId xmlns:a16="http://schemas.microsoft.com/office/drawing/2014/main" id="{17688ECB-8AD0-921B-5A37-05DAE669C3F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3837" y="5801622"/>
                <a:ext cx="0" cy="321509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직선 화살표 연결선 8">
                <a:extLst>
                  <a:ext uri="{FF2B5EF4-FFF2-40B4-BE49-F238E27FC236}">
                    <a16:creationId xmlns:a16="http://schemas.microsoft.com/office/drawing/2014/main" id="{EF6163A3-D5F1-0939-B379-7B9242507F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76537" y="5908432"/>
                <a:ext cx="237943" cy="214699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865B87-53CA-09E7-1D4F-E07454DCBF6E}"/>
                  </a:ext>
                </a:extLst>
              </p:cNvPr>
              <p:cNvSpPr txBox="1"/>
              <p:nvPr/>
            </p:nvSpPr>
            <p:spPr>
              <a:xfrm>
                <a:off x="1850355" y="6215876"/>
                <a:ext cx="105513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dirty="0" err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MeshGloba</a:t>
                </a:r>
                <a:r>
                  <a:rPr lang="en-US" altLang="ko-KR" sz="1200" dirty="0" err="1">
                    <a:solidFill>
                      <a:srgbClr val="FF0000"/>
                    </a:solidFill>
                  </a:rPr>
                  <a:t>l</a:t>
                </a:r>
                <a:endParaRPr lang="ko-KR" altLang="en-US" sz="1200" dirty="0"/>
              </a:p>
            </p:txBody>
          </p:sp>
          <p:cxnSp>
            <p:nvCxnSpPr>
              <p:cNvPr id="12" name="직선 화살표 연결선 11">
                <a:extLst>
                  <a:ext uri="{FF2B5EF4-FFF2-40B4-BE49-F238E27FC236}">
                    <a16:creationId xmlns:a16="http://schemas.microsoft.com/office/drawing/2014/main" id="{C1D3429A-C2FB-6829-8518-65C95EB2BA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02950" y="4193375"/>
                <a:ext cx="321150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화살표 연결선 12">
                <a:extLst>
                  <a:ext uri="{FF2B5EF4-FFF2-40B4-BE49-F238E27FC236}">
                    <a16:creationId xmlns:a16="http://schemas.microsoft.com/office/drawing/2014/main" id="{4F8F1240-ADC0-72BB-5250-31AA4E1C5F4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02950" y="3871866"/>
                <a:ext cx="0" cy="321509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직선 화살표 연결선 13">
                <a:extLst>
                  <a:ext uri="{FF2B5EF4-FFF2-40B4-BE49-F238E27FC236}">
                    <a16:creationId xmlns:a16="http://schemas.microsoft.com/office/drawing/2014/main" id="{329E2800-A900-E461-38BF-ED47F62B6D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5650" y="3978676"/>
                <a:ext cx="237943" cy="214699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EFEC863-37A1-7D2A-DB3E-3704835F03CE}"/>
                </a:ext>
              </a:extLst>
            </p:cNvPr>
            <p:cNvSpPr txBox="1"/>
            <p:nvPr/>
          </p:nvSpPr>
          <p:spPr>
            <a:xfrm>
              <a:off x="2241075" y="4750605"/>
              <a:ext cx="105513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 err="1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BoneGlobal</a:t>
              </a:r>
              <a:endParaRPr lang="ko-KR" altLang="en-US" sz="12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2B9A69C-7EB6-5FB3-6B22-61D87AD2BF3F}"/>
                </a:ext>
              </a:extLst>
            </p:cNvPr>
            <p:cNvSpPr txBox="1"/>
            <p:nvPr/>
          </p:nvSpPr>
          <p:spPr>
            <a:xfrm>
              <a:off x="2241075" y="3894121"/>
              <a:ext cx="105513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 err="1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BoneGlobal</a:t>
              </a:r>
              <a:endParaRPr lang="ko-KR" altLang="en-US" sz="12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E3EC63AA-08C1-9077-88DD-1AB72CAD7528}"/>
              </a:ext>
            </a:extLst>
          </p:cNvPr>
          <p:cNvCxnSpPr>
            <a:cxnSpLocks/>
          </p:cNvCxnSpPr>
          <p:nvPr/>
        </p:nvCxnSpPr>
        <p:spPr>
          <a:xfrm flipH="1" flipV="1">
            <a:off x="7664450" y="5200285"/>
            <a:ext cx="1755321" cy="1114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589EF73-D7D7-664F-29C6-172BEBB2D197}"/>
              </a:ext>
            </a:extLst>
          </p:cNvPr>
          <p:cNvSpPr txBox="1"/>
          <p:nvPr/>
        </p:nvSpPr>
        <p:spPr>
          <a:xfrm>
            <a:off x="7291448" y="3373786"/>
            <a:ext cx="3122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Shader model 5.0 </a:t>
            </a:r>
            <a:r>
              <a:rPr lang="ko-KR" altLang="en-US" dirty="0">
                <a:solidFill>
                  <a:srgbClr val="FF0000"/>
                </a:solidFill>
              </a:rPr>
              <a:t>이상 사용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E96BE2-8EAF-C194-7910-367B9CA9DCBE}"/>
              </a:ext>
            </a:extLst>
          </p:cNvPr>
          <p:cNvSpPr txBox="1"/>
          <p:nvPr/>
        </p:nvSpPr>
        <p:spPr>
          <a:xfrm>
            <a:off x="341163" y="1542038"/>
            <a:ext cx="117779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 Vertex Skinning </a:t>
            </a:r>
            <a:r>
              <a:rPr lang="ko-KR" altLang="en-US" dirty="0"/>
              <a:t>이란 결국</a:t>
            </a:r>
            <a:r>
              <a:rPr lang="en-US" altLang="ko-KR" dirty="0"/>
              <a:t> </a:t>
            </a:r>
            <a:r>
              <a:rPr lang="en-US" altLang="ko-KR" dirty="0" err="1"/>
              <a:t>VertexShader</a:t>
            </a:r>
            <a:r>
              <a:rPr lang="ko-KR" altLang="en-US" dirty="0"/>
              <a:t>에서 </a:t>
            </a:r>
            <a:r>
              <a:rPr lang="en-US" altLang="ko-KR" dirty="0"/>
              <a:t>vertex</a:t>
            </a:r>
            <a:r>
              <a:rPr lang="ko-KR" altLang="en-US" dirty="0"/>
              <a:t>에 영향을 주는 </a:t>
            </a:r>
            <a:r>
              <a:rPr lang="en-US" altLang="ko-KR" dirty="0"/>
              <a:t>Bone</a:t>
            </a:r>
            <a:r>
              <a:rPr lang="ko-KR" altLang="en-US" dirty="0"/>
              <a:t>의 가중치에 따라 위치를 결정하므로</a:t>
            </a:r>
            <a:endParaRPr lang="en-US" altLang="ko-KR" dirty="0"/>
          </a:p>
          <a:p>
            <a:r>
              <a:rPr lang="ko-KR" altLang="en-US" dirty="0"/>
              <a:t>① </a:t>
            </a:r>
            <a:r>
              <a:rPr lang="en-US" altLang="ko-KR" dirty="0"/>
              <a:t>Animation Update</a:t>
            </a:r>
            <a:r>
              <a:rPr lang="ko-KR" altLang="en-US" dirty="0"/>
              <a:t> 이후 스켈레톤 </a:t>
            </a:r>
            <a:r>
              <a:rPr lang="en-US" altLang="ko-KR" dirty="0"/>
              <a:t>Pose, </a:t>
            </a:r>
            <a:r>
              <a:rPr lang="ko-KR" altLang="en-US" dirty="0"/>
              <a:t>즉 </a:t>
            </a:r>
            <a:r>
              <a:rPr lang="en-US" altLang="ko-KR" dirty="0" err="1"/>
              <a:t>BoneGlobal</a:t>
            </a:r>
            <a:r>
              <a:rPr lang="en-US" altLang="ko-KR" dirty="0"/>
              <a:t>(Node)</a:t>
            </a:r>
            <a:r>
              <a:rPr lang="ko-KR" altLang="en-US" dirty="0"/>
              <a:t>의 누적된 행렬</a:t>
            </a:r>
            <a:r>
              <a:rPr lang="en-US" altLang="ko-KR" dirty="0"/>
              <a:t>  (</a:t>
            </a:r>
            <a:r>
              <a:rPr lang="ko-KR" altLang="en-US" dirty="0"/>
              <a:t>실시간 갱신</a:t>
            </a:r>
            <a:r>
              <a:rPr lang="en-US" altLang="ko-KR" dirty="0"/>
              <a:t>:</a:t>
            </a:r>
            <a:r>
              <a:rPr lang="ko-KR" altLang="en-US" dirty="0"/>
              <a:t>인스턴스 데이터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②</a:t>
            </a:r>
            <a:r>
              <a:rPr lang="en-US" altLang="ko-KR" dirty="0"/>
              <a:t> </a:t>
            </a:r>
            <a:r>
              <a:rPr lang="ko-KR" altLang="en-US" dirty="0"/>
              <a:t>모든 </a:t>
            </a:r>
            <a:r>
              <a:rPr lang="en-US" altLang="ko-KR" dirty="0"/>
              <a:t>Bone</a:t>
            </a:r>
            <a:r>
              <a:rPr lang="ko-KR" altLang="en-US" dirty="0"/>
              <a:t>기준에서의 메시의 상대적인  변환</a:t>
            </a:r>
            <a:r>
              <a:rPr lang="en-US" altLang="ko-KR" dirty="0"/>
              <a:t>(</a:t>
            </a:r>
            <a:r>
              <a:rPr lang="ko-KR" altLang="en-US" dirty="0"/>
              <a:t>회전</a:t>
            </a:r>
            <a:r>
              <a:rPr lang="en-US" altLang="ko-KR" dirty="0"/>
              <a:t>,</a:t>
            </a:r>
            <a:r>
              <a:rPr lang="ko-KR" altLang="en-US" dirty="0"/>
              <a:t>위치</a:t>
            </a:r>
            <a:r>
              <a:rPr lang="en-US" altLang="ko-KR" dirty="0"/>
              <a:t>)</a:t>
            </a:r>
            <a:r>
              <a:rPr lang="ko-KR" altLang="en-US" dirty="0"/>
              <a:t>을 하는 행렬 </a:t>
            </a:r>
            <a:r>
              <a:rPr lang="en-US" altLang="ko-KR" dirty="0"/>
              <a:t>(</a:t>
            </a:r>
            <a:r>
              <a:rPr lang="ko-KR" altLang="en-US" dirty="0" err="1"/>
              <a:t>고정값</a:t>
            </a:r>
            <a:r>
              <a:rPr lang="en-US" altLang="ko-KR" dirty="0"/>
              <a:t>: </a:t>
            </a:r>
            <a:r>
              <a:rPr lang="ko-KR" altLang="en-US" dirty="0"/>
              <a:t>리소스 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                           이 두가지를  </a:t>
            </a:r>
            <a:r>
              <a:rPr lang="en-US" altLang="ko-KR" dirty="0" err="1"/>
              <a:t>VertexShader</a:t>
            </a:r>
            <a:r>
              <a:rPr lang="ko-KR" altLang="en-US" dirty="0"/>
              <a:t>에 전달해야 한다</a:t>
            </a:r>
            <a:r>
              <a:rPr lang="en-US" altLang="ko-KR" dirty="0"/>
              <a:t>. 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6CD6EA-54DD-EFA2-9E4D-A2C176FF9A3B}"/>
              </a:ext>
            </a:extLst>
          </p:cNvPr>
          <p:cNvSpPr txBox="1"/>
          <p:nvPr/>
        </p:nvSpPr>
        <p:spPr>
          <a:xfrm>
            <a:off x="2913363" y="2832675"/>
            <a:ext cx="66335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HLSL</a:t>
            </a:r>
            <a:r>
              <a:rPr lang="ko-KR" altLang="en-US" sz="1400" dirty="0"/>
              <a:t>의 상수 버퍼에 넉넉한 본 개수만큼 </a:t>
            </a:r>
            <a:r>
              <a:rPr lang="en-US" altLang="ko-KR" sz="1400" dirty="0"/>
              <a:t>Matrix</a:t>
            </a:r>
            <a:r>
              <a:rPr lang="ko-KR" altLang="en-US" sz="1400" dirty="0"/>
              <a:t>를 선언 하여 매 프레임 갱신한다</a:t>
            </a:r>
            <a:endParaRPr lang="en-US" altLang="ko-KR" sz="1400" dirty="0"/>
          </a:p>
          <a:p>
            <a:r>
              <a:rPr lang="en-US" altLang="ko-KR" sz="1400" dirty="0"/>
              <a:t>Offset * Pose </a:t>
            </a:r>
            <a:r>
              <a:rPr lang="ko-KR" altLang="en-US" sz="1400" dirty="0"/>
              <a:t>미리 곱하여  </a:t>
            </a:r>
            <a:r>
              <a:rPr lang="en-US" altLang="ko-KR" sz="1400" dirty="0"/>
              <a:t> System RAM -&gt; Video RAM </a:t>
            </a:r>
            <a:r>
              <a:rPr lang="ko-KR" altLang="en-US" sz="1400" dirty="0"/>
              <a:t>전달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3E441AED-0DD4-C265-549A-BA6763962D95}"/>
              </a:ext>
            </a:extLst>
          </p:cNvPr>
          <p:cNvCxnSpPr>
            <a:cxnSpLocks/>
          </p:cNvCxnSpPr>
          <p:nvPr/>
        </p:nvCxnSpPr>
        <p:spPr>
          <a:xfrm flipV="1">
            <a:off x="5123442" y="5200285"/>
            <a:ext cx="3205020" cy="925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00F658-5310-4254-70FD-DB5E57F81D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7763" y="3751859"/>
            <a:ext cx="4101399" cy="963452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E2F0373C-FEBD-C2CF-188A-5DAFF3EA89B9}"/>
              </a:ext>
            </a:extLst>
          </p:cNvPr>
          <p:cNvSpPr txBox="1"/>
          <p:nvPr/>
        </p:nvSpPr>
        <p:spPr>
          <a:xfrm>
            <a:off x="7018917" y="4835217"/>
            <a:ext cx="2906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(Offset * Pose).Transpose()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7307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화살표: 아래로 구부러짐 22">
            <a:extLst>
              <a:ext uri="{FF2B5EF4-FFF2-40B4-BE49-F238E27FC236}">
                <a16:creationId xmlns:a16="http://schemas.microsoft.com/office/drawing/2014/main" id="{F0B966AD-F556-583C-B618-1C8C25A600F3}"/>
              </a:ext>
            </a:extLst>
          </p:cNvPr>
          <p:cNvSpPr/>
          <p:nvPr/>
        </p:nvSpPr>
        <p:spPr>
          <a:xfrm>
            <a:off x="3371733" y="1854964"/>
            <a:ext cx="1362019" cy="369332"/>
          </a:xfrm>
          <a:prstGeom prst="curved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화살표: 아래로 구부러짐 18">
            <a:extLst>
              <a:ext uri="{FF2B5EF4-FFF2-40B4-BE49-F238E27FC236}">
                <a16:creationId xmlns:a16="http://schemas.microsoft.com/office/drawing/2014/main" id="{6856EA0B-4D4B-6D7E-B9F6-50E05032B271}"/>
              </a:ext>
            </a:extLst>
          </p:cNvPr>
          <p:cNvSpPr/>
          <p:nvPr/>
        </p:nvSpPr>
        <p:spPr>
          <a:xfrm>
            <a:off x="716607" y="1819859"/>
            <a:ext cx="1362019" cy="369332"/>
          </a:xfrm>
          <a:prstGeom prst="curved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46FE235-FD7D-BB4D-40F8-10EDA1B22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Skinning Vertex Shader</a:t>
            </a:r>
            <a:endParaRPr lang="ko-KR" altLang="en-US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CD49969-39A0-C9ED-5374-99F4771EE3CC}"/>
              </a:ext>
            </a:extLst>
          </p:cNvPr>
          <p:cNvGrpSpPr/>
          <p:nvPr/>
        </p:nvGrpSpPr>
        <p:grpSpPr>
          <a:xfrm>
            <a:off x="223366" y="1611515"/>
            <a:ext cx="5566025" cy="1202710"/>
            <a:chOff x="2416601" y="1643352"/>
            <a:chExt cx="5566025" cy="1202710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0F89F282-2AA2-8B52-02DA-1EFF696AD09B}"/>
                </a:ext>
              </a:extLst>
            </p:cNvPr>
            <p:cNvGrpSpPr/>
            <p:nvPr/>
          </p:nvGrpSpPr>
          <p:grpSpPr>
            <a:xfrm>
              <a:off x="2983780" y="1643352"/>
              <a:ext cx="4998846" cy="1202710"/>
              <a:chOff x="4878644" y="627484"/>
              <a:chExt cx="4998846" cy="1202710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B96897-1827-5E03-CDD8-89153676740D}"/>
                  </a:ext>
                </a:extLst>
              </p:cNvPr>
              <p:cNvSpPr txBox="1"/>
              <p:nvPr/>
            </p:nvSpPr>
            <p:spPr>
              <a:xfrm>
                <a:off x="8451715" y="1205938"/>
                <a:ext cx="1425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 err="1"/>
                  <a:t>WorldSpace</a:t>
                </a:r>
                <a:endParaRPr lang="ko-KR" altLang="en-US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2FC87A-944A-DEA3-3184-D369AAC8D423}"/>
                  </a:ext>
                </a:extLst>
              </p:cNvPr>
              <p:cNvSpPr txBox="1"/>
              <p:nvPr/>
            </p:nvSpPr>
            <p:spPr>
              <a:xfrm>
                <a:off x="5810140" y="1183863"/>
                <a:ext cx="254082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 err="1"/>
                  <a:t>ModelSpace</a:t>
                </a:r>
                <a:endParaRPr lang="en-US" altLang="ko-KR" dirty="0"/>
              </a:p>
              <a:p>
                <a:r>
                  <a:rPr lang="en-US" altLang="ko-KR" dirty="0" err="1"/>
                  <a:t>Vertex,Normal,Tangent</a:t>
                </a:r>
                <a:endParaRPr lang="ko-KR" alt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CF2D98-DE4D-69A3-BD79-8C1243E0D8DF}"/>
                  </a:ext>
                </a:extLst>
              </p:cNvPr>
              <p:cNvSpPr txBox="1"/>
              <p:nvPr/>
            </p:nvSpPr>
            <p:spPr>
              <a:xfrm>
                <a:off x="7459832" y="640493"/>
                <a:ext cx="19355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③ </a:t>
                </a:r>
                <a:r>
                  <a:rPr lang="en-US" altLang="ko-KR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World Matrix</a:t>
                </a:r>
                <a:endParaRPr lang="ko-KR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EE674EA-8003-3660-0624-F30BA2C6E4A1}"/>
                  </a:ext>
                </a:extLst>
              </p:cNvPr>
              <p:cNvSpPr txBox="1"/>
              <p:nvPr/>
            </p:nvSpPr>
            <p:spPr>
              <a:xfrm>
                <a:off x="4878644" y="627484"/>
                <a:ext cx="2552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② </a:t>
                </a:r>
                <a:r>
                  <a:rPr lang="en-US" altLang="ko-KR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Pose Matrix(</a:t>
                </a:r>
                <a:r>
                  <a:rPr lang="ko-KR" altLang="en-US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실시간</a:t>
                </a:r>
                <a:r>
                  <a:rPr lang="en-US" altLang="ko-KR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)</a:t>
                </a:r>
                <a:endParaRPr lang="ko-KR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7658749-C117-74FD-5BB4-A286B31B589E}"/>
                </a:ext>
              </a:extLst>
            </p:cNvPr>
            <p:cNvSpPr txBox="1"/>
            <p:nvPr/>
          </p:nvSpPr>
          <p:spPr>
            <a:xfrm>
              <a:off x="2416601" y="2244707"/>
              <a:ext cx="1325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/>
                <a:t>BoneSpace</a:t>
              </a:r>
              <a:endParaRPr lang="ko-KR" altLang="en-US" dirty="0"/>
            </a:p>
          </p:txBody>
        </p:sp>
      </p:grpSp>
      <p:sp>
        <p:nvSpPr>
          <p:cNvPr id="17" name="화살표: 아래로 구부러짐 16">
            <a:extLst>
              <a:ext uri="{FF2B5EF4-FFF2-40B4-BE49-F238E27FC236}">
                <a16:creationId xmlns:a16="http://schemas.microsoft.com/office/drawing/2014/main" id="{14A3F311-B29B-EF5D-4DA5-E753D85253D3}"/>
              </a:ext>
            </a:extLst>
          </p:cNvPr>
          <p:cNvSpPr/>
          <p:nvPr/>
        </p:nvSpPr>
        <p:spPr>
          <a:xfrm flipH="1" flipV="1">
            <a:off x="716607" y="2814225"/>
            <a:ext cx="1307191" cy="321996"/>
          </a:xfrm>
          <a:prstGeom prst="curved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C2432A-2BFF-EBA8-6850-25053A14ED37}"/>
              </a:ext>
            </a:extLst>
          </p:cNvPr>
          <p:cNvSpPr txBox="1"/>
          <p:nvPr/>
        </p:nvSpPr>
        <p:spPr>
          <a:xfrm>
            <a:off x="717800" y="2851705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① 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Offset Matrix(</a:t>
            </a:r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고정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A488B5-6802-AFF7-68D5-4205FF89D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8" y="3636964"/>
            <a:ext cx="6666630" cy="2306636"/>
          </a:xfrm>
          <a:prstGeom prst="rect">
            <a:avLst/>
          </a:prstGeom>
        </p:spPr>
      </p:pic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88453B-6021-DB4B-6D10-6BEF81338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998" y="1519336"/>
            <a:ext cx="5226002" cy="480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608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763079-06D2-7510-DF67-2BBE06305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 설계 참고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544EC8-EA5C-4557-B757-0F375F781923}"/>
              </a:ext>
            </a:extLst>
          </p:cNvPr>
          <p:cNvSpPr txBox="1"/>
          <p:nvPr/>
        </p:nvSpPr>
        <p:spPr>
          <a:xfrm>
            <a:off x="1300575" y="1395451"/>
            <a:ext cx="8784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쉽게 설계하고 애니메이션과 </a:t>
            </a:r>
            <a:r>
              <a:rPr lang="ko-KR" altLang="en-US" dirty="0" err="1"/>
              <a:t>메쉬</a:t>
            </a:r>
            <a:r>
              <a:rPr lang="ko-KR" altLang="en-US" dirty="0"/>
              <a:t> </a:t>
            </a:r>
            <a:r>
              <a:rPr lang="ko-KR" altLang="en-US" dirty="0" err="1"/>
              <a:t>스키닝이</a:t>
            </a:r>
            <a:r>
              <a:rPr lang="ko-KR" altLang="en-US" dirty="0"/>
              <a:t> 올바르게 작동하는데 집중합니다</a:t>
            </a:r>
            <a:r>
              <a:rPr lang="en-US" altLang="ko-KR" dirty="0"/>
              <a:t>. </a:t>
            </a:r>
            <a:r>
              <a:rPr lang="ko-KR" altLang="en-US" dirty="0"/>
              <a:t> </a:t>
            </a:r>
          </a:p>
        </p:txBody>
      </p:sp>
      <p:pic>
        <p:nvPicPr>
          <p:cNvPr id="8" name="그림 7" descr="텍스트, 도표, 평행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F3EAF4-FF25-7BFC-D426-E3B0882E9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64083"/>
            <a:ext cx="7785100" cy="500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715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4082</TotalTime>
  <Words>545</Words>
  <Application>Microsoft Office PowerPoint</Application>
  <PresentationFormat>와이드스크린</PresentationFormat>
  <Paragraphs>83</Paragraphs>
  <Slides>10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Direct3D11 프로그래밍</vt:lpstr>
      <vt:lpstr>학습목표</vt:lpstr>
      <vt:lpstr>리깅(Rigging)된 캐릭터</vt:lpstr>
      <vt:lpstr>리깅된 Mesh의 assimp 데이터 구조</vt:lpstr>
      <vt:lpstr>SkeletonResource</vt:lpstr>
      <vt:lpstr>Vertex Layout</vt:lpstr>
      <vt:lpstr>Vertex Data</vt:lpstr>
      <vt:lpstr>Matrix Palette Update</vt:lpstr>
      <vt:lpstr>Skinning Vertex Shader</vt:lpstr>
      <vt:lpstr>클래스 설계 참고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Direct3D11 프로그래밍</dc:title>
  <dc:creator>동원 이</dc:creator>
  <cp:lastModifiedBy>Dongwon Lee</cp:lastModifiedBy>
  <cp:revision>833</cp:revision>
  <dcterms:created xsi:type="dcterms:W3CDTF">2023-10-17T05:27:19Z</dcterms:created>
  <dcterms:modified xsi:type="dcterms:W3CDTF">2026-01-04T10:15:18Z</dcterms:modified>
</cp:coreProperties>
</file>