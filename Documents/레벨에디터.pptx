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343" r:id="rId3"/>
    <p:sldId id="349" r:id="rId4"/>
    <p:sldId id="350" r:id="rId5"/>
    <p:sldId id="342" r:id="rId6"/>
    <p:sldId id="347" r:id="rId7"/>
    <p:sldId id="270" r:id="rId8"/>
    <p:sldId id="346" r:id="rId9"/>
    <p:sldId id="269" r:id="rId10"/>
    <p:sldId id="352" r:id="rId11"/>
    <p:sldId id="353" r:id="rId12"/>
    <p:sldId id="351" r:id="rId13"/>
  </p:sldIdLst>
  <p:sldSz cx="12192000" cy="6858000"/>
  <p:notesSz cx="6858000" cy="9144000"/>
  <p:embeddedFontLst>
    <p:embeddedFont>
      <p:font typeface="맑은 고딕" panose="020B0503020000020004" pitchFamily="34" charset="-127"/>
      <p:regular r:id="rId15"/>
      <p:bold r:id="rId16"/>
    </p:embeddedFont>
    <p:embeddedFont>
      <p:font typeface="맑은 고딕" panose="020B0503020000020004" pitchFamily="34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8" roundtripDataSignature="AMtx7mjx2/UO+p05wwPAvFAHJe5dIMRzR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동원" initials="이동" lastIdx="1" clrIdx="0">
    <p:extLst>
      <p:ext uri="{19B8F6BF-5375-455C-9EA6-DF929625EA0E}">
        <p15:presenceInfo xmlns:p15="http://schemas.microsoft.com/office/powerpoint/2012/main" userId="5a98e330f125285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8B02"/>
    <a:srgbClr val="01A000"/>
    <a:srgbClr val="008D00"/>
    <a:srgbClr val="04F800"/>
    <a:srgbClr val="05A700"/>
    <a:srgbClr val="09A608"/>
    <a:srgbClr val="007304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A5B775-C20D-42D5-A53E-3F61A77F7D8C}">
  <a:tblStyle styleId="{F4A5B775-C20D-42D5-A53E-3F61A77F7D8C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1AEB1A6-4EC4-41CA-A0A0-6CB0261F499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27" autoAdjust="0"/>
    <p:restoredTop sz="79256" autoAdjust="0"/>
  </p:normalViewPr>
  <p:slideViewPr>
    <p:cSldViewPr snapToGrid="0">
      <p:cViewPr varScale="1">
        <p:scale>
          <a:sx n="82" d="100"/>
          <a:sy n="82" d="100"/>
        </p:scale>
        <p:origin x="64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0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00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99" Type="http://schemas.openxmlformats.org/officeDocument/2006/relationships/commentAuthors" Target="commentAuthors.xml"/><Relationship Id="rId203" Type="http://schemas.openxmlformats.org/officeDocument/2006/relationships/tableStyles" Target="tableStyles.xml"/><Relationship Id="rId10" Type="http://schemas.openxmlformats.org/officeDocument/2006/relationships/slide" Target="slides/slide9.xml"/><Relationship Id="rId198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0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1T15:20:21.1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76 24575,'6'0'0,"-1"1"0,0 0 0,1-1 0,-1 2 0,0-1 0,0 0 0,0 1 0,0 0 0,0 0 0,0 1 0,0-1 0,5 6 0,47 44 0,-27-21 0,-20-22 0,0 0 0,0-1 0,1 0 0,0 0 0,16 7 0,-25-13 0,0-1 0,1 0 0,-1 0 0,1 0 0,-1-1 0,1 1 0,-1-1 0,1 1 0,-1-1 0,1 0 0,-1 0 0,1 0 0,0 0 0,-1 0 0,1 0 0,-1-1 0,1 0 0,-1 1 0,1-1 0,-1 0 0,1 0 0,-1 0 0,0 0 0,1-1 0,-1 1 0,0-1 0,0 1 0,0-1 0,0 0 0,0 0 0,-1 0 0,1 0 0,2-4 0,-1 2 0,-1 0 0,1 0 0,0 0 0,0 0 0,0 1 0,0-1 0,1 1 0,0 0 0,-1 0 0,1 0 0,0 1 0,0-1 0,1 1 0,-1 0 0,0 0 0,1 0 0,-1 1 0,1 0 0,0 0 0,0 0 0,-1 0 0,1 1 0,9-1 0,-11 1 0,0-1 0,0 1 0,0-1 0,0 0 0,0 0 0,0 0 0,0 0 0,0-1 0,-1 1 0,1-1 0,-1 0 0,1 0 0,-1 0 0,0 0 0,4-3 0,25-43 0,-27 40 0,0 1 0,0 0 0,1 0 0,0 0 0,0 1 0,9-8 0,-10 10 0,0 1 0,1-1 0,-1 1 0,1 0 0,0 1 0,0-1 0,0 1 0,0 0 0,1 0 0,-1 1 0,1 0 0,-1 0 0,1 0 0,-1 0 0,1 1 0,-1 0 0,1 0 0,-1 0 0,1 1 0,-1 0 0,1 0 0,-1 0 0,0 1 0,1 0 0,-1 0 0,0 0 0,7 5 0,8 6 0,0 1 0,-1 1 0,0 1 0,-2 0 0,17 20 0,-4-5 0,-13-20-1365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1T15:20:23.9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8416 925 24575,'-1'1'0,"1"0"0,-1 0 0,1 0 0,-1 0 0,1 1 0,-1-1 0,0 0 0,1 0 0,-1 0 0,0 0 0,0-1 0,0 1 0,0 0 0,0 0 0,0 0 0,0-1 0,0 1 0,0-1 0,0 1 0,0 0 0,-2-1 0,-32 14 0,23-10 0,-28 14 0,28-11 0,-1-1 0,1-1 0,-2 0 0,-22 5 0,-54 5 0,0-5 0,-119 0 0,68 9 0,-1008-19 0,534-1 0,457 19 0,-443-19 0,461 20 0,-14-21 0,-106 4 0,182 6 0,-49 1 0,-948-9 0,898-18 0,46 9 0,-3 0 0,-23-9 0,126 17 0,1-2 0,-46-10 0,45 6 0,1 2 0,-47-1 0,-32-5 0,52 4 0,1 0 0,19 2 0,-48 0 0,66 4 0,0-2 0,-1 1 0,-34-11 0,-26-4 0,-26 0 0,0-1 0,71 11 0,-52-15 0,53 12 0,-140-25 0,125 28 0,1-2 0,1-2 0,-76-29 0,81 21 0,5 3 0,-49-17 0,72 28 0,0 0 0,1-1 0,-16-10 0,-32-15 0,43 24 0,0-2 0,1 0 0,-25-18 0,24 15 0,0 1 0,-33-15 0,24 12 0,0-2 0,1 0 0,0-2 0,2-1 0,0-1 0,-35-38 0,56 55 0,-45-47 0,2-2 0,-40-61 0,79 106 0,1-1 0,-1 1 0,0 0 0,-9-6 0,10 9 0,0-1 0,1 0 0,-1 0 0,1 0 0,0-1 0,1 0 0,-1 0 0,-4-10 0,-16-27 0,24 41 0,0 0 0,-1 0 0,1 0 0,-1-1 0,0 2 0,0-1 0,0 0 0,0 0 0,0 1 0,0-1 0,0 1 0,0-1 0,-1 1 0,1 0 0,-5-2 0,5 4 0,0 0 0,0 0 0,0 0 0,1 1 0,-1-1 0,0 0 0,1 1 0,-1-1 0,1 1 0,0 0 0,0-1 0,-1 1 0,1 0 0,0 0 0,0 0 0,-1 2 0,-16 35 0,13-15 0,5-19 0,-1-1 0,1 0 0,-1 0 0,0 0 0,0 0 0,0 0 0,-1 0 0,1 0 0,-1-1 0,0 1 0,0-1 0,0 1 0,0-1 0,-6 6 0,8-9 0,-1-1 0,0 1 0,1 0 0,-1-1 0,0 1 0,1-1 0,-1 1 0,1-1 0,-1 1 0,0-1 0,1 0 0,-1 1 0,1-1 0,0 1 0,-1-1 0,1 0 0,0 0 0,-1 1 0,1-1 0,0 0 0,0 0 0,-1 1 0,1-1 0,0 0 0,0 0 0,0 1 0,0-1 0,0 0 0,0 0 0,0 0 0,1 0 0,-3-31 0,2 32 0,0-19-1365,0 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1T15:20:24.7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24575,'0'3'0,"3"1"0,4 0 0,1 2 0,2 0 0,2-1 0,2-1 0,2-2 0,-2 3 0,0-1 0,0 0 0,1 2 0,1 0 0,1-1 0,-3 2 0,-1-1 0,-2-1-8191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995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447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3394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5026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13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898F6-93F0-4619-9029-4BE711A76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64D3E3-CAB4-4AB1-9DAF-48F69C2D8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A9C7E6-C813-4097-AC86-0C100B74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AFF5F3-BB86-4ADB-8D0A-E69F40B9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107AE7-363F-4243-9B87-3D36809E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063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F7CDF-F1BA-4A29-9CD2-4E9BEE5B8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9A366-8989-4CE1-B1C4-36614CA2E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6EEBE2-78A2-4414-BD10-2CA762A5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54B3D-C5E1-4A05-9474-1A33FFCE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5054BC-BB3B-4823-AD98-2B0F81FD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171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872FC-1E5A-4765-A81C-455A5EC7B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EE98DC-DB03-420D-B15A-B81D49E10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640DD-EDCD-4EA4-AA87-FB19167D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68BD89-BE06-4CE7-B406-31C745CF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5E24A8-1940-48D5-A216-94B62639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50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A1C73-E72A-4B7B-BCF0-24A252E37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2291EC-1114-4790-9710-CE7254321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0E9AFD-D892-46ED-896C-2F9DF08D0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D8DE07-69BD-4CBC-80CD-548FA4C53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18474E-BE13-47FC-A128-B63A3151B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0C7F4C-352C-4576-9A1A-9C8FF414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093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B8016-B315-4610-90B4-1823AA4E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2405C7-ACB3-44FF-9CB3-17CF9BF21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ECE5F8-C5C9-40F1-94A1-638EF6A9C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964EA8-B6B6-4DC1-82FF-2CD98291C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164C85-4C47-43DE-988D-D0B1CD9C6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A52C5A-2DEC-4A3A-A6C4-F387E3DA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2C4B08-C3E0-4E20-B218-1E5CABAF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1EEC57-531D-44C5-A92C-908E807A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02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7B8B9-B4AD-41A6-BAEF-7DAED77B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E9B8FE-C015-44B6-ADC6-86D4FD75E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DFC480-7FF6-4D72-B416-75D98BB4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3B4234-0EDD-4C2A-A3F1-97D54087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850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93C048-6E4A-43DF-8D31-06BCB6C0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62F3CC-D40A-437C-9D85-DB8C7F1CD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00076-00C5-4E05-919C-552524D9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77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7BD5C-533A-49A8-9A4E-16E0ADD8B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41A0AF-9A8D-4FDD-8FE4-89AAC80E8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DCA4A1-BDB2-4B12-9AF3-992D276C4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247D8E-C05A-4E76-ACFA-352924817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248E95-550D-4D4A-BBC0-A67DBB84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EB87A5-ED79-485C-A9E9-6CEFF02A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288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759BE-2751-4AF6-928C-3B80BCDF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6B6D042-6FB3-4C95-8B34-199CA9E32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8B146B-BE25-42A5-9850-95DF53B5F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4EA8B7-C50C-49D5-9F66-5DEDF37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358052-52FB-41B7-B06E-FE5DE417F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B1F0F-76AD-461B-BFF9-CDB838FA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7671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96A69-CD1D-4027-AFA8-2B6F260BA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27F939-534D-4C16-9F3E-4324A6905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A042ED-E052-4E81-AF61-E57B7A29A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7C0767-7F63-4018-B675-EF6899AF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DC9801-31CA-4B87-BEDD-454889DD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87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415074D-CF58-4CB5-9752-2C3B4A1D4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5BC626-3DAE-4D0C-A92F-0D3ACB4F9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5E298-C88F-4987-93CF-C8D365683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83A06B-E936-4F77-9A22-F15114279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2EAE1E-ECD7-4422-B69A-C14D4DB4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152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5333C4-4D30-487C-BCE6-C6C1A5B1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BA42F0-E665-45A5-A444-F51491269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D10CF-A6EC-4682-8FBE-D4C110221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6FB444-BD63-4B41-8786-C3BA4C288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10383D-93F0-42EB-88F8-873A57B9F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ttr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customXml" Target="../ink/ink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 altLang="en-US" dirty="0"/>
              <a:t>레벨 에디터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836426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altLang="ko-KR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altLang="en-US" dirty="0" err="1"/>
              <a:t>리플렉션을</a:t>
            </a:r>
            <a:r>
              <a:rPr lang="ko-KR" altLang="en-US" dirty="0"/>
              <a:t> 활용한 에디터 제작 </a:t>
            </a:r>
            <a:endParaRPr lang="en-US" altLang="ko-KR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altLang="en-US" dirty="0"/>
              <a:t> 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altLang="en-US" dirty="0"/>
              <a:t>이동원 </a:t>
            </a:r>
            <a:r>
              <a:rPr lang="en-US" altLang="ko-KR" dirty="0"/>
              <a:t>ldw9981@gmail.com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FB6D7-1205-BE68-DA12-5214E170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1D7CEB-7EFD-08D8-35BB-47E64698C7B5}"/>
              </a:ext>
            </a:extLst>
          </p:cNvPr>
          <p:cNvSpPr txBox="1"/>
          <p:nvPr/>
        </p:nvSpPr>
        <p:spPr>
          <a:xfrm>
            <a:off x="442450" y="1907458"/>
            <a:ext cx="111399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리플렉션</a:t>
            </a:r>
            <a:r>
              <a:rPr lang="en-US" altLang="ko-KR" dirty="0"/>
              <a:t>(Reflection)</a:t>
            </a:r>
            <a:r>
              <a:rPr lang="ko-KR" altLang="en-US" dirty="0"/>
              <a:t> 에 대해 이해합니다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RTTR </a:t>
            </a:r>
            <a:r>
              <a:rPr lang="ko-KR" altLang="en-US" dirty="0"/>
              <a:t>과 </a:t>
            </a:r>
            <a:r>
              <a:rPr lang="ko-KR" altLang="en-US" dirty="0" err="1"/>
              <a:t>언리얼의</a:t>
            </a:r>
            <a:r>
              <a:rPr lang="ko-KR" altLang="en-US" dirty="0"/>
              <a:t>  </a:t>
            </a:r>
            <a:r>
              <a:rPr lang="ko-KR" altLang="en-US" dirty="0" err="1"/>
              <a:t>리플렉션에</a:t>
            </a:r>
            <a:r>
              <a:rPr lang="ko-KR" altLang="en-US" dirty="0"/>
              <a:t> 대해 알아봅니다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이름으로 </a:t>
            </a:r>
            <a:r>
              <a:rPr lang="ko-KR" altLang="en-US" dirty="0" err="1"/>
              <a:t>게임오브젝트를</a:t>
            </a:r>
            <a:r>
              <a:rPr lang="ko-KR" altLang="en-US" dirty="0"/>
              <a:t> 생성하는 </a:t>
            </a:r>
            <a:r>
              <a:rPr lang="ko-KR" altLang="en-US" err="1"/>
              <a:t>팩토리를</a:t>
            </a:r>
            <a:r>
              <a:rPr lang="ko-KR" altLang="en-US"/>
              <a:t> 이해합니다</a:t>
            </a:r>
            <a:r>
              <a:rPr lang="en-US" altLang="ko-KR"/>
              <a:t>.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 startAt="4"/>
            </a:pPr>
            <a:r>
              <a:rPr lang="ko-KR" altLang="en-US" dirty="0"/>
              <a:t>월드의 게임 오브젝트 또는 컴포넌트를 저장하거나 복구 </a:t>
            </a:r>
            <a:r>
              <a:rPr lang="ko-KR" altLang="en-US" dirty="0" err="1"/>
              <a:t>할때</a:t>
            </a:r>
            <a:r>
              <a:rPr lang="ko-KR" altLang="en-US" dirty="0"/>
              <a:t>  프로퍼티 컨테이너를 활용합니다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 startAt="4"/>
            </a:pPr>
            <a:endParaRPr lang="en-US" altLang="ko-KR" dirty="0"/>
          </a:p>
          <a:p>
            <a:pPr marL="342900" indent="-342900">
              <a:buAutoNum type="arabicPeriod" startAt="4"/>
            </a:pPr>
            <a:r>
              <a:rPr lang="ko-KR" altLang="en-US" dirty="0"/>
              <a:t>게임 오브젝트나  컴포넌트의 데이터를 조작하는 </a:t>
            </a:r>
            <a:r>
              <a:rPr lang="en-US" altLang="ko-KR" dirty="0" err="1"/>
              <a:t>ImGUI</a:t>
            </a:r>
            <a:r>
              <a:rPr lang="ko-KR" altLang="en-US" dirty="0"/>
              <a:t>를 </a:t>
            </a:r>
            <a:r>
              <a:rPr lang="ko-KR" altLang="en-US" dirty="0" err="1"/>
              <a:t>생성할때</a:t>
            </a:r>
            <a:r>
              <a:rPr lang="ko-KR" altLang="en-US" dirty="0"/>
              <a:t> 프로퍼티 컨테이너를 활용합니다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2325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223FF-3A14-FF23-843D-7383CCE3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Reflection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DFA9C-82D7-0BFA-BF01-3E20A5C97460}"/>
              </a:ext>
            </a:extLst>
          </p:cNvPr>
          <p:cNvSpPr txBox="1"/>
          <p:nvPr/>
        </p:nvSpPr>
        <p:spPr>
          <a:xfrm>
            <a:off x="389394" y="1753675"/>
            <a:ext cx="109644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리플렉션</a:t>
            </a:r>
            <a:r>
              <a:rPr lang="en-US" altLang="ko-KR" dirty="0"/>
              <a:t>(Reflection)</a:t>
            </a:r>
            <a:r>
              <a:rPr lang="ko-KR" altLang="en-US" dirty="0"/>
              <a:t>은 프로그램이 실행 시간에 타입 또는 객체의 구조 정보 </a:t>
            </a:r>
            <a:r>
              <a:rPr lang="en-US" altLang="ko-KR" dirty="0"/>
              <a:t>(</a:t>
            </a:r>
            <a:r>
              <a:rPr lang="ko-KR" altLang="en-US" dirty="0"/>
              <a:t>멤버 변수</a:t>
            </a:r>
            <a:r>
              <a:rPr lang="en-US" altLang="ko-KR" dirty="0"/>
              <a:t>·</a:t>
            </a:r>
            <a:r>
              <a:rPr lang="ko-KR" altLang="en-US" dirty="0"/>
              <a:t>함수의 이름과 타입 등</a:t>
            </a:r>
            <a:r>
              <a:rPr lang="en-US" altLang="ko-KR" dirty="0"/>
              <a:t>)</a:t>
            </a:r>
            <a:r>
              <a:rPr lang="ko-KR" altLang="en-US" dirty="0"/>
              <a:t>를 조회하고</a:t>
            </a:r>
            <a:r>
              <a:rPr lang="en-US" altLang="ko-KR" dirty="0"/>
              <a:t>, </a:t>
            </a:r>
            <a:r>
              <a:rPr lang="ko-KR" altLang="en-US" dirty="0"/>
              <a:t>이를 통해 멤버 값을 읽고</a:t>
            </a:r>
            <a:r>
              <a:rPr lang="en-US" altLang="ko-KR" dirty="0"/>
              <a:t>/</a:t>
            </a:r>
            <a:r>
              <a:rPr lang="ko-KR" altLang="en-US" dirty="0"/>
              <a:t>쓰거나 멤버 함수를 호출할 수 있게 하는 기능이다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이러한 구조 정보에 부가적으로 붙는 의미</a:t>
            </a:r>
            <a:r>
              <a:rPr lang="en-US" altLang="ko-KR" dirty="0"/>
              <a:t>(</a:t>
            </a:r>
            <a:r>
              <a:rPr lang="ko-KR" altLang="en-US" dirty="0"/>
              <a:t>범위</a:t>
            </a:r>
            <a:r>
              <a:rPr lang="en-US" altLang="ko-KR" dirty="0"/>
              <a:t>, </a:t>
            </a:r>
            <a:r>
              <a:rPr lang="ko-KR" altLang="en-US" dirty="0"/>
              <a:t>카테고리 </a:t>
            </a:r>
            <a:r>
              <a:rPr lang="en-US" altLang="ko-KR" dirty="0"/>
              <a:t>,</a:t>
            </a:r>
            <a:r>
              <a:rPr lang="ko-KR" altLang="en-US" dirty="0"/>
              <a:t>설명 텍스트 등</a:t>
            </a:r>
            <a:r>
              <a:rPr lang="en-US" altLang="ko-KR" dirty="0"/>
              <a:t>)</a:t>
            </a:r>
            <a:r>
              <a:rPr lang="ko-KR" altLang="en-US" dirty="0"/>
              <a:t>의 정보를 관리한다</a:t>
            </a:r>
            <a:r>
              <a:rPr lang="en-US" altLang="ko-KR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8EE3A-B55E-44FA-BCDF-A98B2A876D71}"/>
              </a:ext>
            </a:extLst>
          </p:cNvPr>
          <p:cNvSpPr txBox="1"/>
          <p:nvPr/>
        </p:nvSpPr>
        <p:spPr>
          <a:xfrm>
            <a:off x="487872" y="3254643"/>
            <a:ext cx="393689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class </a:t>
            </a:r>
            <a:r>
              <a:rPr lang="en-US" altLang="ko-KR" sz="1400" dirty="0" err="1"/>
              <a:t>ClassA</a:t>
            </a:r>
            <a:endParaRPr lang="en-US" altLang="ko-KR" sz="1400" dirty="0"/>
          </a:p>
          <a:p>
            <a:r>
              <a:rPr lang="en-US" altLang="ko-KR" sz="1400" dirty="0"/>
              <a:t>{</a:t>
            </a:r>
          </a:p>
          <a:p>
            <a:r>
              <a:rPr lang="en-US" altLang="ko-KR" sz="1400" dirty="0"/>
              <a:t>public:</a:t>
            </a:r>
          </a:p>
          <a:p>
            <a:r>
              <a:rPr lang="en-US" altLang="ko-KR" sz="1400" dirty="0"/>
              <a:t>    int  </a:t>
            </a:r>
            <a:r>
              <a:rPr lang="en-US" altLang="ko-KR" sz="1400" dirty="0" err="1"/>
              <a:t>m_Value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    void </a:t>
            </a:r>
            <a:r>
              <a:rPr lang="en-US" altLang="ko-KR" sz="1400" dirty="0" err="1"/>
              <a:t>PrintValue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int  Add(int x, int y);</a:t>
            </a:r>
          </a:p>
          <a:p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r>
              <a:rPr lang="en-US" altLang="ko-KR" sz="1400" dirty="0"/>
              <a:t>// </a:t>
            </a:r>
            <a:r>
              <a:rPr lang="ko-KR" altLang="en-US" sz="1400" dirty="0"/>
              <a:t>등록</a:t>
            </a:r>
            <a:r>
              <a:rPr lang="en-US" altLang="ko-KR" sz="1400" dirty="0"/>
              <a:t> </a:t>
            </a:r>
            <a:r>
              <a:rPr lang="ko-KR" altLang="en-US" sz="1400" dirty="0"/>
              <a:t>작업 필수</a:t>
            </a:r>
            <a:endParaRPr lang="en-US" altLang="ko-KR" sz="1400" dirty="0"/>
          </a:p>
          <a:p>
            <a:r>
              <a:rPr lang="en-US" altLang="ko-KR" sz="1400" dirty="0" err="1"/>
              <a:t>RegisterType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ClassA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.property("</a:t>
            </a:r>
            <a:r>
              <a:rPr lang="en-US" altLang="ko-KR" sz="1400" dirty="0" err="1"/>
              <a:t>m_Value</a:t>
            </a:r>
            <a:r>
              <a:rPr lang="en-US" altLang="ko-KR" sz="1400" dirty="0"/>
              <a:t>", &amp;</a:t>
            </a:r>
            <a:r>
              <a:rPr lang="en-US" altLang="ko-KR" sz="1400" dirty="0" err="1"/>
              <a:t>ClassA</a:t>
            </a:r>
            <a:r>
              <a:rPr lang="en-US" altLang="ko-KR" sz="1400" dirty="0"/>
              <a:t>::</a:t>
            </a:r>
            <a:r>
              <a:rPr lang="en-US" altLang="ko-KR" sz="1400" dirty="0" err="1"/>
              <a:t>m_Value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.method("</a:t>
            </a:r>
            <a:r>
              <a:rPr lang="en-US" altLang="ko-KR" sz="1400" dirty="0" err="1"/>
              <a:t>PrintValue</a:t>
            </a:r>
            <a:r>
              <a:rPr lang="en-US" altLang="ko-KR" sz="1400" dirty="0"/>
              <a:t>", &amp;</a:t>
            </a:r>
            <a:r>
              <a:rPr lang="en-US" altLang="ko-KR" sz="1400" dirty="0" err="1"/>
              <a:t>ClassA</a:t>
            </a:r>
            <a:r>
              <a:rPr lang="en-US" altLang="ko-KR" sz="1400" dirty="0"/>
              <a:t>::</a:t>
            </a:r>
            <a:r>
              <a:rPr lang="en-US" altLang="ko-KR" sz="1400" dirty="0" err="1"/>
              <a:t>PrintValue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.method("Add", &amp;</a:t>
            </a:r>
            <a:r>
              <a:rPr lang="en-US" altLang="ko-KR" sz="1400" dirty="0" err="1"/>
              <a:t>ClassA</a:t>
            </a:r>
            <a:r>
              <a:rPr lang="en-US" altLang="ko-KR" sz="1400" dirty="0"/>
              <a:t>::Add);</a:t>
            </a:r>
          </a:p>
          <a:p>
            <a:endParaRPr lang="en-US" altLang="ko-KR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F85D21-BC88-8E7E-FC60-E2FA13E7C4DF}"/>
              </a:ext>
            </a:extLst>
          </p:cNvPr>
          <p:cNvSpPr txBox="1"/>
          <p:nvPr/>
        </p:nvSpPr>
        <p:spPr>
          <a:xfrm>
            <a:off x="4845157" y="3114393"/>
            <a:ext cx="60947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ClassA</a:t>
            </a:r>
            <a:r>
              <a:rPr lang="en-US" altLang="ko-KR" sz="1400" dirty="0"/>
              <a:t> instance;</a:t>
            </a:r>
          </a:p>
          <a:p>
            <a:endParaRPr lang="en-US" altLang="ko-KR" sz="1400" dirty="0"/>
          </a:p>
          <a:p>
            <a:r>
              <a:rPr lang="ko-KR" altLang="en-US" sz="1400" dirty="0"/>
              <a:t>// ===== </a:t>
            </a:r>
            <a:r>
              <a:rPr lang="ko-KR" altLang="en-US" sz="1400" dirty="0" err="1"/>
              <a:t>리플렉션</a:t>
            </a:r>
            <a:r>
              <a:rPr lang="ko-KR" altLang="en-US" sz="1400" dirty="0"/>
              <a:t> 기반 </a:t>
            </a:r>
            <a:r>
              <a:rPr lang="ko-KR" altLang="en-US" sz="1400" dirty="0" err="1"/>
              <a:t>Set</a:t>
            </a:r>
            <a:r>
              <a:rPr lang="ko-KR" altLang="en-US" sz="1400" dirty="0"/>
              <a:t> (쓰기) =====</a:t>
            </a:r>
          </a:p>
          <a:p>
            <a:r>
              <a:rPr lang="ko-KR" altLang="en-US" sz="1400" dirty="0" err="1"/>
              <a:t>SetPropertyByName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instance</a:t>
            </a:r>
            <a:r>
              <a:rPr lang="ko-KR" altLang="en-US" sz="1400" dirty="0"/>
              <a:t>, "</a:t>
            </a:r>
            <a:r>
              <a:rPr lang="ko-KR" altLang="en-US" sz="1400" dirty="0" err="1"/>
              <a:t>m_Value</a:t>
            </a:r>
            <a:r>
              <a:rPr lang="ko-KR" altLang="en-US" sz="1400" dirty="0"/>
              <a:t>", 90);</a:t>
            </a:r>
          </a:p>
          <a:p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/>
              <a:t>// ===== </a:t>
            </a:r>
            <a:r>
              <a:rPr lang="ko-KR" altLang="en-US" sz="1400" dirty="0" err="1"/>
              <a:t>리플렉션</a:t>
            </a:r>
            <a:r>
              <a:rPr lang="ko-KR" altLang="en-US" sz="1400" dirty="0"/>
              <a:t> 기반 </a:t>
            </a:r>
            <a:r>
              <a:rPr lang="ko-KR" altLang="en-US" sz="1400" dirty="0" err="1"/>
              <a:t>Get</a:t>
            </a:r>
            <a:r>
              <a:rPr lang="ko-KR" altLang="en-US" sz="1400" dirty="0"/>
              <a:t> (읽기) =====</a:t>
            </a:r>
          </a:p>
          <a:p>
            <a:r>
              <a:rPr lang="ko-KR" altLang="en-US" sz="1400" dirty="0" err="1"/>
              <a:t>int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value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GetPropertyByName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instance</a:t>
            </a:r>
            <a:r>
              <a:rPr lang="ko-KR" altLang="en-US" sz="1400" dirty="0"/>
              <a:t>, "</a:t>
            </a:r>
            <a:r>
              <a:rPr lang="ko-KR" altLang="en-US" sz="1400" dirty="0" err="1"/>
              <a:t>m_Value</a:t>
            </a:r>
            <a:r>
              <a:rPr lang="ko-KR" altLang="en-US" sz="1400" dirty="0"/>
              <a:t>");   // </a:t>
            </a:r>
            <a:r>
              <a:rPr lang="ko-KR" altLang="en-US" sz="1400" dirty="0" err="1"/>
              <a:t>value</a:t>
            </a:r>
            <a:r>
              <a:rPr lang="ko-KR" altLang="en-US" sz="1400" dirty="0"/>
              <a:t> == 90</a:t>
            </a:r>
          </a:p>
          <a:p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/>
              <a:t>// ===== </a:t>
            </a:r>
            <a:r>
              <a:rPr lang="ko-KR" altLang="en-US" sz="1400" dirty="0" err="1"/>
              <a:t>리플렉션</a:t>
            </a:r>
            <a:r>
              <a:rPr lang="ko-KR" altLang="en-US" sz="1400" dirty="0"/>
              <a:t> 기반 함수 호출 1: 인자 없는 함수 =====</a:t>
            </a:r>
          </a:p>
          <a:p>
            <a:r>
              <a:rPr lang="ko-KR" altLang="en-US" sz="1400" dirty="0" err="1"/>
              <a:t>InvokeMethodByName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instance</a:t>
            </a:r>
            <a:r>
              <a:rPr lang="ko-KR" altLang="en-US" sz="1400" dirty="0"/>
              <a:t>, "</a:t>
            </a:r>
            <a:r>
              <a:rPr lang="ko-KR" altLang="en-US" sz="1400" dirty="0" err="1"/>
              <a:t>PrintValue</a:t>
            </a:r>
            <a:r>
              <a:rPr lang="ko-KR" altLang="en-US" sz="1400" dirty="0"/>
              <a:t>");</a:t>
            </a:r>
          </a:p>
          <a:p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/>
              <a:t>// ===== </a:t>
            </a:r>
            <a:r>
              <a:rPr lang="ko-KR" altLang="en-US" sz="1400" dirty="0" err="1"/>
              <a:t>리플렉션</a:t>
            </a:r>
            <a:r>
              <a:rPr lang="ko-KR" altLang="en-US" sz="1400" dirty="0"/>
              <a:t> 기반 함수 호출 2: 인자 있는 함수 =====</a:t>
            </a:r>
          </a:p>
          <a:p>
            <a:r>
              <a:rPr lang="ko-KR" altLang="en-US" sz="1400" dirty="0" err="1"/>
              <a:t>int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result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InvokeMethodByName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instance</a:t>
            </a:r>
            <a:r>
              <a:rPr lang="ko-KR" altLang="en-US" sz="1400" dirty="0"/>
              <a:t>, "</a:t>
            </a:r>
            <a:r>
              <a:rPr lang="ko-KR" altLang="en-US" sz="1400" dirty="0" err="1"/>
              <a:t>Add</a:t>
            </a:r>
            <a:r>
              <a:rPr lang="ko-KR" altLang="en-US" sz="1400" dirty="0"/>
              <a:t>", 3, 4);  // </a:t>
            </a:r>
            <a:r>
              <a:rPr lang="ko-KR" altLang="en-US" sz="1400" dirty="0" err="1"/>
              <a:t>result</a:t>
            </a:r>
            <a:r>
              <a:rPr lang="ko-KR" altLang="en-US" sz="1400" dirty="0"/>
              <a:t> == 7</a:t>
            </a:r>
          </a:p>
        </p:txBody>
      </p:sp>
    </p:spTree>
    <p:extLst>
      <p:ext uri="{BB962C8B-B14F-4D97-AF65-F5344CB8AC3E}">
        <p14:creationId xmlns:p14="http://schemas.microsoft.com/office/powerpoint/2010/main" val="2591281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E76A4-4A41-21CE-826B-4F14D79D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RTTR (Run Time Type Reflection)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A35B0-09F4-07F5-220C-783FC8531396}"/>
              </a:ext>
            </a:extLst>
          </p:cNvPr>
          <p:cNvSpPr txBox="1"/>
          <p:nvPr/>
        </p:nvSpPr>
        <p:spPr>
          <a:xfrm>
            <a:off x="646863" y="1845675"/>
            <a:ext cx="106424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altLang="ko-KR" dirty="0">
                <a:latin typeface="+mn-ea"/>
              </a:rPr>
              <a:t>RTTR</a:t>
            </a:r>
            <a:r>
              <a:rPr lang="ko-KR" altLang="en-US" dirty="0">
                <a:latin typeface="+mn-ea"/>
              </a:rPr>
              <a:t>은 </a:t>
            </a:r>
            <a:r>
              <a:rPr lang="en-US" altLang="ko-KR" dirty="0">
                <a:latin typeface="+mn-ea"/>
              </a:rPr>
              <a:t>C++</a:t>
            </a:r>
            <a:r>
              <a:rPr lang="ko-KR" altLang="en-US" dirty="0">
                <a:latin typeface="+mn-ea"/>
              </a:rPr>
              <a:t>에서 실행 시간에 객체의 타입과 멤버 정보를 조회하고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멤버 변수 접근 및 함수 호출을 가능하게 해주는 런타임 </a:t>
            </a:r>
            <a:r>
              <a:rPr lang="ko-KR" altLang="en-US" dirty="0" err="1">
                <a:latin typeface="+mn-ea"/>
              </a:rPr>
              <a:t>리플렉션</a:t>
            </a:r>
            <a:r>
              <a:rPr lang="ko-KR" altLang="en-US" dirty="0">
                <a:latin typeface="+mn-ea"/>
              </a:rPr>
              <a:t> 라이브러리이다</a:t>
            </a:r>
            <a:r>
              <a:rPr lang="en-US" altLang="ko-KR" dirty="0">
                <a:latin typeface="+mn-ea"/>
              </a:rPr>
              <a:t>.              </a:t>
            </a:r>
            <a:r>
              <a:rPr lang="en-US" altLang="ko-KR" dirty="0">
                <a:hlinkClick r:id="rId3"/>
              </a:rPr>
              <a:t>https://www.rttr.org/</a:t>
            </a:r>
            <a:endParaRPr lang="en-US" altLang="ko-KR" b="0" i="0" dirty="0">
              <a:solidFill>
                <a:srgbClr val="333333"/>
              </a:solidFill>
              <a:effectLst/>
              <a:latin typeface="맑은 고딕" panose="020B0503020000020004" pitchFamily="34" charset="-127"/>
            </a:endParaRP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D711F4-F0EB-9EDF-315F-D51ADF981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6" y="2656682"/>
            <a:ext cx="3542137" cy="3975315"/>
          </a:xfrm>
          <a:prstGeom prst="rect">
            <a:avLst/>
          </a:prstGeom>
        </p:spPr>
      </p:pic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44F488-A507-E98B-A7FF-E5214E06A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1216" y="2646993"/>
            <a:ext cx="4215462" cy="3985004"/>
          </a:xfrm>
          <a:prstGeom prst="rect">
            <a:avLst/>
          </a:prstGeom>
        </p:spPr>
      </p:pic>
      <p:pic>
        <p:nvPicPr>
          <p:cNvPr id="11" name="그림 10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452D80-778F-3093-FD71-8EAE46C6E3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8124" y="2646993"/>
            <a:ext cx="3670384" cy="415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54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5A26C-67DD-728B-5B4D-999123CCF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언리얼</a:t>
            </a:r>
            <a:r>
              <a:rPr lang="ko-KR" altLang="en-US" dirty="0"/>
              <a:t> 프로퍼티 시스템</a:t>
            </a:r>
            <a:r>
              <a:rPr lang="en-US" altLang="ko-KR" dirty="0"/>
              <a:t> (Reflection)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F36F29-DCF6-590F-D94B-8B9A85251FE0}"/>
              </a:ext>
            </a:extLst>
          </p:cNvPr>
          <p:cNvSpPr txBox="1"/>
          <p:nvPr/>
        </p:nvSpPr>
        <p:spPr>
          <a:xfrm>
            <a:off x="3936342" y="1779008"/>
            <a:ext cx="825565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-  </a:t>
            </a:r>
            <a:r>
              <a:rPr lang="ko-KR" altLang="en-US" u="sng" dirty="0"/>
              <a:t>에디터에서의 배치할 수 있는 </a:t>
            </a:r>
            <a:r>
              <a:rPr lang="ko-KR" altLang="en-US" u="sng" dirty="0" err="1"/>
              <a:t>액터의</a:t>
            </a:r>
            <a:r>
              <a:rPr lang="ko-KR" altLang="en-US" u="sng" dirty="0"/>
              <a:t> 목록 나열   </a:t>
            </a:r>
            <a:endParaRPr lang="en-US" altLang="ko-KR" dirty="0"/>
          </a:p>
          <a:p>
            <a:r>
              <a:rPr lang="en-US" altLang="ko-KR" dirty="0"/>
              <a:t>-  </a:t>
            </a:r>
            <a:r>
              <a:rPr lang="ko-KR" altLang="en-US" u="sng" dirty="0"/>
              <a:t>오브젝트 멤버 변수의 저장</a:t>
            </a:r>
            <a:r>
              <a:rPr lang="en-US" altLang="ko-KR" u="sng" dirty="0"/>
              <a:t>/</a:t>
            </a:r>
            <a:r>
              <a:rPr lang="ko-KR" altLang="en-US" u="sng" dirty="0"/>
              <a:t>읽기 의 자동화된 대응  </a:t>
            </a:r>
            <a:r>
              <a:rPr lang="en-US" altLang="ko-KR" u="sng" dirty="0"/>
              <a:t>( Serialize/Deserialize )</a:t>
            </a:r>
          </a:p>
          <a:p>
            <a:r>
              <a:rPr lang="en-US" altLang="ko-KR" dirty="0"/>
              <a:t>-  </a:t>
            </a:r>
            <a:r>
              <a:rPr lang="ko-KR" altLang="en-US" u="sng" dirty="0"/>
              <a:t>에디터에서의 멤버 변수를 조작하는 입력</a:t>
            </a:r>
            <a:r>
              <a:rPr lang="en-US" altLang="ko-KR" u="sng" dirty="0"/>
              <a:t>UI</a:t>
            </a:r>
            <a:r>
              <a:rPr lang="ko-KR" altLang="en-US" u="sng" dirty="0"/>
              <a:t>의 자동화된 대응</a:t>
            </a:r>
            <a:endParaRPr lang="en-US" altLang="ko-KR" u="sng" dirty="0"/>
          </a:p>
          <a:p>
            <a:r>
              <a:rPr lang="en-US" altLang="ko-KR" dirty="0"/>
              <a:t>-  </a:t>
            </a:r>
            <a:r>
              <a:rPr lang="ko-KR" altLang="en-US" u="sng" dirty="0" err="1"/>
              <a:t>블루프린트</a:t>
            </a:r>
            <a:r>
              <a:rPr lang="ko-KR" altLang="en-US" u="sng" dirty="0"/>
              <a:t> 에서의 부모 </a:t>
            </a:r>
            <a:r>
              <a:rPr lang="en-US" altLang="ko-KR" u="sng" dirty="0"/>
              <a:t>Native Class</a:t>
            </a:r>
            <a:r>
              <a:rPr lang="ko-KR" altLang="en-US" u="sng" dirty="0"/>
              <a:t>의 멤버 함수 호출 및 멤버 변수의 변경</a:t>
            </a:r>
            <a:endParaRPr lang="en-US" altLang="ko-KR" u="sng" dirty="0"/>
          </a:p>
          <a:p>
            <a:r>
              <a:rPr lang="en-US" altLang="ko-KR" dirty="0"/>
              <a:t>-  </a:t>
            </a:r>
            <a:r>
              <a:rPr lang="ko-KR" altLang="en-US" dirty="0"/>
              <a:t>서버</a:t>
            </a:r>
            <a:r>
              <a:rPr lang="en-US" altLang="ko-KR" dirty="0"/>
              <a:t>-</a:t>
            </a:r>
            <a:r>
              <a:rPr lang="ko-KR" altLang="en-US" dirty="0"/>
              <a:t>클라이언트 의 멤버 변수 값의 복제 </a:t>
            </a:r>
            <a:r>
              <a:rPr lang="en-US" altLang="ko-KR" dirty="0"/>
              <a:t>(Replication )</a:t>
            </a:r>
          </a:p>
          <a:p>
            <a:r>
              <a:rPr lang="en-US" altLang="ko-KR" dirty="0"/>
              <a:t>-  </a:t>
            </a:r>
            <a:r>
              <a:rPr lang="ko-KR" altLang="en-US" dirty="0"/>
              <a:t>서버</a:t>
            </a:r>
            <a:r>
              <a:rPr lang="en-US" altLang="ko-KR" dirty="0"/>
              <a:t>-</a:t>
            </a:r>
            <a:r>
              <a:rPr lang="ko-KR" altLang="en-US" dirty="0"/>
              <a:t>클라이언트 의 원격 함수 호출  </a:t>
            </a:r>
            <a:r>
              <a:rPr lang="en-US" altLang="ko-KR" dirty="0"/>
              <a:t>(Remote Procedure Call )</a:t>
            </a:r>
            <a:endParaRPr lang="en-US" altLang="ko-KR" u="sng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  <a:r>
              <a:rPr lang="ko-KR" altLang="en-US" sz="1600" dirty="0"/>
              <a:t>프로그래머는 </a:t>
            </a:r>
            <a:r>
              <a:rPr lang="en-US" altLang="ko-KR" sz="1600" dirty="0"/>
              <a:t>C++ </a:t>
            </a:r>
            <a:r>
              <a:rPr lang="ko-KR" altLang="en-US" sz="1600" dirty="0"/>
              <a:t>헤더에서 </a:t>
            </a:r>
            <a:r>
              <a:rPr lang="en-US" altLang="ko-KR" sz="1600" dirty="0"/>
              <a:t>UCLASS/UPROPERTY/UFUNCTION </a:t>
            </a:r>
            <a:r>
              <a:rPr lang="ko-KR" altLang="en-US" sz="1600" dirty="0"/>
              <a:t>같은 매크로로 </a:t>
            </a:r>
            <a:r>
              <a:rPr lang="ko-KR" altLang="en-US" sz="1600" dirty="0" err="1"/>
              <a:t>리플렉션</a:t>
            </a:r>
            <a:r>
              <a:rPr lang="ko-KR" altLang="en-US" sz="1600" dirty="0"/>
              <a:t> 대상 요소를 표시한다</a:t>
            </a:r>
            <a:r>
              <a:rPr lang="en-US" altLang="ko-KR" sz="1600" dirty="0"/>
              <a:t>. (</a:t>
            </a:r>
            <a:r>
              <a:rPr lang="ko-KR" altLang="en-US" sz="1600" dirty="0"/>
              <a:t>등록작업 간소화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 </a:t>
            </a:r>
            <a:r>
              <a:rPr lang="ko-KR" altLang="en-US" sz="1600" dirty="0"/>
              <a:t>빌드 과정에서 </a:t>
            </a:r>
            <a:r>
              <a:rPr lang="en-US" altLang="ko-KR" sz="1600" dirty="0"/>
              <a:t>UHT(</a:t>
            </a:r>
            <a:r>
              <a:rPr lang="en-US" altLang="ko-KR" sz="1600" dirty="0" err="1"/>
              <a:t>UnrealHeaderTool</a:t>
            </a:r>
            <a:r>
              <a:rPr lang="en-US" altLang="ko-KR" sz="1600" dirty="0"/>
              <a:t>)</a:t>
            </a:r>
            <a:r>
              <a:rPr lang="ko-KR" altLang="en-US" sz="1600" dirty="0"/>
              <a:t>가 헤더를 분석하여 </a:t>
            </a:r>
            <a:r>
              <a:rPr lang="ko-KR" altLang="en-US" sz="1600" b="1" dirty="0" err="1"/>
              <a:t>리플렉션</a:t>
            </a:r>
            <a:r>
              <a:rPr lang="ko-KR" altLang="en-US" sz="1600" b="1" dirty="0"/>
              <a:t> 및 프로퍼티 시스템에 필요한 추가 코드</a:t>
            </a:r>
            <a:r>
              <a:rPr lang="en-US" altLang="ko-KR" sz="1600" b="1" dirty="0"/>
              <a:t>(.</a:t>
            </a:r>
            <a:r>
              <a:rPr lang="en-US" altLang="ko-KR" sz="1600" b="1" dirty="0" err="1"/>
              <a:t>generated.h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등</a:t>
            </a:r>
            <a:r>
              <a:rPr lang="en-US" altLang="ko-KR" sz="1600" b="1" dirty="0"/>
              <a:t>)</a:t>
            </a:r>
            <a:r>
              <a:rPr lang="ko-KR" altLang="en-US" sz="1600" dirty="0"/>
              <a:t> 를 생성하고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생성된 코드가 기존 클래스 선언에 포함되어 런타임 타입 정보 등록</a:t>
            </a:r>
            <a:r>
              <a:rPr lang="en-US" altLang="ko-KR" sz="1600" dirty="0"/>
              <a:t>, </a:t>
            </a:r>
            <a:r>
              <a:rPr lang="ko-KR" altLang="en-US" sz="1600" dirty="0"/>
              <a:t>에디터 노출</a:t>
            </a:r>
            <a:r>
              <a:rPr lang="en-US" altLang="ko-KR" sz="1600" dirty="0"/>
              <a:t>, </a:t>
            </a:r>
            <a:r>
              <a:rPr lang="ko-KR" altLang="en-US" sz="1600" dirty="0"/>
              <a:t>직렬화</a:t>
            </a:r>
            <a:r>
              <a:rPr lang="en-US" altLang="ko-KR" sz="1600" dirty="0"/>
              <a:t>, </a:t>
            </a:r>
            <a:r>
              <a:rPr lang="ko-KR" altLang="en-US" sz="1600" dirty="0"/>
              <a:t>네트워크 복제 등이 동작하도록 만든다</a:t>
            </a:r>
            <a:r>
              <a:rPr lang="en-US" altLang="ko-KR" sz="1600" dirty="0"/>
              <a:t>.</a:t>
            </a:r>
            <a:r>
              <a:rPr lang="ko-KR" altLang="en-US" sz="1600" dirty="0"/>
              <a:t>   </a:t>
            </a:r>
          </a:p>
        </p:txBody>
      </p:sp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7717C1-E1D0-2C1A-F553-62CA0FFA3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1" y="1501989"/>
            <a:ext cx="3758662" cy="5269588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0E698C9-93F2-C2FF-2CD2-9A35BCAD8761}"/>
              </a:ext>
            </a:extLst>
          </p:cNvPr>
          <p:cNvSpPr/>
          <p:nvPr/>
        </p:nvSpPr>
        <p:spPr>
          <a:xfrm>
            <a:off x="94881" y="2597500"/>
            <a:ext cx="467827" cy="34164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BB656A-C2C5-10A0-9A15-DD819318FCAA}"/>
              </a:ext>
            </a:extLst>
          </p:cNvPr>
          <p:cNvSpPr/>
          <p:nvPr/>
        </p:nvSpPr>
        <p:spPr>
          <a:xfrm>
            <a:off x="272402" y="3141787"/>
            <a:ext cx="938425" cy="34164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332E603-3F81-E3FD-9D0D-D4249ABF1F7B}"/>
              </a:ext>
            </a:extLst>
          </p:cNvPr>
          <p:cNvSpPr/>
          <p:nvPr/>
        </p:nvSpPr>
        <p:spPr>
          <a:xfrm>
            <a:off x="219937" y="4127585"/>
            <a:ext cx="685541" cy="2626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1C464D0-4E8F-7308-8971-C0EF4C81CF7E}"/>
              </a:ext>
            </a:extLst>
          </p:cNvPr>
          <p:cNvSpPr/>
          <p:nvPr/>
        </p:nvSpPr>
        <p:spPr>
          <a:xfrm>
            <a:off x="272402" y="5490811"/>
            <a:ext cx="685541" cy="2626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63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6342F-0C70-416F-F0A2-EAD9D5C3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에디터 제작에 필요한 내용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DF0AF-159C-3346-7925-FB4641B08467}"/>
              </a:ext>
            </a:extLst>
          </p:cNvPr>
          <p:cNvSpPr txBox="1"/>
          <p:nvPr/>
        </p:nvSpPr>
        <p:spPr>
          <a:xfrm>
            <a:off x="117988" y="1859339"/>
            <a:ext cx="104076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배치할 수 있는 클래스</a:t>
            </a:r>
            <a:r>
              <a:rPr lang="en-US" altLang="ko-KR" dirty="0"/>
              <a:t>(</a:t>
            </a:r>
            <a:r>
              <a:rPr lang="ko-KR" altLang="en-US" dirty="0" err="1"/>
              <a:t>게임오브젝트</a:t>
            </a:r>
            <a:r>
              <a:rPr lang="en-US" altLang="ko-KR" dirty="0"/>
              <a:t>/</a:t>
            </a:r>
            <a:r>
              <a:rPr lang="ko-KR" altLang="en-US" dirty="0" err="1"/>
              <a:t>프리팹</a:t>
            </a:r>
            <a:r>
              <a:rPr lang="en-US" altLang="ko-KR" dirty="0"/>
              <a:t>)</a:t>
            </a:r>
            <a:r>
              <a:rPr lang="ko-KR" altLang="en-US" dirty="0"/>
              <a:t>의 이름 목록 나열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클래스 이름으로 인스턴스 생성하기 </a:t>
            </a:r>
            <a:r>
              <a:rPr lang="en-US" altLang="ko-KR" dirty="0"/>
              <a:t>( Factory , RTTR</a:t>
            </a:r>
            <a:r>
              <a:rPr lang="ko-KR" altLang="en-US" dirty="0"/>
              <a:t>은 지원</a:t>
            </a:r>
            <a:r>
              <a:rPr lang="en-US" altLang="ko-KR" dirty="0"/>
              <a:t>)    </a:t>
            </a:r>
          </a:p>
          <a:p>
            <a:r>
              <a:rPr lang="en-US" altLang="ko-KR" dirty="0"/>
              <a:t>-  </a:t>
            </a:r>
            <a:r>
              <a:rPr lang="ko-KR" altLang="en-US" dirty="0"/>
              <a:t>오브젝트 멤버 변수의 저장</a:t>
            </a:r>
            <a:r>
              <a:rPr lang="en-US" altLang="ko-KR" dirty="0"/>
              <a:t>/</a:t>
            </a:r>
            <a:r>
              <a:rPr lang="ko-KR" altLang="en-US" dirty="0"/>
              <a:t>읽기 의 자동화된 대응  </a:t>
            </a:r>
            <a:r>
              <a:rPr lang="en-US" altLang="ko-KR" dirty="0"/>
              <a:t>( Serialize/Deserialize ) – Reflection </a:t>
            </a:r>
            <a:r>
              <a:rPr lang="ko-KR" altLang="en-US" dirty="0"/>
              <a:t>필요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에디터에서의 멤버 변수를 조작하는 입력</a:t>
            </a:r>
            <a:r>
              <a:rPr lang="en-US" altLang="ko-KR" dirty="0"/>
              <a:t>UI</a:t>
            </a:r>
            <a:r>
              <a:rPr lang="ko-KR" altLang="en-US" dirty="0"/>
              <a:t>의 자동화된 생성 </a:t>
            </a:r>
            <a:r>
              <a:rPr lang="en-US" altLang="ko-KR" dirty="0"/>
              <a:t>- Reflection </a:t>
            </a:r>
            <a:r>
              <a:rPr lang="ko-KR" altLang="en-US" dirty="0"/>
              <a:t>필요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3D </a:t>
            </a:r>
            <a:r>
              <a:rPr lang="ko-KR" altLang="en-US" dirty="0"/>
              <a:t>월드 오브젝트의 선택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73014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59C539FF-1702-C42E-8C30-4DF7C4C76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72532"/>
            <a:ext cx="8633562" cy="498266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6C20D38-31C7-1E11-1026-3C7E472A8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Factory </a:t>
            </a:r>
            <a:r>
              <a:rPr lang="ko-KR" altLang="en-US" dirty="0"/>
              <a:t>구현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BB6BC-77C9-44A6-3DE8-C07F9EBF6523}"/>
              </a:ext>
            </a:extLst>
          </p:cNvPr>
          <p:cNvSpPr txBox="1"/>
          <p:nvPr/>
        </p:nvSpPr>
        <p:spPr>
          <a:xfrm>
            <a:off x="4851400" y="2944211"/>
            <a:ext cx="3246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1. </a:t>
            </a:r>
            <a:r>
              <a:rPr lang="ko-KR" altLang="en-US" sz="1200" dirty="0">
                <a:solidFill>
                  <a:srgbClr val="FF0000"/>
                </a:solidFill>
              </a:rPr>
              <a:t>특정 게임 오브젝트를 생성하는 함수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27C1F-1104-D50A-08FF-EE74ED5F47FB}"/>
              </a:ext>
            </a:extLst>
          </p:cNvPr>
          <p:cNvSpPr txBox="1"/>
          <p:nvPr/>
        </p:nvSpPr>
        <p:spPr>
          <a:xfrm>
            <a:off x="4851400" y="3448447"/>
            <a:ext cx="3762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2. </a:t>
            </a:r>
            <a:r>
              <a:rPr lang="ko-KR" altLang="en-US" sz="1200" dirty="0">
                <a:solidFill>
                  <a:srgbClr val="FF0000"/>
                </a:solidFill>
              </a:rPr>
              <a:t>초기화 함수를 사용하여  아래의 전역 컨테이너에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  </a:t>
            </a:r>
            <a:r>
              <a:rPr lang="ko-KR" altLang="en-US" sz="1200" dirty="0">
                <a:solidFill>
                  <a:srgbClr val="FF0000"/>
                </a:solidFill>
              </a:rPr>
              <a:t>게임 오브젝트이름 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생성함수를 추가한다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5696E2-23E5-F35A-B205-4414F9B75669}"/>
              </a:ext>
            </a:extLst>
          </p:cNvPr>
          <p:cNvSpPr txBox="1"/>
          <p:nvPr/>
        </p:nvSpPr>
        <p:spPr>
          <a:xfrm>
            <a:off x="4851400" y="2328277"/>
            <a:ext cx="4333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0. </a:t>
            </a:r>
            <a:r>
              <a:rPr lang="ko-KR" altLang="en-US" sz="1200" dirty="0">
                <a:solidFill>
                  <a:srgbClr val="FF0000"/>
                </a:solidFill>
              </a:rPr>
              <a:t>게임 오브젝트 </a:t>
            </a:r>
            <a:r>
              <a:rPr lang="en-US" altLang="ko-KR" sz="1200" dirty="0">
                <a:solidFill>
                  <a:srgbClr val="FF0000"/>
                </a:solidFill>
              </a:rPr>
              <a:t>CPP</a:t>
            </a:r>
            <a:r>
              <a:rPr lang="ko-KR" altLang="en-US" sz="1200" dirty="0">
                <a:solidFill>
                  <a:srgbClr val="FF0000"/>
                </a:solidFill>
              </a:rPr>
              <a:t>파일에서 매크로를 사용하면 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  </a:t>
            </a:r>
            <a:r>
              <a:rPr lang="ko-KR" altLang="en-US" sz="1200" dirty="0">
                <a:solidFill>
                  <a:srgbClr val="FF0000"/>
                </a:solidFill>
              </a:rPr>
              <a:t>생성 함수 코드와 </a:t>
            </a:r>
            <a:r>
              <a:rPr lang="en-US" altLang="ko-KR" sz="1200" dirty="0">
                <a:solidFill>
                  <a:srgbClr val="FF0000"/>
                </a:solidFill>
              </a:rPr>
              <a:t>bool </a:t>
            </a:r>
            <a:r>
              <a:rPr lang="ko-KR" altLang="en-US" sz="1200" dirty="0">
                <a:solidFill>
                  <a:srgbClr val="FF0000"/>
                </a:solidFill>
              </a:rPr>
              <a:t>변수를 초기화하는 코드가 작성됨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F87158-649B-08B8-BC76-634BEAD4CE78}"/>
              </a:ext>
            </a:extLst>
          </p:cNvPr>
          <p:cNvSpPr txBox="1"/>
          <p:nvPr/>
        </p:nvSpPr>
        <p:spPr>
          <a:xfrm>
            <a:off x="4502215" y="6354375"/>
            <a:ext cx="4017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* </a:t>
            </a:r>
            <a:r>
              <a:rPr lang="ko-KR" altLang="en-US" sz="1200" dirty="0">
                <a:solidFill>
                  <a:srgbClr val="FF0000"/>
                </a:solidFill>
              </a:rPr>
              <a:t>툴을 만든다면 이 컨테이너 </a:t>
            </a:r>
            <a:r>
              <a:rPr lang="ko-KR" altLang="en-US" sz="1200" dirty="0" err="1">
                <a:solidFill>
                  <a:srgbClr val="FF0000"/>
                </a:solidFill>
              </a:rPr>
              <a:t>키값으로</a:t>
            </a:r>
            <a:r>
              <a:rPr lang="ko-KR" altLang="en-US" sz="1200" dirty="0">
                <a:solidFill>
                  <a:srgbClr val="FF0000"/>
                </a:solidFill>
              </a:rPr>
              <a:t> 목록을 보여준다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DDDED90-BEAA-993E-4E71-75E2D4A09497}"/>
              </a:ext>
            </a:extLst>
          </p:cNvPr>
          <p:cNvGrpSpPr/>
          <p:nvPr/>
        </p:nvGrpSpPr>
        <p:grpSpPr>
          <a:xfrm>
            <a:off x="3631450" y="6273370"/>
            <a:ext cx="3259800" cy="407160"/>
            <a:chOff x="3631450" y="6273370"/>
            <a:chExt cx="325980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1AF65281-3319-514C-B68B-C722F9CB7608}"/>
                    </a:ext>
                  </a:extLst>
                </p14:cNvPr>
                <p14:cNvContentPartPr/>
                <p14:nvPr/>
              </p14:nvContentPartPr>
              <p14:xfrm>
                <a:off x="6578410" y="6531850"/>
                <a:ext cx="312840" cy="900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1AF65281-3319-514C-B68B-C722F9CB760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69410" y="6523210"/>
                  <a:ext cx="330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7B99DAD-21BA-A7FA-2D7F-BE54541D5927}"/>
                    </a:ext>
                  </a:extLst>
                </p14:cNvPr>
                <p14:cNvContentPartPr/>
                <p14:nvPr/>
              </p14:nvContentPartPr>
              <p14:xfrm>
                <a:off x="3631450" y="6277330"/>
                <a:ext cx="3029760" cy="40320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7B99DAD-21BA-A7FA-2D7F-BE54541D592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22810" y="6268330"/>
                  <a:ext cx="304740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A18DB74-8B95-86DE-EE9F-AFA1E2828157}"/>
                    </a:ext>
                  </a:extLst>
                </p14:cNvPr>
                <p14:cNvContentPartPr/>
                <p14:nvPr/>
              </p14:nvContentPartPr>
              <p14:xfrm>
                <a:off x="3663850" y="6273370"/>
                <a:ext cx="71640" cy="298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A18DB74-8B95-86DE-EE9F-AFA1E282815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54850" y="6264730"/>
                  <a:ext cx="89280" cy="4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6446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E9751F-22E8-A405-3AA4-57B39477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Factory</a:t>
            </a:r>
            <a:r>
              <a:rPr lang="ko-KR" altLang="en-US" dirty="0"/>
              <a:t>에 클래스 등록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11268B-80EB-A1E9-AC12-8D98F70FD8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747"/>
          <a:stretch/>
        </p:blipFill>
        <p:spPr>
          <a:xfrm>
            <a:off x="231111" y="2836967"/>
            <a:ext cx="6464099" cy="32367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36231C-3920-0CC8-AFFD-A9F1F8F499DA}"/>
              </a:ext>
            </a:extLst>
          </p:cNvPr>
          <p:cNvSpPr txBox="1"/>
          <p:nvPr/>
        </p:nvSpPr>
        <p:spPr>
          <a:xfrm>
            <a:off x="231111" y="1566887"/>
            <a:ext cx="1155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Main</a:t>
            </a:r>
            <a:r>
              <a:rPr lang="ko-KR" altLang="en-US" dirty="0"/>
              <a:t>이전에 실행하는 전역 변수 초기화 함수를 통해 등록한다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2365DD3-EF76-4FEF-9790-BFAC3E092D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1968"/>
          <a:stretch/>
        </p:blipFill>
        <p:spPr>
          <a:xfrm>
            <a:off x="2839064" y="2136402"/>
            <a:ext cx="8849033" cy="8406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25858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8C7A0-AE76-5834-2110-FDDA6E9F0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Factory </a:t>
            </a:r>
            <a:r>
              <a:rPr lang="ko-KR" altLang="en-US" dirty="0"/>
              <a:t>사용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88BD1-657A-1432-3721-4F009C5E23FB}"/>
              </a:ext>
            </a:extLst>
          </p:cNvPr>
          <p:cNvSpPr txBox="1"/>
          <p:nvPr/>
        </p:nvSpPr>
        <p:spPr>
          <a:xfrm>
            <a:off x="641350" y="1593850"/>
            <a:ext cx="10399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엔진 내부에서 구체적인 클래스를 직접 사용한다면 다른 프로젝트의 클래스는 생성할 수 없으므로</a:t>
            </a:r>
            <a:endParaRPr lang="en-US" altLang="ko-KR" dirty="0"/>
          </a:p>
          <a:p>
            <a:r>
              <a:rPr lang="ko-KR" altLang="en-US" dirty="0"/>
              <a:t>이름으로 생성함수를 호출하는 방식을 사용한다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C11F29C-42E1-3B5A-766D-9826251E69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568" b="30462"/>
          <a:stretch/>
        </p:blipFill>
        <p:spPr>
          <a:xfrm>
            <a:off x="5650377" y="3177375"/>
            <a:ext cx="6265192" cy="25406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9202CF-6D58-EED4-C97F-726C4CC5D639}"/>
              </a:ext>
            </a:extLst>
          </p:cNvPr>
          <p:cNvSpPr txBox="1"/>
          <p:nvPr/>
        </p:nvSpPr>
        <p:spPr>
          <a:xfrm>
            <a:off x="641350" y="3177375"/>
            <a:ext cx="390844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Scene::</a:t>
            </a:r>
            <a:r>
              <a:rPr lang="en-US" altLang="ko-KR" sz="1400" dirty="0" err="1"/>
              <a:t>SerializeIn</a:t>
            </a:r>
            <a:r>
              <a:rPr lang="en-US" altLang="ko-KR" sz="1400" dirty="0"/>
              <a:t>()</a:t>
            </a:r>
          </a:p>
          <a:p>
            <a:r>
              <a:rPr lang="en-US" altLang="ko-KR" sz="1400" dirty="0"/>
              <a:t>{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If (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 == “</a:t>
            </a:r>
            <a:r>
              <a:rPr lang="en-US" altLang="ko-KR" sz="1400" dirty="0" err="1"/>
              <a:t>BitmapGameObject</a:t>
            </a:r>
            <a:r>
              <a:rPr lang="en-US" altLang="ko-KR" sz="1400" dirty="0"/>
              <a:t>”)</a:t>
            </a:r>
          </a:p>
          <a:p>
            <a:r>
              <a:rPr lang="en-US" altLang="ko-KR" sz="1400" dirty="0"/>
              <a:t>         </a:t>
            </a:r>
            <a:r>
              <a:rPr lang="en-US" altLang="ko-KR" sz="1400" dirty="0" err="1"/>
              <a:t>CreateObject</a:t>
            </a:r>
            <a:r>
              <a:rPr lang="en-US" altLang="ko-KR" sz="1400" dirty="0"/>
              <a:t>&lt;</a:t>
            </a:r>
            <a:r>
              <a:rPr lang="en-US" altLang="ko-KR" sz="1400" dirty="0" err="1"/>
              <a:t>BitmapGameObject</a:t>
            </a:r>
            <a:r>
              <a:rPr lang="en-US" altLang="ko-KR" sz="1400" dirty="0"/>
              <a:t>&gt;();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else if (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 == “AAAA”)</a:t>
            </a:r>
          </a:p>
          <a:p>
            <a:r>
              <a:rPr lang="en-US" altLang="ko-KR" sz="1400" dirty="0"/>
              <a:t>         </a:t>
            </a:r>
            <a:r>
              <a:rPr lang="en-US" altLang="ko-KR" sz="1400" dirty="0" err="1"/>
              <a:t>CreateObject</a:t>
            </a:r>
            <a:r>
              <a:rPr lang="en-US" altLang="ko-KR" sz="1400" dirty="0"/>
              <a:t>&lt;“AAAA”&gt;();</a:t>
            </a:r>
          </a:p>
          <a:p>
            <a:endParaRPr lang="en-US" altLang="ko-KR" sz="1400" dirty="0"/>
          </a:p>
          <a:p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r>
              <a:rPr lang="ko-KR" altLang="en-US" sz="1400" dirty="0"/>
              <a:t>엔진 프로젝트의 게임 오브젝트만 생성 가능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82D71F6-4D1D-6857-1CFC-8A6841E33E2F}"/>
              </a:ext>
            </a:extLst>
          </p:cNvPr>
          <p:cNvCxnSpPr/>
          <p:nvPr/>
        </p:nvCxnSpPr>
        <p:spPr>
          <a:xfrm>
            <a:off x="4929976" y="4526408"/>
            <a:ext cx="49995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73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2E277-B158-6ECD-57FB-92832931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자동화된 </a:t>
            </a:r>
            <a:r>
              <a:rPr lang="ko-KR" altLang="en-US" dirty="0" err="1"/>
              <a:t>인스펙터의</a:t>
            </a:r>
            <a:r>
              <a:rPr lang="ko-KR" altLang="en-US" dirty="0"/>
              <a:t> 입력 </a:t>
            </a:r>
            <a:r>
              <a:rPr lang="en-US" altLang="ko-KR" dirty="0"/>
              <a:t>UI </a:t>
            </a:r>
            <a:endParaRPr lang="ko-KR" altLang="en-US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58E08-42E2-17C7-5FC4-5D64EFD3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50" y="2714735"/>
            <a:ext cx="3658111" cy="3172268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720CBF-9FFF-7907-55B7-3E7E9EEA5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028" y="1860697"/>
            <a:ext cx="3760821" cy="4880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5C78ED-2F82-EDEB-56C7-C4E2F65252F9}"/>
              </a:ext>
            </a:extLst>
          </p:cNvPr>
          <p:cNvSpPr txBox="1"/>
          <p:nvPr/>
        </p:nvSpPr>
        <p:spPr>
          <a:xfrm>
            <a:off x="512965" y="1730334"/>
            <a:ext cx="4435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클래스 멤버변수가 바뀌어도 등록된 모든</a:t>
            </a:r>
            <a:endParaRPr lang="en-US" altLang="ko-KR" dirty="0"/>
          </a:p>
          <a:p>
            <a:r>
              <a:rPr lang="ko-KR" altLang="en-US" dirty="0"/>
              <a:t>프로퍼티를 조회하므로 자동 대응된다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306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02DC7-5FBC-CDE2-3AF8-9E0E0D75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자동화된 </a:t>
            </a:r>
            <a:r>
              <a:rPr lang="en-US" altLang="ko-KR" dirty="0"/>
              <a:t>Serialize </a:t>
            </a:r>
            <a:r>
              <a:rPr lang="ko-KR" altLang="en-US" dirty="0"/>
              <a:t>대응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546FDF-62A7-B2E9-AFC3-D90AF4E34B68}"/>
              </a:ext>
            </a:extLst>
          </p:cNvPr>
          <p:cNvSpPr txBox="1"/>
          <p:nvPr/>
        </p:nvSpPr>
        <p:spPr>
          <a:xfrm>
            <a:off x="309966" y="1690688"/>
            <a:ext cx="10864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ko-KR" altLang="en-US" dirty="0"/>
              <a:t>직렬화</a:t>
            </a:r>
            <a:r>
              <a:rPr lang="en-US" altLang="ko-KR" dirty="0"/>
              <a:t>(Serialize)</a:t>
            </a:r>
            <a:r>
              <a:rPr lang="ko-KR" altLang="en-US" dirty="0"/>
              <a:t>란 객체의 상태를 파일이나 네트워크로 저장하거나 전송하기 위해 선형</a:t>
            </a:r>
            <a:r>
              <a:rPr lang="en-US" altLang="ko-KR" dirty="0"/>
              <a:t>(</a:t>
            </a:r>
            <a:r>
              <a:rPr lang="ko-KR" altLang="en-US" dirty="0"/>
              <a:t>순서가 있는</a:t>
            </a:r>
            <a:r>
              <a:rPr lang="en-US" altLang="ko-KR" dirty="0"/>
              <a:t>)</a:t>
            </a:r>
            <a:r>
              <a:rPr lang="ko-KR" altLang="en-US" dirty="0"/>
              <a:t> 데이터 형태 로 변환하는 과정이다</a:t>
            </a:r>
            <a:r>
              <a:rPr lang="en-US" altLang="ko-KR" dirty="0"/>
              <a:t>. </a:t>
            </a:r>
            <a:r>
              <a:rPr lang="ko-KR" altLang="en-US" dirty="0" err="1"/>
              <a:t>리플렉션을</a:t>
            </a:r>
            <a:r>
              <a:rPr lang="ko-KR" altLang="en-US" dirty="0"/>
              <a:t> 사용하면 객체의 멤버 정보를 런타임에 조회할 수 있기 때문에</a:t>
            </a:r>
            <a:r>
              <a:rPr lang="en-US" altLang="ko-KR" dirty="0"/>
              <a:t>, </a:t>
            </a:r>
            <a:r>
              <a:rPr lang="ko-KR" altLang="en-US" dirty="0"/>
              <a:t>각 멤버를 개별적으로 처리하지 않아도 직렬화</a:t>
            </a:r>
            <a:r>
              <a:rPr lang="en-US" altLang="ko-KR" dirty="0"/>
              <a:t>/</a:t>
            </a:r>
            <a:r>
              <a:rPr lang="ko-KR" altLang="en-US" dirty="0"/>
              <a:t>역직렬화를 자동화할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981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화살표: 아래로 구부러짐 45">
            <a:extLst>
              <a:ext uri="{FF2B5EF4-FFF2-40B4-BE49-F238E27FC236}">
                <a16:creationId xmlns:a16="http://schemas.microsoft.com/office/drawing/2014/main" id="{63DB6545-DAE4-D257-766A-996AD3421C3F}"/>
              </a:ext>
            </a:extLst>
          </p:cNvPr>
          <p:cNvSpPr/>
          <p:nvPr/>
        </p:nvSpPr>
        <p:spPr>
          <a:xfrm>
            <a:off x="4906885" y="2931636"/>
            <a:ext cx="1945037" cy="429999"/>
          </a:xfrm>
          <a:prstGeom prst="curved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화살표: 아래로 구부러짐 44">
            <a:extLst>
              <a:ext uri="{FF2B5EF4-FFF2-40B4-BE49-F238E27FC236}">
                <a16:creationId xmlns:a16="http://schemas.microsoft.com/office/drawing/2014/main" id="{8CE9784D-476D-FC84-64E0-9E278A1B43D7}"/>
              </a:ext>
            </a:extLst>
          </p:cNvPr>
          <p:cNvSpPr/>
          <p:nvPr/>
        </p:nvSpPr>
        <p:spPr>
          <a:xfrm>
            <a:off x="2775032" y="2934756"/>
            <a:ext cx="1945037" cy="429999"/>
          </a:xfrm>
          <a:prstGeom prst="curved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화살표: 아래로 구부러짐 42">
            <a:extLst>
              <a:ext uri="{FF2B5EF4-FFF2-40B4-BE49-F238E27FC236}">
                <a16:creationId xmlns:a16="http://schemas.microsoft.com/office/drawing/2014/main" id="{0EF3BAB6-C6AC-3EC8-1CAE-55BCBD62C463}"/>
              </a:ext>
            </a:extLst>
          </p:cNvPr>
          <p:cNvSpPr/>
          <p:nvPr/>
        </p:nvSpPr>
        <p:spPr>
          <a:xfrm>
            <a:off x="643179" y="2948631"/>
            <a:ext cx="1945037" cy="429999"/>
          </a:xfrm>
          <a:prstGeom prst="curved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B461E6-9E80-F613-C13E-501A9913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3D Picking Ray </a:t>
            </a:r>
            <a:r>
              <a:rPr lang="ko-KR" altLang="en-US" dirty="0"/>
              <a:t>만들기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7FD5C2-422E-0F38-7A04-500C0BEB3A9E}"/>
              </a:ext>
            </a:extLst>
          </p:cNvPr>
          <p:cNvSpPr txBox="1"/>
          <p:nvPr/>
        </p:nvSpPr>
        <p:spPr>
          <a:xfrm>
            <a:off x="193730" y="3479369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Local Space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B42545-27E6-3ED5-6846-DA836B04388D}"/>
              </a:ext>
            </a:extLst>
          </p:cNvPr>
          <p:cNvSpPr txBox="1"/>
          <p:nvPr/>
        </p:nvSpPr>
        <p:spPr>
          <a:xfrm>
            <a:off x="1895960" y="3479369"/>
            <a:ext cx="1507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World Space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DA413D-8AFD-4CEE-78DA-26522C28C11B}"/>
              </a:ext>
            </a:extLst>
          </p:cNvPr>
          <p:cNvSpPr txBox="1"/>
          <p:nvPr/>
        </p:nvSpPr>
        <p:spPr>
          <a:xfrm>
            <a:off x="3582692" y="3479369"/>
            <a:ext cx="1673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Camera Space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FB2B7-355C-77BD-58EF-095759A446BF}"/>
              </a:ext>
            </a:extLst>
          </p:cNvPr>
          <p:cNvSpPr txBox="1"/>
          <p:nvPr/>
        </p:nvSpPr>
        <p:spPr>
          <a:xfrm>
            <a:off x="5501898" y="3479369"/>
            <a:ext cx="2459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Projection(Clip) Space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8ABD87-263C-C4B7-5EAA-D94B3FF8E58F}"/>
              </a:ext>
            </a:extLst>
          </p:cNvPr>
          <p:cNvSpPr txBox="1"/>
          <p:nvPr/>
        </p:nvSpPr>
        <p:spPr>
          <a:xfrm>
            <a:off x="8792704" y="3479369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NDC 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747829-B15C-A1F3-11C5-1D7B6F9944E4}"/>
              </a:ext>
            </a:extLst>
          </p:cNvPr>
          <p:cNvSpPr txBox="1"/>
          <p:nvPr/>
        </p:nvSpPr>
        <p:spPr>
          <a:xfrm>
            <a:off x="10155913" y="3479369"/>
            <a:ext cx="1571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Screen Space</a:t>
            </a:r>
          </a:p>
          <a:p>
            <a:r>
              <a:rPr lang="en-US" altLang="ko-KR" dirty="0"/>
              <a:t>(</a:t>
            </a:r>
            <a:r>
              <a:rPr lang="en-US" altLang="ko-KR" dirty="0" err="1"/>
              <a:t>ViewPort</a:t>
            </a:r>
            <a:r>
              <a:rPr lang="en-US" altLang="ko-KR" dirty="0"/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C591B6-60DB-B39D-7BC3-A3D29B0BBA48}"/>
              </a:ext>
            </a:extLst>
          </p:cNvPr>
          <p:cNvSpPr txBox="1"/>
          <p:nvPr/>
        </p:nvSpPr>
        <p:spPr>
          <a:xfrm>
            <a:off x="829995" y="2880810"/>
            <a:ext cx="1552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World Matrix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959596-6788-8BA6-DFFA-746748975D1F}"/>
              </a:ext>
            </a:extLst>
          </p:cNvPr>
          <p:cNvSpPr txBox="1"/>
          <p:nvPr/>
        </p:nvSpPr>
        <p:spPr>
          <a:xfrm>
            <a:off x="2980777" y="2889249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View Matrix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6FAFE4-8249-74FB-8763-AD0426FAC8E6}"/>
              </a:ext>
            </a:extLst>
          </p:cNvPr>
          <p:cNvSpPr txBox="1"/>
          <p:nvPr/>
        </p:nvSpPr>
        <p:spPr>
          <a:xfrm>
            <a:off x="4795400" y="2884557"/>
            <a:ext cx="196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Projection Matrix</a:t>
            </a:r>
            <a:endParaRPr lang="ko-KR" altLang="en-US" dirty="0"/>
          </a:p>
        </p:txBody>
      </p:sp>
      <p:sp>
        <p:nvSpPr>
          <p:cNvPr id="47" name="화살표: 아래로 구부러짐 46">
            <a:extLst>
              <a:ext uri="{FF2B5EF4-FFF2-40B4-BE49-F238E27FC236}">
                <a16:creationId xmlns:a16="http://schemas.microsoft.com/office/drawing/2014/main" id="{F4C5E331-9D52-BC7D-DEA9-351B6914812F}"/>
              </a:ext>
            </a:extLst>
          </p:cNvPr>
          <p:cNvSpPr/>
          <p:nvPr/>
        </p:nvSpPr>
        <p:spPr>
          <a:xfrm>
            <a:off x="7107521" y="2953192"/>
            <a:ext cx="1945037" cy="429999"/>
          </a:xfrm>
          <a:prstGeom prst="curved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화살표: 아래로 구부러짐 47">
            <a:extLst>
              <a:ext uri="{FF2B5EF4-FFF2-40B4-BE49-F238E27FC236}">
                <a16:creationId xmlns:a16="http://schemas.microsoft.com/office/drawing/2014/main" id="{504D066A-BA4A-841D-3456-BB30900CB29D}"/>
              </a:ext>
            </a:extLst>
          </p:cNvPr>
          <p:cNvSpPr/>
          <p:nvPr/>
        </p:nvSpPr>
        <p:spPr>
          <a:xfrm>
            <a:off x="9239374" y="2940158"/>
            <a:ext cx="1945037" cy="429999"/>
          </a:xfrm>
          <a:prstGeom prst="curved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571560-D4CD-EF4C-79D2-4D4F076B76F3}"/>
              </a:ext>
            </a:extLst>
          </p:cNvPr>
          <p:cNvSpPr txBox="1"/>
          <p:nvPr/>
        </p:nvSpPr>
        <p:spPr>
          <a:xfrm>
            <a:off x="7067961" y="2857014"/>
            <a:ext cx="2078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perspective divide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F54774-EA0D-59FD-34B3-84C5BFD56A1A}"/>
              </a:ext>
            </a:extLst>
          </p:cNvPr>
          <p:cNvSpPr txBox="1"/>
          <p:nvPr/>
        </p:nvSpPr>
        <p:spPr>
          <a:xfrm>
            <a:off x="7798163" y="2069526"/>
            <a:ext cx="4592730" cy="53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SV_Position.x</a:t>
            </a:r>
            <a:r>
              <a:rPr lang="en-US" altLang="ko-KR" sz="1400" dirty="0"/>
              <a:t> = (</a:t>
            </a:r>
            <a:r>
              <a:rPr lang="en-US" altLang="ko-KR" sz="1400" dirty="0" err="1"/>
              <a:t>x_ndc</a:t>
            </a:r>
            <a:r>
              <a:rPr lang="en-US" altLang="ko-KR" sz="1400" dirty="0"/>
              <a:t> + 1) * (Width / 2) + </a:t>
            </a:r>
            <a:r>
              <a:rPr lang="en-US" altLang="ko-KR" sz="1400" dirty="0" err="1"/>
              <a:t>TopLeftX</a:t>
            </a:r>
            <a:endParaRPr lang="en-US" altLang="ko-KR" sz="1400" dirty="0"/>
          </a:p>
          <a:p>
            <a:r>
              <a:rPr lang="en-US" altLang="ko-KR" sz="1400" dirty="0" err="1"/>
              <a:t>SV_Position.y</a:t>
            </a:r>
            <a:r>
              <a:rPr lang="en-US" altLang="ko-KR" sz="1400" dirty="0"/>
              <a:t> = (1 - </a:t>
            </a:r>
            <a:r>
              <a:rPr lang="en-US" altLang="ko-KR" sz="1400" dirty="0" err="1"/>
              <a:t>y_ndc</a:t>
            </a:r>
            <a:r>
              <a:rPr lang="en-US" altLang="ko-KR" sz="1400" dirty="0"/>
              <a:t>) * (Height / 2) + </a:t>
            </a:r>
            <a:r>
              <a:rPr lang="en-US" altLang="ko-KR" sz="1400" dirty="0" err="1"/>
              <a:t>TopLeftY</a:t>
            </a:r>
            <a:endParaRPr lang="en-US" altLang="ko-KR" sz="1400" dirty="0"/>
          </a:p>
        </p:txBody>
      </p:sp>
      <p:sp>
        <p:nvSpPr>
          <p:cNvPr id="55" name="화살표: 아래로 구부러짐 54">
            <a:extLst>
              <a:ext uri="{FF2B5EF4-FFF2-40B4-BE49-F238E27FC236}">
                <a16:creationId xmlns:a16="http://schemas.microsoft.com/office/drawing/2014/main" id="{D3B12E7D-D692-6676-A8B1-B91AC118CBB1}"/>
              </a:ext>
            </a:extLst>
          </p:cNvPr>
          <p:cNvSpPr/>
          <p:nvPr/>
        </p:nvSpPr>
        <p:spPr>
          <a:xfrm flipH="1" flipV="1">
            <a:off x="9145965" y="4234912"/>
            <a:ext cx="2014841" cy="437014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화살표: 아래로 구부러짐 55">
            <a:extLst>
              <a:ext uri="{FF2B5EF4-FFF2-40B4-BE49-F238E27FC236}">
                <a16:creationId xmlns:a16="http://schemas.microsoft.com/office/drawing/2014/main" id="{A06C72D1-4018-4FDD-0308-619B92949499}"/>
              </a:ext>
            </a:extLst>
          </p:cNvPr>
          <p:cNvSpPr/>
          <p:nvPr/>
        </p:nvSpPr>
        <p:spPr>
          <a:xfrm flipH="1" flipV="1">
            <a:off x="2546800" y="4206416"/>
            <a:ext cx="6464342" cy="665055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642B6B-FF65-E3B4-58E7-CF7CCF77AF54}"/>
              </a:ext>
            </a:extLst>
          </p:cNvPr>
          <p:cNvSpPr txBox="1"/>
          <p:nvPr/>
        </p:nvSpPr>
        <p:spPr>
          <a:xfrm>
            <a:off x="3996805" y="4671926"/>
            <a:ext cx="355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1) </a:t>
            </a:r>
            <a:r>
              <a:rPr lang="en-US" altLang="ko-KR" dirty="0" err="1"/>
              <a:t>ViewProjection</a:t>
            </a:r>
            <a:r>
              <a:rPr lang="en-US" altLang="ko-KR" dirty="0"/>
              <a:t> Inverse Matrix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917012-51B9-2EC8-2D20-803B0845D92F}"/>
              </a:ext>
            </a:extLst>
          </p:cNvPr>
          <p:cNvSpPr txBox="1"/>
          <p:nvPr/>
        </p:nvSpPr>
        <p:spPr>
          <a:xfrm>
            <a:off x="838200" y="1690688"/>
            <a:ext cx="781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마우스 클릭한 좌표로 월드상의 화면의 점에서 시작하는 반직선을 만든다</a:t>
            </a:r>
            <a:r>
              <a:rPr lang="en-US" altLang="ko-KR" dirty="0"/>
              <a:t>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4AB2FD-435B-B2FA-EEEA-CE19A0234458}"/>
              </a:ext>
            </a:extLst>
          </p:cNvPr>
          <p:cNvSpPr txBox="1"/>
          <p:nvPr/>
        </p:nvSpPr>
        <p:spPr>
          <a:xfrm>
            <a:off x="3996805" y="5100758"/>
            <a:ext cx="2356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2) perspective divide</a:t>
            </a:r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992FFB1-B74B-7085-56D5-FD17234D6722}"/>
              </a:ext>
            </a:extLst>
          </p:cNvPr>
          <p:cNvSpPr/>
          <p:nvPr/>
        </p:nvSpPr>
        <p:spPr>
          <a:xfrm>
            <a:off x="8415580" y="5470090"/>
            <a:ext cx="1053884" cy="9539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DA0DBB6-D4EE-243A-FD45-21D553ECEC2D}"/>
              </a:ext>
            </a:extLst>
          </p:cNvPr>
          <p:cNvSpPr/>
          <p:nvPr/>
        </p:nvSpPr>
        <p:spPr>
          <a:xfrm>
            <a:off x="8712432" y="4957155"/>
            <a:ext cx="1053884" cy="9539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56A4CCF-9A2A-BAAC-972D-3FA79F2DBF1F}"/>
              </a:ext>
            </a:extLst>
          </p:cNvPr>
          <p:cNvSpPr/>
          <p:nvPr/>
        </p:nvSpPr>
        <p:spPr>
          <a:xfrm>
            <a:off x="8557449" y="5742122"/>
            <a:ext cx="75107" cy="85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92E81653-59FD-4C72-CA72-33B47F03D9DC}"/>
              </a:ext>
            </a:extLst>
          </p:cNvPr>
          <p:cNvSpPr/>
          <p:nvPr/>
        </p:nvSpPr>
        <p:spPr>
          <a:xfrm>
            <a:off x="8841583" y="5127939"/>
            <a:ext cx="75107" cy="85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E6524B-F5E5-F6FC-1683-F89F60AEB460}"/>
              </a:ext>
            </a:extLst>
          </p:cNvPr>
          <p:cNvSpPr txBox="1"/>
          <p:nvPr/>
        </p:nvSpPr>
        <p:spPr>
          <a:xfrm>
            <a:off x="9546436" y="6338986"/>
            <a:ext cx="542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near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C8C4B4-7FF2-021A-6355-234BBB14F2DC}"/>
              </a:ext>
            </a:extLst>
          </p:cNvPr>
          <p:cNvSpPr txBox="1"/>
          <p:nvPr/>
        </p:nvSpPr>
        <p:spPr>
          <a:xfrm>
            <a:off x="9750145" y="5508183"/>
            <a:ext cx="397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far</a:t>
            </a:r>
            <a:endParaRPr lang="ko-KR" altLang="en-US" sz="1400" dirty="0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9378F8ED-ECDA-51F8-AB69-F579B74BB001}"/>
              </a:ext>
            </a:extLst>
          </p:cNvPr>
          <p:cNvSpPr/>
          <p:nvPr/>
        </p:nvSpPr>
        <p:spPr>
          <a:xfrm>
            <a:off x="2905670" y="5760558"/>
            <a:ext cx="75107" cy="85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816FF444-8B73-D8FA-2682-8B74DCCF31F1}"/>
              </a:ext>
            </a:extLst>
          </p:cNvPr>
          <p:cNvSpPr/>
          <p:nvPr/>
        </p:nvSpPr>
        <p:spPr>
          <a:xfrm>
            <a:off x="3189804" y="5146375"/>
            <a:ext cx="75107" cy="85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E81EA6A7-0F4B-21B4-3E85-F3352CA77578}"/>
              </a:ext>
            </a:extLst>
          </p:cNvPr>
          <p:cNvCxnSpPr>
            <a:cxnSpLocks/>
            <a:endCxn id="69" idx="3"/>
          </p:cNvCxnSpPr>
          <p:nvPr/>
        </p:nvCxnSpPr>
        <p:spPr>
          <a:xfrm flipV="1">
            <a:off x="2968399" y="5219510"/>
            <a:ext cx="232404" cy="5067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9698AC8-2505-E692-4598-C5E90B391428}"/>
              </a:ext>
            </a:extLst>
          </p:cNvPr>
          <p:cNvSpPr txBox="1"/>
          <p:nvPr/>
        </p:nvSpPr>
        <p:spPr>
          <a:xfrm>
            <a:off x="2258894" y="6154320"/>
            <a:ext cx="1487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시작점과 방향</a:t>
            </a:r>
          </a:p>
        </p:txBody>
      </p:sp>
    </p:spTree>
    <p:extLst>
      <p:ext uri="{BB962C8B-B14F-4D97-AF65-F5344CB8AC3E}">
        <p14:creationId xmlns:p14="http://schemas.microsoft.com/office/powerpoint/2010/main" val="3672647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115321</TotalTime>
  <Words>822</Words>
  <Application>Microsoft Office PowerPoint</Application>
  <PresentationFormat>와이드스크린</PresentationFormat>
  <Paragraphs>118</Paragraphs>
  <Slides>12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맑은 고딕</vt:lpstr>
      <vt:lpstr>Office 테마</vt:lpstr>
      <vt:lpstr>레벨 에디터</vt:lpstr>
      <vt:lpstr>학습목표</vt:lpstr>
      <vt:lpstr>Reflection</vt:lpstr>
      <vt:lpstr>RTTR (Run Time Type Reflection)</vt:lpstr>
      <vt:lpstr>언리얼 프로퍼티 시스템 (Reflection)</vt:lpstr>
      <vt:lpstr>에디터 제작에 필요한 내용</vt:lpstr>
      <vt:lpstr>Factory 구현</vt:lpstr>
      <vt:lpstr>Factory에 클래스 등록</vt:lpstr>
      <vt:lpstr>Factory 사용</vt:lpstr>
      <vt:lpstr>자동화된 인스펙터의 입력 UI </vt:lpstr>
      <vt:lpstr>자동화된 Serialize 대응</vt:lpstr>
      <vt:lpstr>3D Picking Ray 만들기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언리얼4 블루프린트</dc:title>
  <dc:creator>이 동원</dc:creator>
  <cp:lastModifiedBy>Dongwon Lee</cp:lastModifiedBy>
  <cp:revision>6100</cp:revision>
  <dcterms:created xsi:type="dcterms:W3CDTF">2020-03-21T06:11:26Z</dcterms:created>
  <dcterms:modified xsi:type="dcterms:W3CDTF">2025-12-28T19:53:03Z</dcterms:modified>
</cp:coreProperties>
</file>