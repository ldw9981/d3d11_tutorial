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86" r:id="rId4"/>
    <p:sldId id="276" r:id="rId5"/>
    <p:sldId id="261" r:id="rId6"/>
    <p:sldId id="262" r:id="rId7"/>
    <p:sldId id="292" r:id="rId8"/>
    <p:sldId id="282" r:id="rId9"/>
    <p:sldId id="278" r:id="rId10"/>
    <p:sldId id="290" r:id="rId11"/>
    <p:sldId id="291" r:id="rId12"/>
    <p:sldId id="281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8DF17E-EA34-0446-C0CD-BBAB58A4CD7C}" name="동원 이" initials="동이" userId="5a98e330f125285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5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0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D1825-3C4F-7D6F-C55E-88BF84936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7AB09C-4C82-0639-0FF2-2DA72A11B6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A90607-C8F1-71C9-F403-3A8119CD0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357111-3A55-E36A-443B-A6961665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980C80-D2DA-B035-2249-C94ABC7F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804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4FE87-F0BA-5925-986A-4CEB6D63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1E77AB-0CAE-8A55-5F66-923E50E5B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0AC4C-3D80-0182-951A-ABBE6A39B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13AD01-E358-42DF-D401-4E0936593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59F38D-A0B9-7720-EE8B-E9A6619AA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684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D2F9E-6D59-0ECB-2EC7-EC9795B03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8E866E-CAC3-988A-D732-EB6858274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EBD76A-5AF8-64E6-5DCB-0469C6F11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7CDDC4-762A-3579-516E-F0F1AD954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2B1765-AFEC-9F83-BD5E-99C6D14E7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069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22E62-F82B-DA74-B9F5-3BEC1C75F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C7A3A4-1A92-D0B0-AF6A-F32579192B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221C9A-74F4-315F-E3C4-AB08450DC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659352-C2E4-51BA-E1BB-06B16A53D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2AC1B3-85E5-BFF0-3D3F-B807F9EBE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EB6B50-5DCC-8528-E425-70B55CEF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835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DC162F-2CEF-E8A6-2FDE-46533DA90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0A0942-A3D3-53D6-8392-DD38D2E89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F56AD4-473E-0F25-9D3B-6C1B9EE23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37701FF-66B3-AF63-3AB4-0E0EB1DEE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8F5FE4F-9735-BE79-8D7B-121CF37BFD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677A78-8EDC-5F13-3F48-3E35DD5BD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906C54D-E948-F03B-E960-C6B04CD05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56FB193-B324-DEFD-BC34-CC17B11A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13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99500-A972-6881-90AC-2DEA88098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9A5872C-85C2-A38C-146D-54B3BE71C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04D13B-078C-C5FF-B382-DC0408673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AC6AB1-CAF8-E823-A41D-A3F56B924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246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2763F4-3303-2F78-87E2-C2F63400C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60345B6-5E21-2842-715D-A40C53D8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01453E-DAA6-30EB-DBA6-15E357BCC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43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88286-3368-2B0C-3B7E-30E9BC4E7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A084EF-B963-D008-8CAD-CAF0EA2E8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AA5550-39C1-D007-2A95-682ED3DCE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21E4A9-D52D-0531-B4FF-BDC327973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A4786A-C449-BB75-AAD6-8328E5E0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DDBEA6-3994-BDCE-94A0-5025CE8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820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8BE90-723A-DBD9-E441-6F8F4D42D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6DFE71A-154F-E140-3B42-18D1C0F55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AC891A-BC61-C08C-42F9-8DB0E4D65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77E1E5-06CF-2A4C-82D2-3A081351D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BEB27A-16E5-158F-FD3A-635E336E5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4B0D35-4279-680E-7890-A3DDC1C0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999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085DF-CB6F-C0F7-5423-019B37DE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F48CCE-B023-F9A7-D518-10299D806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373214-D5DE-DBC6-681E-60B4CE76E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5F8790-A61F-FD7E-BE8E-9DAD2D677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415336-5185-35B3-1042-2B926D2DA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192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8AD292C-3DC7-B047-EB19-7030C0457B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4E0624-92DF-37B1-2B50-7B67E2E46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C6DB86-83AF-C05B-7F75-33C03655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F2D6-8C5E-4A0C-AD78-AB907B00906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D6CA3B-4E23-1594-DED6-70DA16C4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05C833-AC5D-19E5-6E36-AE6245BA4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37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F3C5B0E-B6DC-FE6E-7A49-5E842B202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C9EA2A-A67E-19D5-7E77-42AE43F64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271976-EBFA-66FE-F552-FF5F010F0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DF2D6-8C5E-4A0C-AD78-AB907B00906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FAA69D-C1A3-9973-39DE-65816BF50A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831B6B-D90E-3F04-17BC-34916AE79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3D8E1-9E45-4F5A-8B7A-16B0399C8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333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dw9981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nz5bHVbeEY" TargetMode="External"/><Relationship Id="rId2" Type="http://schemas.openxmlformats.org/officeDocument/2006/relationships/hyperlink" Target="https://github.com/ldw9981/RasterTek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85004-D9B8-0BF9-5E5B-BCBA7C86B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Direct3D11 </a:t>
            </a:r>
            <a:r>
              <a:rPr lang="ko-KR" altLang="en-US" dirty="0"/>
              <a:t>프로그래밍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CD820F-C031-7D37-3253-EAE9601FE6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Deferred Shading</a:t>
            </a:r>
            <a:endParaRPr lang="en-US" altLang="ko-KR" dirty="0"/>
          </a:p>
          <a:p>
            <a:r>
              <a:rPr lang="en-US" altLang="ko-KR" dirty="0">
                <a:hlinkClick r:id="rId2"/>
              </a:rPr>
              <a:t>ldw9981@gmail.com</a:t>
            </a:r>
            <a:r>
              <a:rPr lang="en-US" altLang="ko-KR" dirty="0"/>
              <a:t> </a:t>
            </a:r>
            <a:r>
              <a:rPr lang="ko-KR" altLang="en-US" dirty="0"/>
              <a:t>이동원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50057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534DC5-9D58-3A85-4905-47CA89A9E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5C34C-C4AC-A319-4917-892273620FF8}"/>
              </a:ext>
            </a:extLst>
          </p:cNvPr>
          <p:cNvSpPr txBox="1"/>
          <p:nvPr/>
        </p:nvSpPr>
        <p:spPr>
          <a:xfrm>
            <a:off x="642018" y="1862088"/>
            <a:ext cx="10433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err="1"/>
              <a:t>DirectionLight</a:t>
            </a:r>
            <a:r>
              <a:rPr lang="en-US" altLang="ko-KR" dirty="0"/>
              <a:t> </a:t>
            </a:r>
            <a:r>
              <a:rPr lang="ko-KR" altLang="en-US" dirty="0"/>
              <a:t>기준에서 기존 </a:t>
            </a:r>
            <a:r>
              <a:rPr lang="en-US" altLang="ko-KR" dirty="0"/>
              <a:t>Forward </a:t>
            </a:r>
            <a:r>
              <a:rPr lang="ko-KR" altLang="en-US" dirty="0"/>
              <a:t>방식과 </a:t>
            </a:r>
            <a:r>
              <a:rPr lang="en-US" altLang="ko-KR" dirty="0"/>
              <a:t>, Deferred </a:t>
            </a:r>
            <a:r>
              <a:rPr lang="ko-KR" altLang="en-US" dirty="0"/>
              <a:t>방식의 </a:t>
            </a:r>
            <a:r>
              <a:rPr lang="ko-KR" altLang="en-US" dirty="0" err="1"/>
              <a:t>라이팅</a:t>
            </a:r>
            <a:r>
              <a:rPr lang="ko-KR" altLang="en-US" dirty="0"/>
              <a:t> 처리를  알아봅니다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en-US" altLang="ko-KR" dirty="0"/>
              <a:t> </a:t>
            </a:r>
            <a:r>
              <a:rPr lang="en-US" altLang="ko-KR" dirty="0" err="1"/>
              <a:t>MultiRenderTarget</a:t>
            </a:r>
            <a:r>
              <a:rPr lang="ko-KR" altLang="en-US" dirty="0"/>
              <a:t>을 활용하여 </a:t>
            </a:r>
            <a:r>
              <a:rPr lang="en-US" altLang="ko-KR" dirty="0"/>
              <a:t>G-Buffer</a:t>
            </a:r>
            <a:r>
              <a:rPr lang="ko-KR" altLang="en-US" dirty="0"/>
              <a:t>를 출력하는 방법을 알아봅니다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삼각형</a:t>
            </a:r>
            <a:r>
              <a:rPr lang="en-US" altLang="ko-KR" dirty="0"/>
              <a:t>2</a:t>
            </a:r>
            <a:r>
              <a:rPr lang="ko-KR" altLang="en-US" dirty="0"/>
              <a:t>개 </a:t>
            </a:r>
            <a:r>
              <a:rPr lang="en-US" altLang="ko-KR" dirty="0"/>
              <a:t>Quad</a:t>
            </a:r>
            <a:r>
              <a:rPr lang="ko-KR" altLang="en-US" dirty="0"/>
              <a:t>를 </a:t>
            </a:r>
            <a:r>
              <a:rPr lang="en-US" altLang="ko-KR" dirty="0"/>
              <a:t>2D</a:t>
            </a:r>
            <a:r>
              <a:rPr lang="ko-KR" altLang="en-US" dirty="0"/>
              <a:t>렌더링 </a:t>
            </a:r>
            <a:r>
              <a:rPr lang="ko-KR" altLang="en-US" dirty="0" err="1"/>
              <a:t>직교투영하여</a:t>
            </a:r>
            <a:r>
              <a:rPr lang="ko-KR" altLang="en-US" dirty="0"/>
              <a:t> 최종 프레임을 만들어 봅니다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1231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3C551-B251-0119-2CB0-D9C8C7983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기초적인 빛</a:t>
            </a:r>
            <a:r>
              <a:rPr lang="en-US" altLang="ko-KR" dirty="0"/>
              <a:t> (Light) </a:t>
            </a:r>
            <a:r>
              <a:rPr lang="ko-KR" altLang="en-US" dirty="0"/>
              <a:t>의 종류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C5558D8-A7BB-A526-2D98-9A2EFC7B6F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8760" y="3276600"/>
            <a:ext cx="4739640" cy="4739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30" name="Picture 6" descr="씬의 점 광원 효과">
            <a:extLst>
              <a:ext uri="{FF2B5EF4-FFF2-40B4-BE49-F238E27FC236}">
                <a16:creationId xmlns:a16="http://schemas.microsoft.com/office/drawing/2014/main" id="{D3A16D92-7931-2BAE-C30B-324243EBF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438" y="4695270"/>
            <a:ext cx="3144481" cy="211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FE1E683-0D2E-A614-3C97-8FD46134C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914" y="2403674"/>
            <a:ext cx="2782474" cy="223837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85E680C-C044-93B3-9DBD-1B093A0BA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772" y="2329803"/>
            <a:ext cx="2476500" cy="22383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402D840-DB61-F552-D331-79BDBA2CF7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733" y="4594963"/>
            <a:ext cx="3589027" cy="215111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2032B11-09EB-405A-3442-B8ABFFA23F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7947" y="4608546"/>
            <a:ext cx="3262073" cy="21980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5DC0687-26D0-1552-AD69-85B30C42B2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4241" y="2303020"/>
            <a:ext cx="2849062" cy="22919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135602-8F90-7114-F3D1-5782286A1880}"/>
              </a:ext>
            </a:extLst>
          </p:cNvPr>
          <p:cNvSpPr txBox="1"/>
          <p:nvPr/>
        </p:nvSpPr>
        <p:spPr>
          <a:xfrm>
            <a:off x="1004356" y="1846183"/>
            <a:ext cx="1725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Direction Light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831F2D-EE32-5CFB-1585-597ABB6CC13F}"/>
              </a:ext>
            </a:extLst>
          </p:cNvPr>
          <p:cNvSpPr txBox="1"/>
          <p:nvPr/>
        </p:nvSpPr>
        <p:spPr>
          <a:xfrm>
            <a:off x="4727492" y="1846183"/>
            <a:ext cx="1315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Point Light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42B422-36C9-1AFC-2A77-316ACBB49B48}"/>
              </a:ext>
            </a:extLst>
          </p:cNvPr>
          <p:cNvSpPr txBox="1"/>
          <p:nvPr/>
        </p:nvSpPr>
        <p:spPr>
          <a:xfrm>
            <a:off x="8991600" y="1862515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Spot Light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BF6F246-CACE-DF37-913A-4D21486334A3}"/>
              </a:ext>
            </a:extLst>
          </p:cNvPr>
          <p:cNvSpPr/>
          <p:nvPr/>
        </p:nvSpPr>
        <p:spPr>
          <a:xfrm>
            <a:off x="1866900" y="3802379"/>
            <a:ext cx="1417455" cy="4191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303BB3-F15E-CB33-A172-E88BCBA3D679}"/>
              </a:ext>
            </a:extLst>
          </p:cNvPr>
          <p:cNvSpPr txBox="1"/>
          <p:nvPr/>
        </p:nvSpPr>
        <p:spPr>
          <a:xfrm>
            <a:off x="2471087" y="2406682"/>
            <a:ext cx="162653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방향</a:t>
            </a:r>
            <a:r>
              <a:rPr lang="en-US" altLang="ko-KR" sz="1400" dirty="0"/>
              <a:t>(Vector3)</a:t>
            </a:r>
          </a:p>
          <a:p>
            <a:r>
              <a:rPr lang="ko-KR" altLang="en-US" sz="1400" dirty="0" err="1"/>
              <a:t>빛의세기</a:t>
            </a:r>
            <a:r>
              <a:rPr lang="en-US" altLang="ko-KR" sz="1400" dirty="0"/>
              <a:t>(Vector3)</a:t>
            </a:r>
          </a:p>
          <a:p>
            <a:r>
              <a:rPr lang="en-US" altLang="ko-KR" sz="1400" dirty="0"/>
              <a:t>    R(0.0 ~ 1.0)</a:t>
            </a:r>
          </a:p>
          <a:p>
            <a:r>
              <a:rPr lang="en-US" altLang="ko-KR" sz="1400" dirty="0"/>
              <a:t>    G(0.0 ~ 1.0)</a:t>
            </a:r>
          </a:p>
          <a:p>
            <a:r>
              <a:rPr lang="en-US" altLang="ko-KR" sz="1400" dirty="0"/>
              <a:t>    B(0.0 ~ 1.0)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3D3CDF-4942-E5DA-2D83-52A6F836D9A1}"/>
              </a:ext>
            </a:extLst>
          </p:cNvPr>
          <p:cNvSpPr txBox="1"/>
          <p:nvPr/>
        </p:nvSpPr>
        <p:spPr>
          <a:xfrm>
            <a:off x="5627821" y="3168708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100%</a:t>
            </a:r>
            <a:endParaRPr lang="ko-KR" alt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B9ED93-ED15-4E80-05FD-5CBF1F1561D5}"/>
              </a:ext>
            </a:extLst>
          </p:cNvPr>
          <p:cNvSpPr txBox="1"/>
          <p:nvPr/>
        </p:nvSpPr>
        <p:spPr>
          <a:xfrm>
            <a:off x="6327933" y="2745236"/>
            <a:ext cx="3626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85000"/>
                  </a:schemeClr>
                </a:solidFill>
              </a:rPr>
              <a:t>0%</a:t>
            </a:r>
            <a:endParaRPr lang="ko-KR" alt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79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그림 1038">
            <a:extLst>
              <a:ext uri="{FF2B5EF4-FFF2-40B4-BE49-F238E27FC236}">
                <a16:creationId xmlns:a16="http://schemas.microsoft.com/office/drawing/2014/main" id="{F114C730-11E4-DB93-96CD-E897A5BF2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" y="4705470"/>
            <a:ext cx="1379018" cy="16841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F4E2C43-27FF-7D66-610F-0ED84ECE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일반적인 렌더링 </a:t>
            </a:r>
            <a:r>
              <a:rPr lang="en-US" altLang="ko-KR" dirty="0"/>
              <a:t>(Forward)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1A3AED-DD6A-D302-4B6E-1238DF828053}"/>
              </a:ext>
            </a:extLst>
          </p:cNvPr>
          <p:cNvSpPr txBox="1"/>
          <p:nvPr/>
        </p:nvSpPr>
        <p:spPr>
          <a:xfrm>
            <a:off x="1112539" y="1761871"/>
            <a:ext cx="60816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 - </a:t>
            </a:r>
            <a:r>
              <a:rPr lang="ko-KR" altLang="ko-KR" dirty="0">
                <a:latin typeface="Arial" panose="020B0604020202020204" pitchFamily="34" charset="0"/>
              </a:rPr>
              <a:t>VS 실행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 - </a:t>
            </a:r>
            <a:r>
              <a:rPr lang="ko-KR" altLang="ko-KR" dirty="0" err="1">
                <a:latin typeface="Arial" panose="020B0604020202020204" pitchFamily="34" charset="0"/>
              </a:rPr>
              <a:t>래스터라이저가</a:t>
            </a:r>
            <a:r>
              <a:rPr lang="ko-KR" altLang="ko-KR" dirty="0">
                <a:latin typeface="Arial" panose="020B0604020202020204" pitchFamily="34" charset="0"/>
              </a:rPr>
              <a:t> 삼각형을 픽셀 후보들로 쪼갬(</a:t>
            </a:r>
            <a:r>
              <a:rPr lang="ko-KR" altLang="ko-KR" dirty="0" err="1">
                <a:latin typeface="Arial" panose="020B0604020202020204" pitchFamily="34" charset="0"/>
              </a:rPr>
              <a:t>래스터화</a:t>
            </a:r>
            <a:r>
              <a:rPr lang="ko-KR" altLang="ko-KR" dirty="0">
                <a:latin typeface="Arial" panose="020B0604020202020204" pitchFamily="34" charset="0"/>
              </a:rPr>
              <a:t>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 - </a:t>
            </a:r>
            <a:r>
              <a:rPr lang="ko-KR" altLang="ko-KR" dirty="0">
                <a:latin typeface="Arial" panose="020B0604020202020204" pitchFamily="34" charset="0"/>
              </a:rPr>
              <a:t>(가능하면) </a:t>
            </a:r>
            <a:r>
              <a:rPr lang="ko-KR" altLang="ko-KR" dirty="0" err="1">
                <a:latin typeface="Arial" panose="020B0604020202020204" pitchFamily="34" charset="0"/>
              </a:rPr>
              <a:t>Early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ko-KR" altLang="ko-KR" dirty="0" err="1">
                <a:latin typeface="Arial" panose="020B0604020202020204" pitchFamily="34" charset="0"/>
              </a:rPr>
              <a:t>Depth</a:t>
            </a:r>
            <a:r>
              <a:rPr lang="ko-KR" altLang="ko-KR" dirty="0">
                <a:latin typeface="Arial" panose="020B0604020202020204" pitchFamily="34" charset="0"/>
              </a:rPr>
              <a:t>/</a:t>
            </a:r>
            <a:r>
              <a:rPr lang="ko-KR" altLang="ko-KR" dirty="0" err="1">
                <a:latin typeface="Arial" panose="020B0604020202020204" pitchFamily="34" charset="0"/>
              </a:rPr>
              <a:t>Stencil</a:t>
            </a:r>
            <a:r>
              <a:rPr lang="ko-KR" altLang="ko-KR" dirty="0">
                <a:latin typeface="Arial" panose="020B0604020202020204" pitchFamily="34" charset="0"/>
              </a:rPr>
              <a:t> 테스트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 - </a:t>
            </a:r>
            <a:r>
              <a:rPr lang="ko-KR" altLang="ko-KR" dirty="0">
                <a:latin typeface="Arial" panose="020B0604020202020204" pitchFamily="34" charset="0"/>
              </a:rPr>
              <a:t>PS 실행</a:t>
            </a:r>
            <a:r>
              <a:rPr lang="en-US" altLang="ko-KR" dirty="0">
                <a:latin typeface="Arial" panose="020B0604020202020204" pitchFamily="34" charset="0"/>
              </a:rPr>
              <a:t> ( </a:t>
            </a:r>
            <a:r>
              <a:rPr lang="ko-KR" altLang="en-US" dirty="0">
                <a:latin typeface="Arial" panose="020B0604020202020204" pitchFamily="34" charset="0"/>
              </a:rPr>
              <a:t>조명 계산 </a:t>
            </a:r>
            <a:r>
              <a:rPr lang="en-US" altLang="ko-KR" dirty="0">
                <a:latin typeface="Arial" panose="020B0604020202020204" pitchFamily="34" charset="0"/>
              </a:rPr>
              <a:t>)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 - </a:t>
            </a:r>
            <a:r>
              <a:rPr lang="ko-KR" altLang="ko-KR" dirty="0">
                <a:latin typeface="Arial" panose="020B0604020202020204" pitchFamily="34" charset="0"/>
              </a:rPr>
              <a:t>(필요하면) </a:t>
            </a:r>
            <a:r>
              <a:rPr lang="ko-KR" altLang="ko-KR" dirty="0" err="1">
                <a:latin typeface="Arial" panose="020B0604020202020204" pitchFamily="34" charset="0"/>
              </a:rPr>
              <a:t>Late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ko-KR" altLang="ko-KR" dirty="0" err="1">
                <a:latin typeface="Arial" panose="020B0604020202020204" pitchFamily="34" charset="0"/>
              </a:rPr>
              <a:t>Depth</a:t>
            </a:r>
            <a:r>
              <a:rPr lang="ko-KR" altLang="ko-KR" dirty="0">
                <a:latin typeface="Arial" panose="020B0604020202020204" pitchFamily="34" charset="0"/>
              </a:rPr>
              <a:t>/</a:t>
            </a:r>
            <a:r>
              <a:rPr lang="ko-KR" altLang="ko-KR" dirty="0" err="1">
                <a:latin typeface="Arial" panose="020B0604020202020204" pitchFamily="34" charset="0"/>
              </a:rPr>
              <a:t>Stencil</a:t>
            </a:r>
            <a:r>
              <a:rPr lang="ko-KR" altLang="ko-KR" dirty="0">
                <a:latin typeface="Arial" panose="020B0604020202020204" pitchFamily="34" charset="0"/>
              </a:rPr>
              <a:t> 테스트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 - </a:t>
            </a:r>
            <a:r>
              <a:rPr lang="ko-KR" altLang="ko-KR" dirty="0" err="1">
                <a:latin typeface="Arial" panose="020B0604020202020204" pitchFamily="34" charset="0"/>
              </a:rPr>
              <a:t>블렌딩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 - </a:t>
            </a:r>
            <a:r>
              <a:rPr lang="ko-KR" altLang="ko-KR" dirty="0" err="1">
                <a:latin typeface="Arial" panose="020B0604020202020204" pitchFamily="34" charset="0"/>
              </a:rPr>
              <a:t>Render</a:t>
            </a:r>
            <a:r>
              <a:rPr lang="ko-KR" altLang="ko-KR" dirty="0">
                <a:latin typeface="Arial" panose="020B0604020202020204" pitchFamily="34" charset="0"/>
              </a:rPr>
              <a:t> Target / </a:t>
            </a:r>
            <a:r>
              <a:rPr lang="ko-KR" altLang="ko-KR" dirty="0" err="1">
                <a:latin typeface="Arial" panose="020B0604020202020204" pitchFamily="34" charset="0"/>
              </a:rPr>
              <a:t>Depth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ko-KR" altLang="ko-KR" dirty="0" err="1">
                <a:latin typeface="Arial" panose="020B0604020202020204" pitchFamily="34" charset="0"/>
              </a:rPr>
              <a:t>Buffer에</a:t>
            </a:r>
            <a:r>
              <a:rPr lang="ko-KR" altLang="ko-KR" dirty="0">
                <a:latin typeface="Arial" panose="020B0604020202020204" pitchFamily="34" charset="0"/>
              </a:rPr>
              <a:t> 기록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59C56E3A-838B-14EC-F87A-69F626940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78" y="5042768"/>
            <a:ext cx="1092562" cy="1347079"/>
          </a:xfrm>
          <a:prstGeom prst="rect">
            <a:avLst/>
          </a:prstGeom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52313A66-6F46-6F60-A7B5-862817EBA782}"/>
              </a:ext>
            </a:extLst>
          </p:cNvPr>
          <p:cNvSpPr/>
          <p:nvPr/>
        </p:nvSpPr>
        <p:spPr>
          <a:xfrm>
            <a:off x="10116744" y="4987870"/>
            <a:ext cx="1895413" cy="14017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8D1D0E28-3431-61CE-12EF-EF7FFACBA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312" y="5857003"/>
            <a:ext cx="8110098" cy="44680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B2BC7272-B213-809A-51EC-FD35620260D7}"/>
              </a:ext>
            </a:extLst>
          </p:cNvPr>
          <p:cNvSpPr txBox="1"/>
          <p:nvPr/>
        </p:nvSpPr>
        <p:spPr>
          <a:xfrm>
            <a:off x="59928" y="6457890"/>
            <a:ext cx="1066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Model or Local</a:t>
            </a:r>
          </a:p>
          <a:p>
            <a:r>
              <a:rPr lang="en-US" altLang="ko-KR" sz="1000" dirty="0"/>
              <a:t>3D Space</a:t>
            </a:r>
            <a:endParaRPr lang="ko-KR" altLang="en-US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9E210F-F9BF-D3CE-930F-2ED2082E7A4B}"/>
              </a:ext>
            </a:extLst>
          </p:cNvPr>
          <p:cNvSpPr txBox="1"/>
          <p:nvPr/>
        </p:nvSpPr>
        <p:spPr>
          <a:xfrm>
            <a:off x="10232999" y="6506632"/>
            <a:ext cx="1177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Screen 2D Space</a:t>
            </a:r>
            <a:endParaRPr lang="ko-KR" altLang="en-US" sz="1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F9BC3C-8293-E144-F1FD-8CB499903E1A}"/>
              </a:ext>
            </a:extLst>
          </p:cNvPr>
          <p:cNvSpPr txBox="1"/>
          <p:nvPr/>
        </p:nvSpPr>
        <p:spPr>
          <a:xfrm>
            <a:off x="10096269" y="4998862"/>
            <a:ext cx="5045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0,0</a:t>
            </a:r>
            <a:endParaRPr lang="ko-KR" alt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7E5314-9761-BBA7-C033-3E1A7511201F}"/>
              </a:ext>
            </a:extLst>
          </p:cNvPr>
          <p:cNvSpPr txBox="1"/>
          <p:nvPr/>
        </p:nvSpPr>
        <p:spPr>
          <a:xfrm>
            <a:off x="11504837" y="6411724"/>
            <a:ext cx="859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1024,768</a:t>
            </a:r>
            <a:endParaRPr lang="ko-KR" altLang="en-US" sz="10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5F25682-0B5C-C1A9-98C7-6ABC05C9F0B7}"/>
              </a:ext>
            </a:extLst>
          </p:cNvPr>
          <p:cNvSpPr/>
          <p:nvPr/>
        </p:nvSpPr>
        <p:spPr>
          <a:xfrm>
            <a:off x="2615387" y="5814977"/>
            <a:ext cx="632435" cy="52998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IA</a:t>
            </a:r>
            <a:endParaRPr lang="ko-KR" altLang="en-US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2AA5E7B-DDD3-4005-770A-86EE712CF19D}"/>
              </a:ext>
            </a:extLst>
          </p:cNvPr>
          <p:cNvSpPr/>
          <p:nvPr/>
        </p:nvSpPr>
        <p:spPr>
          <a:xfrm>
            <a:off x="3577257" y="5814977"/>
            <a:ext cx="632435" cy="5299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VS</a:t>
            </a:r>
            <a:endParaRPr lang="ko-KR" altLang="en-US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E292DB8-A276-3F49-42B2-2A4DFD166071}"/>
              </a:ext>
            </a:extLst>
          </p:cNvPr>
          <p:cNvSpPr/>
          <p:nvPr/>
        </p:nvSpPr>
        <p:spPr>
          <a:xfrm>
            <a:off x="6787825" y="5814977"/>
            <a:ext cx="632435" cy="5299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PS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5361A3A-5723-1C04-57A9-7EEAD1A8ED9A}"/>
              </a:ext>
            </a:extLst>
          </p:cNvPr>
          <p:cNvSpPr/>
          <p:nvPr/>
        </p:nvSpPr>
        <p:spPr>
          <a:xfrm>
            <a:off x="7734481" y="5814977"/>
            <a:ext cx="632435" cy="529986"/>
          </a:xfrm>
          <a:prstGeom prst="rect">
            <a:avLst/>
          </a:prstGeom>
          <a:solidFill>
            <a:schemeClr val="bg1">
              <a:lumMod val="6500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OM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5EC33C6-8CB6-F8CC-7891-87403F1290AB}"/>
              </a:ext>
            </a:extLst>
          </p:cNvPr>
          <p:cNvSpPr/>
          <p:nvPr/>
        </p:nvSpPr>
        <p:spPr>
          <a:xfrm>
            <a:off x="5788035" y="5814977"/>
            <a:ext cx="632435" cy="52998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RS</a:t>
            </a:r>
            <a:endParaRPr lang="ko-KR" altLang="en-US" dirty="0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AA584514-6E3C-5F9C-FC91-19F22F976670}"/>
              </a:ext>
            </a:extLst>
          </p:cNvPr>
          <p:cNvCxnSpPr>
            <a:endCxn id="53" idx="1"/>
          </p:cNvCxnSpPr>
          <p:nvPr/>
        </p:nvCxnSpPr>
        <p:spPr>
          <a:xfrm>
            <a:off x="3247822" y="6076155"/>
            <a:ext cx="329435" cy="38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E2E21809-A8A5-F7FD-E67E-9E927CA17661}"/>
              </a:ext>
            </a:extLst>
          </p:cNvPr>
          <p:cNvCxnSpPr>
            <a:cxnSpLocks/>
            <a:stCxn id="53" idx="3"/>
            <a:endCxn id="1026" idx="1"/>
          </p:cNvCxnSpPr>
          <p:nvPr/>
        </p:nvCxnSpPr>
        <p:spPr>
          <a:xfrm>
            <a:off x="4209692" y="6079970"/>
            <a:ext cx="397775" cy="4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2E7154F5-18BE-3FB0-E8B5-1CAF9DE0E172}"/>
              </a:ext>
            </a:extLst>
          </p:cNvPr>
          <p:cNvCxnSpPr>
            <a:cxnSpLocks/>
            <a:stCxn id="56" idx="3"/>
            <a:endCxn id="54" idx="1"/>
          </p:cNvCxnSpPr>
          <p:nvPr/>
        </p:nvCxnSpPr>
        <p:spPr>
          <a:xfrm>
            <a:off x="6420470" y="6079970"/>
            <a:ext cx="36735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7FA25ACB-33F5-BB62-A00E-3577D26D7B9B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7420260" y="6079970"/>
            <a:ext cx="3142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AE95864-00EB-6C88-6D51-A4C8A0B0EEC9}"/>
              </a:ext>
            </a:extLst>
          </p:cNvPr>
          <p:cNvSpPr txBox="1"/>
          <p:nvPr/>
        </p:nvSpPr>
        <p:spPr>
          <a:xfrm>
            <a:off x="7521401" y="4982734"/>
            <a:ext cx="173957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err="1"/>
              <a:t>RenderTargetView</a:t>
            </a:r>
            <a:r>
              <a:rPr lang="en-US" altLang="ko-KR" sz="1000" dirty="0"/>
              <a:t> (</a:t>
            </a:r>
            <a:r>
              <a:rPr lang="ko-KR" altLang="en-US" sz="1000" dirty="0"/>
              <a:t>최대</a:t>
            </a:r>
            <a:r>
              <a:rPr lang="en-US" altLang="ko-KR" sz="1000" dirty="0"/>
              <a:t>8)</a:t>
            </a:r>
          </a:p>
          <a:p>
            <a:pPr algn="ctr"/>
            <a:r>
              <a:rPr lang="en-US" altLang="ko-KR" sz="1000" dirty="0" err="1"/>
              <a:t>DepthStencilView</a:t>
            </a:r>
            <a:r>
              <a:rPr lang="en-US" altLang="ko-KR" sz="1000" dirty="0"/>
              <a:t> (</a:t>
            </a:r>
            <a:r>
              <a:rPr lang="ko-KR" altLang="en-US" sz="1000" dirty="0"/>
              <a:t>최대</a:t>
            </a:r>
            <a:r>
              <a:rPr lang="en-US" altLang="ko-KR" sz="1000" dirty="0"/>
              <a:t>1)</a:t>
            </a:r>
          </a:p>
          <a:p>
            <a:pPr algn="ctr"/>
            <a:r>
              <a:rPr lang="en-US" altLang="ko-KR" sz="1000" dirty="0" err="1"/>
              <a:t>DepthStencilState</a:t>
            </a:r>
            <a:r>
              <a:rPr lang="en-US" altLang="ko-KR" sz="1000" dirty="0"/>
              <a:t>(</a:t>
            </a:r>
            <a:r>
              <a:rPr lang="ko-KR" altLang="en-US" sz="1000" dirty="0"/>
              <a:t>옵션</a:t>
            </a:r>
            <a:r>
              <a:rPr lang="en-US" altLang="ko-KR" sz="1000" dirty="0"/>
              <a:t>)</a:t>
            </a:r>
          </a:p>
          <a:p>
            <a:pPr algn="ctr"/>
            <a:r>
              <a:rPr lang="en-US" altLang="ko-KR" sz="1000" dirty="0" err="1"/>
              <a:t>BlendState</a:t>
            </a:r>
            <a:r>
              <a:rPr lang="en-US" altLang="ko-KR" sz="1000" dirty="0"/>
              <a:t>(</a:t>
            </a:r>
            <a:r>
              <a:rPr lang="ko-KR" altLang="en-US" sz="1000" dirty="0"/>
              <a:t>옵션</a:t>
            </a:r>
            <a:r>
              <a:rPr lang="en-US" altLang="ko-KR" sz="1000" dirty="0"/>
              <a:t>)</a:t>
            </a:r>
          </a:p>
          <a:p>
            <a:pPr algn="ctr"/>
            <a:endParaRPr lang="ko-KR" altLang="en-US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16CDF60-B368-D3FB-6A18-61288D750CFE}"/>
              </a:ext>
            </a:extLst>
          </p:cNvPr>
          <p:cNvSpPr txBox="1"/>
          <p:nvPr/>
        </p:nvSpPr>
        <p:spPr>
          <a:xfrm>
            <a:off x="3385782" y="5214716"/>
            <a:ext cx="1002197" cy="400110"/>
          </a:xfrm>
          <a:prstGeom prst="rect">
            <a:avLst/>
          </a:prstGeom>
          <a:noFill/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VertexShader</a:t>
            </a:r>
          </a:p>
          <a:p>
            <a:pPr algn="ctr"/>
            <a:r>
              <a:rPr lang="en-US" altLang="ko-KR" sz="1000" dirty="0" err="1">
                <a:solidFill>
                  <a:schemeClr val="bg2">
                    <a:lumMod val="75000"/>
                  </a:schemeClr>
                </a:solidFill>
              </a:rPr>
              <a:t>ConstanBuffer</a:t>
            </a:r>
            <a:endParaRPr lang="en-US" altLang="ko-KR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CEAD3F-891B-57AF-3BA7-ED395FB0C06A}"/>
              </a:ext>
            </a:extLst>
          </p:cNvPr>
          <p:cNvSpPr txBox="1"/>
          <p:nvPr/>
        </p:nvSpPr>
        <p:spPr>
          <a:xfrm>
            <a:off x="5635949" y="5455311"/>
            <a:ext cx="9284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err="1">
                <a:solidFill>
                  <a:schemeClr val="bg2">
                    <a:lumMod val="75000"/>
                  </a:schemeClr>
                </a:solidFill>
              </a:rPr>
              <a:t>ViewPortInfo</a:t>
            </a:r>
            <a:endParaRPr lang="ko-KR" altLang="en-US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1FB0122F-692F-47D7-DF3A-5E92D7AC5037}"/>
              </a:ext>
            </a:extLst>
          </p:cNvPr>
          <p:cNvSpPr txBox="1"/>
          <p:nvPr/>
        </p:nvSpPr>
        <p:spPr>
          <a:xfrm>
            <a:off x="6261558" y="5023888"/>
            <a:ext cx="13917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PixelShader</a:t>
            </a:r>
          </a:p>
          <a:p>
            <a:pPr algn="ctr"/>
            <a:r>
              <a:rPr lang="en-US" altLang="ko-KR" sz="1000" dirty="0" err="1">
                <a:solidFill>
                  <a:schemeClr val="bg2">
                    <a:lumMod val="75000"/>
                  </a:schemeClr>
                </a:solidFill>
              </a:rPr>
              <a:t>ShaderResourceView</a:t>
            </a:r>
            <a:endParaRPr lang="en-US" altLang="ko-KR" sz="100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bg2">
                    <a:lumMod val="75000"/>
                  </a:schemeClr>
                </a:solidFill>
              </a:rPr>
              <a:t>SamplerState</a:t>
            </a:r>
            <a:endParaRPr lang="en-US" altLang="ko-KR" sz="100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bg2">
                    <a:lumMod val="75000"/>
                  </a:schemeClr>
                </a:solidFill>
              </a:rPr>
              <a:t>ConstanBuffer</a:t>
            </a:r>
            <a:endParaRPr lang="en-US" altLang="ko-KR" sz="100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endParaRPr lang="ko-KR" altLang="en-US" sz="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21DA49C8-2438-4894-328B-BBB51E6F293E}"/>
              </a:ext>
            </a:extLst>
          </p:cNvPr>
          <p:cNvSpPr txBox="1"/>
          <p:nvPr/>
        </p:nvSpPr>
        <p:spPr>
          <a:xfrm>
            <a:off x="2240501" y="5005188"/>
            <a:ext cx="128753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2">
                    <a:lumMod val="75000"/>
                  </a:schemeClr>
                </a:solidFill>
              </a:rPr>
              <a:t>PrimitiveTopology</a:t>
            </a:r>
          </a:p>
          <a:p>
            <a:pPr algn="ctr"/>
            <a:r>
              <a:rPr lang="en-US" altLang="ko-KR" sz="1050" dirty="0">
                <a:solidFill>
                  <a:schemeClr val="bg2">
                    <a:lumMod val="75000"/>
                  </a:schemeClr>
                </a:solidFill>
              </a:rPr>
              <a:t>VertexBuffer</a:t>
            </a:r>
          </a:p>
          <a:p>
            <a:pPr algn="ctr"/>
            <a:r>
              <a:rPr lang="en-US" altLang="ko-KR" sz="1050" dirty="0" err="1">
                <a:solidFill>
                  <a:schemeClr val="bg2">
                    <a:lumMod val="75000"/>
                  </a:schemeClr>
                </a:solidFill>
              </a:rPr>
              <a:t>IndexBuffer</a:t>
            </a:r>
            <a:endParaRPr lang="en-US" altLang="ko-KR" sz="105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2">
                    <a:lumMod val="75000"/>
                  </a:schemeClr>
                </a:solidFill>
              </a:rPr>
              <a:t>InputLayout</a:t>
            </a:r>
          </a:p>
        </p:txBody>
      </p:sp>
      <p:sp>
        <p:nvSpPr>
          <p:cNvPr id="1026" name="직사각형 1025">
            <a:extLst>
              <a:ext uri="{FF2B5EF4-FFF2-40B4-BE49-F238E27FC236}">
                <a16:creationId xmlns:a16="http://schemas.microsoft.com/office/drawing/2014/main" id="{42B441F6-8326-3122-8D72-60E6AD07A7D2}"/>
              </a:ext>
            </a:extLst>
          </p:cNvPr>
          <p:cNvSpPr/>
          <p:nvPr/>
        </p:nvSpPr>
        <p:spPr>
          <a:xfrm>
            <a:off x="4607467" y="5903338"/>
            <a:ext cx="719618" cy="361467"/>
          </a:xfrm>
          <a:prstGeom prst="rect">
            <a:avLst/>
          </a:prstGeom>
          <a:noFill/>
          <a:ln>
            <a:prstDash val="dash"/>
            <a:extLst>
              <a:ext uri="{C807C97D-BFC1-408E-A445-0C87EB9F89A2}">
                <ask:lineSketchStyleProps xmlns:ask="http://schemas.microsoft.com/office/drawing/2018/sketchyshapes" sd="1166495805">
                  <a:custGeom>
                    <a:avLst/>
                    <a:gdLst>
                      <a:gd name="connsiteX0" fmla="*/ 0 w 2422772"/>
                      <a:gd name="connsiteY0" fmla="*/ 0 h 619943"/>
                      <a:gd name="connsiteX1" fmla="*/ 411871 w 2422772"/>
                      <a:gd name="connsiteY1" fmla="*/ 0 h 619943"/>
                      <a:gd name="connsiteX2" fmla="*/ 823742 w 2422772"/>
                      <a:gd name="connsiteY2" fmla="*/ 0 h 619943"/>
                      <a:gd name="connsiteX3" fmla="*/ 1235614 w 2422772"/>
                      <a:gd name="connsiteY3" fmla="*/ 0 h 619943"/>
                      <a:gd name="connsiteX4" fmla="*/ 1768624 w 2422772"/>
                      <a:gd name="connsiteY4" fmla="*/ 0 h 619943"/>
                      <a:gd name="connsiteX5" fmla="*/ 2422772 w 2422772"/>
                      <a:gd name="connsiteY5" fmla="*/ 0 h 619943"/>
                      <a:gd name="connsiteX6" fmla="*/ 2422772 w 2422772"/>
                      <a:gd name="connsiteY6" fmla="*/ 291373 h 619943"/>
                      <a:gd name="connsiteX7" fmla="*/ 2422772 w 2422772"/>
                      <a:gd name="connsiteY7" fmla="*/ 619943 h 619943"/>
                      <a:gd name="connsiteX8" fmla="*/ 1913990 w 2422772"/>
                      <a:gd name="connsiteY8" fmla="*/ 619943 h 619943"/>
                      <a:gd name="connsiteX9" fmla="*/ 1502119 w 2422772"/>
                      <a:gd name="connsiteY9" fmla="*/ 619943 h 619943"/>
                      <a:gd name="connsiteX10" fmla="*/ 1041792 w 2422772"/>
                      <a:gd name="connsiteY10" fmla="*/ 619943 h 619943"/>
                      <a:gd name="connsiteX11" fmla="*/ 605693 w 2422772"/>
                      <a:gd name="connsiteY11" fmla="*/ 619943 h 619943"/>
                      <a:gd name="connsiteX12" fmla="*/ 0 w 2422772"/>
                      <a:gd name="connsiteY12" fmla="*/ 619943 h 619943"/>
                      <a:gd name="connsiteX13" fmla="*/ 0 w 2422772"/>
                      <a:gd name="connsiteY13" fmla="*/ 328570 h 619943"/>
                      <a:gd name="connsiteX14" fmla="*/ 0 w 2422772"/>
                      <a:gd name="connsiteY14" fmla="*/ 0 h 6199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2422772" h="619943" extrusionOk="0">
                        <a:moveTo>
                          <a:pt x="0" y="0"/>
                        </a:moveTo>
                        <a:cubicBezTo>
                          <a:pt x="94532" y="-2392"/>
                          <a:pt x="234570" y="14366"/>
                          <a:pt x="411871" y="0"/>
                        </a:cubicBezTo>
                        <a:cubicBezTo>
                          <a:pt x="589172" y="-14366"/>
                          <a:pt x="687037" y="6588"/>
                          <a:pt x="823742" y="0"/>
                        </a:cubicBezTo>
                        <a:cubicBezTo>
                          <a:pt x="960447" y="-6588"/>
                          <a:pt x="1112929" y="12207"/>
                          <a:pt x="1235614" y="0"/>
                        </a:cubicBezTo>
                        <a:cubicBezTo>
                          <a:pt x="1358299" y="-12207"/>
                          <a:pt x="1529833" y="11709"/>
                          <a:pt x="1768624" y="0"/>
                        </a:cubicBezTo>
                        <a:cubicBezTo>
                          <a:pt x="2007415" y="-11709"/>
                          <a:pt x="2281152" y="21909"/>
                          <a:pt x="2422772" y="0"/>
                        </a:cubicBezTo>
                        <a:cubicBezTo>
                          <a:pt x="2447242" y="138576"/>
                          <a:pt x="2392425" y="224023"/>
                          <a:pt x="2422772" y="291373"/>
                        </a:cubicBezTo>
                        <a:cubicBezTo>
                          <a:pt x="2453119" y="358723"/>
                          <a:pt x="2397550" y="545982"/>
                          <a:pt x="2422772" y="619943"/>
                        </a:cubicBezTo>
                        <a:cubicBezTo>
                          <a:pt x="2277543" y="646371"/>
                          <a:pt x="2030920" y="588880"/>
                          <a:pt x="1913990" y="619943"/>
                        </a:cubicBezTo>
                        <a:cubicBezTo>
                          <a:pt x="1797060" y="651006"/>
                          <a:pt x="1683570" y="615788"/>
                          <a:pt x="1502119" y="619943"/>
                        </a:cubicBezTo>
                        <a:cubicBezTo>
                          <a:pt x="1320668" y="624098"/>
                          <a:pt x="1143349" y="577396"/>
                          <a:pt x="1041792" y="619943"/>
                        </a:cubicBezTo>
                        <a:cubicBezTo>
                          <a:pt x="940235" y="662490"/>
                          <a:pt x="750221" y="613550"/>
                          <a:pt x="605693" y="619943"/>
                        </a:cubicBezTo>
                        <a:cubicBezTo>
                          <a:pt x="461165" y="626336"/>
                          <a:pt x="252762" y="555017"/>
                          <a:pt x="0" y="619943"/>
                        </a:cubicBezTo>
                        <a:cubicBezTo>
                          <a:pt x="-22538" y="494590"/>
                          <a:pt x="32189" y="447721"/>
                          <a:pt x="0" y="328570"/>
                        </a:cubicBezTo>
                        <a:cubicBezTo>
                          <a:pt x="-32189" y="209419"/>
                          <a:pt x="9860" y="701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생략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27" name="직선 화살표 연결선 1026">
            <a:extLst>
              <a:ext uri="{FF2B5EF4-FFF2-40B4-BE49-F238E27FC236}">
                <a16:creationId xmlns:a16="http://schemas.microsoft.com/office/drawing/2014/main" id="{F559744C-5859-D77E-6506-6993140E6812}"/>
              </a:ext>
            </a:extLst>
          </p:cNvPr>
          <p:cNvCxnSpPr>
            <a:cxnSpLocks/>
            <a:stCxn id="1026" idx="3"/>
            <a:endCxn id="56" idx="1"/>
          </p:cNvCxnSpPr>
          <p:nvPr/>
        </p:nvCxnSpPr>
        <p:spPr>
          <a:xfrm flipV="1">
            <a:off x="5327085" y="6079970"/>
            <a:ext cx="460950" cy="4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29" name="직선 화살표 연결선 1028">
            <a:extLst>
              <a:ext uri="{FF2B5EF4-FFF2-40B4-BE49-F238E27FC236}">
                <a16:creationId xmlns:a16="http://schemas.microsoft.com/office/drawing/2014/main" id="{CD9556D4-CA3D-110F-CB2F-CF8CE0151306}"/>
              </a:ext>
            </a:extLst>
          </p:cNvPr>
          <p:cNvCxnSpPr/>
          <p:nvPr/>
        </p:nvCxnSpPr>
        <p:spPr>
          <a:xfrm flipV="1">
            <a:off x="788894" y="4595906"/>
            <a:ext cx="0" cy="1607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직선 화살표 연결선 1029">
            <a:extLst>
              <a:ext uri="{FF2B5EF4-FFF2-40B4-BE49-F238E27FC236}">
                <a16:creationId xmlns:a16="http://schemas.microsoft.com/office/drawing/2014/main" id="{F01D51FE-958D-0952-FC63-9B1FA278C6E0}"/>
              </a:ext>
            </a:extLst>
          </p:cNvPr>
          <p:cNvCxnSpPr>
            <a:cxnSpLocks/>
          </p:cNvCxnSpPr>
          <p:nvPr/>
        </p:nvCxnSpPr>
        <p:spPr>
          <a:xfrm>
            <a:off x="788894" y="6218517"/>
            <a:ext cx="630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직선 화살표 연결선 1030">
            <a:extLst>
              <a:ext uri="{FF2B5EF4-FFF2-40B4-BE49-F238E27FC236}">
                <a16:creationId xmlns:a16="http://schemas.microsoft.com/office/drawing/2014/main" id="{FF378249-F1A7-CFEC-C95B-4A51ADA9614C}"/>
              </a:ext>
            </a:extLst>
          </p:cNvPr>
          <p:cNvCxnSpPr>
            <a:cxnSpLocks/>
          </p:cNvCxnSpPr>
          <p:nvPr/>
        </p:nvCxnSpPr>
        <p:spPr>
          <a:xfrm flipV="1">
            <a:off x="788894" y="5701532"/>
            <a:ext cx="591225" cy="528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571A554-00CB-99E7-5433-974C9C10B4E6}"/>
              </a:ext>
            </a:extLst>
          </p:cNvPr>
          <p:cNvSpPr txBox="1"/>
          <p:nvPr/>
        </p:nvSpPr>
        <p:spPr>
          <a:xfrm>
            <a:off x="10052216" y="4596446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하나의 </a:t>
            </a:r>
            <a:r>
              <a:rPr lang="ko-KR" altLang="en-US" dirty="0" err="1"/>
              <a:t>렌더타겟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C545949-0664-CEFB-8166-A999D376D14F}"/>
              </a:ext>
            </a:extLst>
          </p:cNvPr>
          <p:cNvCxnSpPr/>
          <p:nvPr/>
        </p:nvCxnSpPr>
        <p:spPr>
          <a:xfrm>
            <a:off x="9153144" y="5121972"/>
            <a:ext cx="943125" cy="181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2E7A454-6AEF-2E11-723E-84E27FC7F8C0}"/>
              </a:ext>
            </a:extLst>
          </p:cNvPr>
          <p:cNvSpPr txBox="1"/>
          <p:nvPr/>
        </p:nvSpPr>
        <p:spPr>
          <a:xfrm>
            <a:off x="1636312" y="4588899"/>
            <a:ext cx="1120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Draw Call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094620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7CD34D78-276E-8F86-58D6-E75B5EAEA6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5" r="886"/>
          <a:stretch/>
        </p:blipFill>
        <p:spPr bwMode="auto">
          <a:xfrm>
            <a:off x="2531350" y="2768531"/>
            <a:ext cx="3648075" cy="290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74F3238-B640-ED09-754E-F4A8541EC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Overdraw</a:t>
            </a:r>
            <a:r>
              <a:rPr lang="ko-KR" altLang="en-US" dirty="0"/>
              <a:t>에서의 비효율</a:t>
            </a:r>
          </a:p>
        </p:txBody>
      </p:sp>
      <p:sp>
        <p:nvSpPr>
          <p:cNvPr id="3" name="AutoShape 2" descr="Beginner's Guide to Graphics Lighting and Shading | Tech Art Learning">
            <a:extLst>
              <a:ext uri="{FF2B5EF4-FFF2-40B4-BE49-F238E27FC236}">
                <a16:creationId xmlns:a16="http://schemas.microsoft.com/office/drawing/2014/main" id="{39F4D302-AEFC-CE87-CFB5-8B0054DBD9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73A83E-D46A-9F6D-3187-CF385AF0234D}"/>
              </a:ext>
            </a:extLst>
          </p:cNvPr>
          <p:cNvSpPr txBox="1"/>
          <p:nvPr/>
        </p:nvSpPr>
        <p:spPr>
          <a:xfrm>
            <a:off x="564163" y="1867307"/>
            <a:ext cx="1078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깊이 테스트 이후 새로 </a:t>
            </a:r>
            <a:r>
              <a:rPr lang="ko-KR" altLang="en-US" dirty="0" err="1"/>
              <a:t>렌더</a:t>
            </a:r>
            <a:r>
              <a:rPr lang="ko-KR" altLang="en-US" dirty="0"/>
              <a:t> 타겟에 갱신하게 된다면 </a:t>
            </a:r>
            <a:r>
              <a:rPr lang="ko-KR" altLang="en-US" b="1" dirty="0"/>
              <a:t>이전에 계산한 </a:t>
            </a:r>
            <a:r>
              <a:rPr lang="ko-KR" altLang="en-US" b="1" dirty="0" err="1"/>
              <a:t>라이팅</a:t>
            </a:r>
            <a:r>
              <a:rPr lang="ko-KR" altLang="en-US" b="1" dirty="0"/>
              <a:t> 계산은 의미가 없어진다</a:t>
            </a:r>
            <a:r>
              <a:rPr lang="en-US" altLang="ko-KR" b="1" dirty="0"/>
              <a:t>.</a:t>
            </a:r>
            <a:r>
              <a:rPr lang="ko-KR" altLang="en-US" dirty="0"/>
              <a:t>  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0394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직사각형 2184">
            <a:extLst>
              <a:ext uri="{FF2B5EF4-FFF2-40B4-BE49-F238E27FC236}">
                <a16:creationId xmlns:a16="http://schemas.microsoft.com/office/drawing/2014/main" id="{887E201A-11FB-00AE-94C8-C28AC31CE28A}"/>
              </a:ext>
            </a:extLst>
          </p:cNvPr>
          <p:cNvSpPr/>
          <p:nvPr/>
        </p:nvSpPr>
        <p:spPr>
          <a:xfrm>
            <a:off x="4136910" y="2561756"/>
            <a:ext cx="1374948" cy="42034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DAAEE56-E1FF-C7D5-9FB0-12DF49E2A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지연된 </a:t>
            </a:r>
            <a:r>
              <a:rPr lang="ko-KR" altLang="en-US" dirty="0" err="1"/>
              <a:t>셰이딩</a:t>
            </a:r>
            <a:r>
              <a:rPr lang="ko-KR" altLang="en-US" dirty="0"/>
              <a:t> </a:t>
            </a:r>
            <a:r>
              <a:rPr lang="en-US" altLang="ko-KR" dirty="0"/>
              <a:t>(Deferred)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2D0F16-ADEA-0FAB-D79F-BE91F5320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1" y="4451120"/>
            <a:ext cx="810528" cy="781278"/>
          </a:xfrm>
          <a:prstGeom prst="rect">
            <a:avLst/>
          </a:prstGeom>
        </p:spPr>
      </p:pic>
      <p:grpSp>
        <p:nvGrpSpPr>
          <p:cNvPr id="2104" name="그룹 2103">
            <a:extLst>
              <a:ext uri="{FF2B5EF4-FFF2-40B4-BE49-F238E27FC236}">
                <a16:creationId xmlns:a16="http://schemas.microsoft.com/office/drawing/2014/main" id="{5D0FAED6-3242-E4C2-6CF7-35F5D8552F80}"/>
              </a:ext>
            </a:extLst>
          </p:cNvPr>
          <p:cNvGrpSpPr/>
          <p:nvPr/>
        </p:nvGrpSpPr>
        <p:grpSpPr>
          <a:xfrm>
            <a:off x="930563" y="4910214"/>
            <a:ext cx="2908882" cy="264705"/>
            <a:chOff x="954459" y="3660573"/>
            <a:chExt cx="2908882" cy="26470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49ACF77-C0C4-1375-54BF-1349B9E87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4459" y="3696105"/>
              <a:ext cx="2908882" cy="20727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B158275-D8BE-C455-C8A0-16125C0BB578}"/>
                </a:ext>
              </a:extLst>
            </p:cNvPr>
            <p:cNvSpPr/>
            <p:nvPr/>
          </p:nvSpPr>
          <p:spPr>
            <a:xfrm>
              <a:off x="1036363" y="3679419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IA</a:t>
              </a:r>
              <a:endParaRPr lang="ko-KR" altLang="en-US" sz="8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75336DB-7AE6-0435-2C9A-660B89B6619A}"/>
                </a:ext>
              </a:extLst>
            </p:cNvPr>
            <p:cNvSpPr/>
            <p:nvPr/>
          </p:nvSpPr>
          <p:spPr>
            <a:xfrm>
              <a:off x="1601709" y="3679419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VS</a:t>
              </a:r>
              <a:endParaRPr lang="ko-KR" altLang="en-US" sz="800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790B4AD-A3E0-FFAD-FE9B-03151812AF0F}"/>
                </a:ext>
              </a:extLst>
            </p:cNvPr>
            <p:cNvSpPr/>
            <p:nvPr/>
          </p:nvSpPr>
          <p:spPr>
            <a:xfrm>
              <a:off x="2794857" y="3662342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PS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B004C38-F631-6E51-05EC-F4C4DA0C68A4}"/>
                </a:ext>
              </a:extLst>
            </p:cNvPr>
            <p:cNvSpPr/>
            <p:nvPr/>
          </p:nvSpPr>
          <p:spPr>
            <a:xfrm>
              <a:off x="3343200" y="3660573"/>
              <a:ext cx="371719" cy="24585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OM</a:t>
              </a:r>
              <a:endParaRPr lang="ko-KR" altLang="en-US" sz="800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95A72C9-80F7-1278-8F63-4D5BD8CD850B}"/>
                </a:ext>
              </a:extLst>
            </p:cNvPr>
            <p:cNvSpPr/>
            <p:nvPr/>
          </p:nvSpPr>
          <p:spPr>
            <a:xfrm>
              <a:off x="2207222" y="3662342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RS</a:t>
              </a:r>
              <a:endParaRPr lang="ko-KR" altLang="en-US" sz="800" dirty="0"/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0A99B086-BA23-EE7F-6382-FD55E33BBD80}"/>
                </a:ext>
              </a:extLst>
            </p:cNvPr>
            <p:cNvCxnSpPr>
              <a:endCxn id="8" idx="1"/>
            </p:cNvCxnSpPr>
            <p:nvPr/>
          </p:nvCxnSpPr>
          <p:spPr>
            <a:xfrm>
              <a:off x="1408081" y="3800579"/>
              <a:ext cx="193628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B4BE078C-C155-55C6-93F4-6CABAD2CDB60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1973428" y="3802349"/>
              <a:ext cx="233796" cy="190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1164918B-8E1C-A826-41A9-972B2AFAEB53}"/>
                </a:ext>
              </a:extLst>
            </p:cNvPr>
            <p:cNvCxnSpPr>
              <a:cxnSpLocks/>
              <a:stCxn id="11" idx="3"/>
              <a:endCxn id="9" idx="1"/>
            </p:cNvCxnSpPr>
            <p:nvPr/>
          </p:nvCxnSpPr>
          <p:spPr>
            <a:xfrm>
              <a:off x="2578942" y="3785272"/>
              <a:ext cx="2159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D8BDB256-510C-2014-0F9C-996697C9857E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 flipV="1">
              <a:off x="3166575" y="3783502"/>
              <a:ext cx="176624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F831D1A-0456-6B2E-1F75-C2D9FA611713}"/>
              </a:ext>
            </a:extLst>
          </p:cNvPr>
          <p:cNvSpPr/>
          <p:nvPr/>
        </p:nvSpPr>
        <p:spPr>
          <a:xfrm>
            <a:off x="4274822" y="3956821"/>
            <a:ext cx="1048548" cy="7615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ABED5CA-89B5-1F5B-F6F4-CBD0F9238A00}"/>
              </a:ext>
            </a:extLst>
          </p:cNvPr>
          <p:cNvSpPr/>
          <p:nvPr/>
        </p:nvSpPr>
        <p:spPr>
          <a:xfrm>
            <a:off x="4270414" y="2850595"/>
            <a:ext cx="1048548" cy="7615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9" name="TextBox 2088">
            <a:extLst>
              <a:ext uri="{FF2B5EF4-FFF2-40B4-BE49-F238E27FC236}">
                <a16:creationId xmlns:a16="http://schemas.microsoft.com/office/drawing/2014/main" id="{E73CA6D4-1317-8ABD-7A5C-BCB491177E53}"/>
              </a:ext>
            </a:extLst>
          </p:cNvPr>
          <p:cNvSpPr txBox="1"/>
          <p:nvPr/>
        </p:nvSpPr>
        <p:spPr>
          <a:xfrm>
            <a:off x="925497" y="3096175"/>
            <a:ext cx="32005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struct </a:t>
            </a:r>
            <a:r>
              <a:rPr lang="en-US" altLang="ko-KR" sz="1400" b="1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PixelOutputType</a:t>
            </a:r>
            <a:endParaRPr lang="en-US" altLang="ko-KR" sz="1400" b="1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float4 color : 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SV_Target0;</a:t>
            </a:r>
          </a:p>
          <a:p>
            <a:r>
              <a:rPr lang="en-US" altLang="ko-KR" sz="1400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float4 normal : 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SV_Target1;</a:t>
            </a:r>
          </a:p>
          <a:p>
            <a:r>
              <a:rPr lang="en-US" altLang="ko-KR" sz="1400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… : SV_Target2;</a:t>
            </a:r>
          </a:p>
          <a:p>
            <a:r>
              <a:rPr lang="en-US" altLang="ko-KR" sz="1400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  <a:endParaRPr lang="ko-KR" altLang="en-US" sz="1400" b="1" dirty="0"/>
          </a:p>
        </p:txBody>
      </p:sp>
      <p:cxnSp>
        <p:nvCxnSpPr>
          <p:cNvPr id="2091" name="직선 화살표 연결선 2090">
            <a:extLst>
              <a:ext uri="{FF2B5EF4-FFF2-40B4-BE49-F238E27FC236}">
                <a16:creationId xmlns:a16="http://schemas.microsoft.com/office/drawing/2014/main" id="{D4B782E5-7A19-F281-7F93-097AE9BCBDE1}"/>
              </a:ext>
            </a:extLst>
          </p:cNvPr>
          <p:cNvCxnSpPr>
            <a:cxnSpLocks/>
            <a:stCxn id="10" idx="3"/>
            <a:endCxn id="39" idx="1"/>
          </p:cNvCxnSpPr>
          <p:nvPr/>
        </p:nvCxnSpPr>
        <p:spPr>
          <a:xfrm flipV="1">
            <a:off x="3691023" y="3231367"/>
            <a:ext cx="579391" cy="1801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3" name="직선 화살표 연결선 2092">
            <a:extLst>
              <a:ext uri="{FF2B5EF4-FFF2-40B4-BE49-F238E27FC236}">
                <a16:creationId xmlns:a16="http://schemas.microsoft.com/office/drawing/2014/main" id="{D6AEE8D6-07DE-14DB-7B40-69B946689B3D}"/>
              </a:ext>
            </a:extLst>
          </p:cNvPr>
          <p:cNvCxnSpPr>
            <a:cxnSpLocks/>
            <a:stCxn id="10" idx="3"/>
            <a:endCxn id="34" idx="1"/>
          </p:cNvCxnSpPr>
          <p:nvPr/>
        </p:nvCxnSpPr>
        <p:spPr>
          <a:xfrm flipV="1">
            <a:off x="3691023" y="4337593"/>
            <a:ext cx="583799" cy="695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8" name="TextBox 2097">
            <a:extLst>
              <a:ext uri="{FF2B5EF4-FFF2-40B4-BE49-F238E27FC236}">
                <a16:creationId xmlns:a16="http://schemas.microsoft.com/office/drawing/2014/main" id="{2AC7999D-0D53-F9A5-B9D2-F4DE0DD16A11}"/>
              </a:ext>
            </a:extLst>
          </p:cNvPr>
          <p:cNvSpPr txBox="1"/>
          <p:nvPr/>
        </p:nvSpPr>
        <p:spPr>
          <a:xfrm>
            <a:off x="4192212" y="2561756"/>
            <a:ext cx="11224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RenderTarget0</a:t>
            </a:r>
            <a:endParaRPr lang="ko-KR" altLang="en-US" sz="1100" dirty="0"/>
          </a:p>
        </p:txBody>
      </p:sp>
      <p:grpSp>
        <p:nvGrpSpPr>
          <p:cNvPr id="2103" name="그룹 2102">
            <a:extLst>
              <a:ext uri="{FF2B5EF4-FFF2-40B4-BE49-F238E27FC236}">
                <a16:creationId xmlns:a16="http://schemas.microsoft.com/office/drawing/2014/main" id="{03AA333F-BB69-CD05-DBBA-2BEB0767AD27}"/>
              </a:ext>
            </a:extLst>
          </p:cNvPr>
          <p:cNvGrpSpPr/>
          <p:nvPr/>
        </p:nvGrpSpPr>
        <p:grpSpPr>
          <a:xfrm>
            <a:off x="5884854" y="5209507"/>
            <a:ext cx="1074132" cy="779488"/>
            <a:chOff x="8847755" y="1887486"/>
            <a:chExt cx="1895413" cy="1401762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9750852-26EA-9800-159C-1BAC3A9C4E41}"/>
                </a:ext>
              </a:extLst>
            </p:cNvPr>
            <p:cNvSpPr/>
            <p:nvPr/>
          </p:nvSpPr>
          <p:spPr>
            <a:xfrm>
              <a:off x="8847755" y="1887486"/>
              <a:ext cx="1895413" cy="14017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02" name="직선 연결선 2101">
              <a:extLst>
                <a:ext uri="{FF2B5EF4-FFF2-40B4-BE49-F238E27FC236}">
                  <a16:creationId xmlns:a16="http://schemas.microsoft.com/office/drawing/2014/main" id="{16428EC1-AA60-A03F-0D16-EE2CC42CCACC}"/>
                </a:ext>
              </a:extLst>
            </p:cNvPr>
            <p:cNvCxnSpPr>
              <a:cxnSpLocks/>
            </p:cNvCxnSpPr>
            <p:nvPr/>
          </p:nvCxnSpPr>
          <p:spPr>
            <a:xfrm>
              <a:off x="8847755" y="1887486"/>
              <a:ext cx="1895413" cy="1401762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05" name="그룹 2104">
            <a:extLst>
              <a:ext uri="{FF2B5EF4-FFF2-40B4-BE49-F238E27FC236}">
                <a16:creationId xmlns:a16="http://schemas.microsoft.com/office/drawing/2014/main" id="{9F50E8A9-138C-980D-1B0D-A59A1364F8E6}"/>
              </a:ext>
            </a:extLst>
          </p:cNvPr>
          <p:cNvGrpSpPr/>
          <p:nvPr/>
        </p:nvGrpSpPr>
        <p:grpSpPr>
          <a:xfrm>
            <a:off x="7039987" y="5477747"/>
            <a:ext cx="2908882" cy="264705"/>
            <a:chOff x="954459" y="3660573"/>
            <a:chExt cx="2908882" cy="264705"/>
          </a:xfrm>
        </p:grpSpPr>
        <p:pic>
          <p:nvPicPr>
            <p:cNvPr id="2106" name="그림 2105">
              <a:extLst>
                <a:ext uri="{FF2B5EF4-FFF2-40B4-BE49-F238E27FC236}">
                  <a16:creationId xmlns:a16="http://schemas.microsoft.com/office/drawing/2014/main" id="{97C9F5A9-577E-3070-D82A-F43DC8723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4459" y="3696105"/>
              <a:ext cx="2908882" cy="207272"/>
            </a:xfrm>
            <a:prstGeom prst="rect">
              <a:avLst/>
            </a:prstGeom>
          </p:spPr>
        </p:pic>
        <p:sp>
          <p:nvSpPr>
            <p:cNvPr id="2107" name="직사각형 2106">
              <a:extLst>
                <a:ext uri="{FF2B5EF4-FFF2-40B4-BE49-F238E27FC236}">
                  <a16:creationId xmlns:a16="http://schemas.microsoft.com/office/drawing/2014/main" id="{655675E0-784A-36FF-D789-54E79ED46608}"/>
                </a:ext>
              </a:extLst>
            </p:cNvPr>
            <p:cNvSpPr/>
            <p:nvPr/>
          </p:nvSpPr>
          <p:spPr>
            <a:xfrm>
              <a:off x="1036363" y="3679419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IA</a:t>
              </a:r>
              <a:endParaRPr lang="ko-KR" altLang="en-US" sz="800" dirty="0"/>
            </a:p>
          </p:txBody>
        </p:sp>
        <p:sp>
          <p:nvSpPr>
            <p:cNvPr id="2108" name="직사각형 2107">
              <a:extLst>
                <a:ext uri="{FF2B5EF4-FFF2-40B4-BE49-F238E27FC236}">
                  <a16:creationId xmlns:a16="http://schemas.microsoft.com/office/drawing/2014/main" id="{CAD56E6B-F450-B402-1D4A-C7220E33A012}"/>
                </a:ext>
              </a:extLst>
            </p:cNvPr>
            <p:cNvSpPr/>
            <p:nvPr/>
          </p:nvSpPr>
          <p:spPr>
            <a:xfrm>
              <a:off x="1601709" y="3679419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VS</a:t>
              </a:r>
              <a:endParaRPr lang="ko-KR" altLang="en-US" sz="800" dirty="0"/>
            </a:p>
          </p:txBody>
        </p:sp>
        <p:sp>
          <p:nvSpPr>
            <p:cNvPr id="2109" name="직사각형 2108">
              <a:extLst>
                <a:ext uri="{FF2B5EF4-FFF2-40B4-BE49-F238E27FC236}">
                  <a16:creationId xmlns:a16="http://schemas.microsoft.com/office/drawing/2014/main" id="{E2F4BECE-1861-1B93-D385-6CD9588AB9F8}"/>
                </a:ext>
              </a:extLst>
            </p:cNvPr>
            <p:cNvSpPr/>
            <p:nvPr/>
          </p:nvSpPr>
          <p:spPr>
            <a:xfrm>
              <a:off x="2794857" y="3662342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PS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110" name="직사각형 2109">
              <a:extLst>
                <a:ext uri="{FF2B5EF4-FFF2-40B4-BE49-F238E27FC236}">
                  <a16:creationId xmlns:a16="http://schemas.microsoft.com/office/drawing/2014/main" id="{69C61D31-D775-923F-86DC-50A2BA2CB521}"/>
                </a:ext>
              </a:extLst>
            </p:cNvPr>
            <p:cNvSpPr/>
            <p:nvPr/>
          </p:nvSpPr>
          <p:spPr>
            <a:xfrm>
              <a:off x="3343200" y="3660573"/>
              <a:ext cx="371719" cy="24585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OM</a:t>
              </a:r>
              <a:endParaRPr lang="ko-KR" altLang="en-US" sz="800" dirty="0"/>
            </a:p>
          </p:txBody>
        </p:sp>
        <p:sp>
          <p:nvSpPr>
            <p:cNvPr id="2111" name="직사각형 2110">
              <a:extLst>
                <a:ext uri="{FF2B5EF4-FFF2-40B4-BE49-F238E27FC236}">
                  <a16:creationId xmlns:a16="http://schemas.microsoft.com/office/drawing/2014/main" id="{A7BC188C-BC78-495B-18A2-31AC9788634C}"/>
                </a:ext>
              </a:extLst>
            </p:cNvPr>
            <p:cNvSpPr/>
            <p:nvPr/>
          </p:nvSpPr>
          <p:spPr>
            <a:xfrm>
              <a:off x="2207222" y="3662342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RS</a:t>
              </a:r>
              <a:endParaRPr lang="ko-KR" altLang="en-US" sz="800" dirty="0"/>
            </a:p>
          </p:txBody>
        </p:sp>
        <p:cxnSp>
          <p:nvCxnSpPr>
            <p:cNvPr id="2112" name="직선 화살표 연결선 2111">
              <a:extLst>
                <a:ext uri="{FF2B5EF4-FFF2-40B4-BE49-F238E27FC236}">
                  <a16:creationId xmlns:a16="http://schemas.microsoft.com/office/drawing/2014/main" id="{C7D50244-7C41-FB54-533F-0E3D2F25DF8A}"/>
                </a:ext>
              </a:extLst>
            </p:cNvPr>
            <p:cNvCxnSpPr>
              <a:endCxn id="2108" idx="1"/>
            </p:cNvCxnSpPr>
            <p:nvPr/>
          </p:nvCxnSpPr>
          <p:spPr>
            <a:xfrm>
              <a:off x="1408081" y="3800579"/>
              <a:ext cx="193628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13" name="직선 화살표 연결선 2112">
              <a:extLst>
                <a:ext uri="{FF2B5EF4-FFF2-40B4-BE49-F238E27FC236}">
                  <a16:creationId xmlns:a16="http://schemas.microsoft.com/office/drawing/2014/main" id="{879E3C7F-8858-9C5A-2EB5-F71628AEC3EE}"/>
                </a:ext>
              </a:extLst>
            </p:cNvPr>
            <p:cNvCxnSpPr>
              <a:cxnSpLocks/>
              <a:stCxn id="2108" idx="3"/>
            </p:cNvCxnSpPr>
            <p:nvPr/>
          </p:nvCxnSpPr>
          <p:spPr>
            <a:xfrm>
              <a:off x="1973428" y="3802349"/>
              <a:ext cx="233796" cy="190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14" name="직선 화살표 연결선 2113">
              <a:extLst>
                <a:ext uri="{FF2B5EF4-FFF2-40B4-BE49-F238E27FC236}">
                  <a16:creationId xmlns:a16="http://schemas.microsoft.com/office/drawing/2014/main" id="{7BF72240-976C-DE02-1FAA-B6A10443402C}"/>
                </a:ext>
              </a:extLst>
            </p:cNvPr>
            <p:cNvCxnSpPr>
              <a:cxnSpLocks/>
              <a:stCxn id="2111" idx="3"/>
              <a:endCxn id="2109" idx="1"/>
            </p:cNvCxnSpPr>
            <p:nvPr/>
          </p:nvCxnSpPr>
          <p:spPr>
            <a:xfrm>
              <a:off x="2578942" y="3785272"/>
              <a:ext cx="2159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15" name="직선 화살표 연결선 2114">
              <a:extLst>
                <a:ext uri="{FF2B5EF4-FFF2-40B4-BE49-F238E27FC236}">
                  <a16:creationId xmlns:a16="http://schemas.microsoft.com/office/drawing/2014/main" id="{3BAB8443-51B9-CCAB-D0C8-75C211610769}"/>
                </a:ext>
              </a:extLst>
            </p:cNvPr>
            <p:cNvCxnSpPr>
              <a:cxnSpLocks/>
              <a:stCxn id="2109" idx="3"/>
              <a:endCxn id="2110" idx="1"/>
            </p:cNvCxnSpPr>
            <p:nvPr/>
          </p:nvCxnSpPr>
          <p:spPr>
            <a:xfrm flipV="1">
              <a:off x="3166575" y="3783502"/>
              <a:ext cx="176624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22" name="TextBox 2121">
            <a:extLst>
              <a:ext uri="{FF2B5EF4-FFF2-40B4-BE49-F238E27FC236}">
                <a16:creationId xmlns:a16="http://schemas.microsoft.com/office/drawing/2014/main" id="{77484305-19C7-F74C-9A14-15AD847C0EB0}"/>
              </a:ext>
            </a:extLst>
          </p:cNvPr>
          <p:cNvSpPr txBox="1"/>
          <p:nvPr/>
        </p:nvSpPr>
        <p:spPr>
          <a:xfrm>
            <a:off x="4237885" y="3695211"/>
            <a:ext cx="11224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RenderTarget1</a:t>
            </a:r>
            <a:endParaRPr lang="ko-KR" altLang="en-US" sz="1100" dirty="0"/>
          </a:p>
        </p:txBody>
      </p:sp>
      <p:sp>
        <p:nvSpPr>
          <p:cNvPr id="2123" name="TextBox 2122">
            <a:extLst>
              <a:ext uri="{FF2B5EF4-FFF2-40B4-BE49-F238E27FC236}">
                <a16:creationId xmlns:a16="http://schemas.microsoft.com/office/drawing/2014/main" id="{484199AB-CA4D-6B82-C2FF-F7EEAE564638}"/>
              </a:ext>
            </a:extLst>
          </p:cNvPr>
          <p:cNvSpPr txBox="1"/>
          <p:nvPr/>
        </p:nvSpPr>
        <p:spPr>
          <a:xfrm>
            <a:off x="369023" y="1530112"/>
            <a:ext cx="11687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 화면에 보이는 픽셀만 </a:t>
            </a:r>
            <a:r>
              <a:rPr lang="ko-KR" altLang="en-US" dirty="0" err="1"/>
              <a:t>라이팅</a:t>
            </a:r>
            <a:r>
              <a:rPr lang="ko-KR" altLang="en-US" dirty="0"/>
              <a:t> 계산에 필요한 정보를 </a:t>
            </a:r>
            <a:r>
              <a:rPr lang="ko-KR" altLang="en-US" dirty="0" err="1"/>
              <a:t>렌더타겟에</a:t>
            </a:r>
            <a:r>
              <a:rPr lang="ko-KR" altLang="en-US" dirty="0"/>
              <a:t> 기록한다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 ( 1Pass)</a:t>
            </a:r>
          </a:p>
          <a:p>
            <a:r>
              <a:rPr lang="en-US" altLang="ko-KR" dirty="0"/>
              <a:t>2. Quad</a:t>
            </a:r>
            <a:r>
              <a:rPr lang="ko-KR" altLang="en-US" dirty="0"/>
              <a:t>를 그리며 </a:t>
            </a:r>
            <a:r>
              <a:rPr lang="en-US" altLang="ko-KR" dirty="0"/>
              <a:t>PS</a:t>
            </a:r>
            <a:r>
              <a:rPr lang="ko-KR" altLang="en-US" dirty="0"/>
              <a:t>에서 이 텍스처를 </a:t>
            </a:r>
            <a:r>
              <a:rPr lang="ko-KR" altLang="en-US" dirty="0" err="1"/>
              <a:t>샘플링하여</a:t>
            </a:r>
            <a:r>
              <a:rPr lang="ko-KR" altLang="en-US" dirty="0"/>
              <a:t> 최종 </a:t>
            </a:r>
            <a:r>
              <a:rPr lang="ko-KR" altLang="en-US" dirty="0" err="1"/>
              <a:t>라이팅</a:t>
            </a:r>
            <a:r>
              <a:rPr lang="ko-KR" altLang="en-US" dirty="0"/>
              <a:t> 계산한다</a:t>
            </a:r>
            <a:r>
              <a:rPr lang="en-US" altLang="ko-KR" dirty="0"/>
              <a:t>.(2pass)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즉</a:t>
            </a:r>
            <a:r>
              <a:rPr lang="en-US" altLang="ko-KR" dirty="0"/>
              <a:t>, G-Buffer</a:t>
            </a:r>
            <a:r>
              <a:rPr lang="ko-KR" altLang="en-US" dirty="0"/>
              <a:t>에 최종 기록된 </a:t>
            </a:r>
            <a:r>
              <a:rPr lang="ko-KR" altLang="en-US" b="1" dirty="0"/>
              <a:t>화면 크기 픽셀 수만큼만 </a:t>
            </a:r>
            <a:r>
              <a:rPr lang="ko-KR" altLang="en-US" b="1" dirty="0" err="1"/>
              <a:t>셰이딩하는</a:t>
            </a:r>
            <a:r>
              <a:rPr lang="ko-KR" altLang="en-US" b="1" dirty="0"/>
              <a:t> 스크린 스페이스 </a:t>
            </a:r>
            <a:r>
              <a:rPr lang="ko-KR" altLang="en-US" b="1" dirty="0" err="1"/>
              <a:t>셰이딩</a:t>
            </a:r>
            <a:r>
              <a:rPr lang="ko-KR" altLang="en-US" b="1" dirty="0"/>
              <a:t> 방법</a:t>
            </a:r>
            <a:endParaRPr lang="en-US" altLang="ko-KR" b="1" dirty="0"/>
          </a:p>
        </p:txBody>
      </p:sp>
      <p:pic>
        <p:nvPicPr>
          <p:cNvPr id="2124" name="그림 2123">
            <a:extLst>
              <a:ext uri="{FF2B5EF4-FFF2-40B4-BE49-F238E27FC236}">
                <a16:creationId xmlns:a16="http://schemas.microsoft.com/office/drawing/2014/main" id="{70ECAD49-61E9-B951-2800-A3000E0B2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4" y="4875703"/>
            <a:ext cx="810528" cy="781278"/>
          </a:xfrm>
          <a:prstGeom prst="rect">
            <a:avLst/>
          </a:prstGeom>
        </p:spPr>
      </p:pic>
      <p:grpSp>
        <p:nvGrpSpPr>
          <p:cNvPr id="2125" name="그룹 2124">
            <a:extLst>
              <a:ext uri="{FF2B5EF4-FFF2-40B4-BE49-F238E27FC236}">
                <a16:creationId xmlns:a16="http://schemas.microsoft.com/office/drawing/2014/main" id="{64868F11-00CD-62A9-56CA-20F95AA03D9A}"/>
              </a:ext>
            </a:extLst>
          </p:cNvPr>
          <p:cNvGrpSpPr/>
          <p:nvPr/>
        </p:nvGrpSpPr>
        <p:grpSpPr>
          <a:xfrm>
            <a:off x="928256" y="5334797"/>
            <a:ext cx="2908882" cy="264705"/>
            <a:chOff x="954459" y="3660573"/>
            <a:chExt cx="2908882" cy="264705"/>
          </a:xfrm>
        </p:grpSpPr>
        <p:pic>
          <p:nvPicPr>
            <p:cNvPr id="2126" name="그림 2125">
              <a:extLst>
                <a:ext uri="{FF2B5EF4-FFF2-40B4-BE49-F238E27FC236}">
                  <a16:creationId xmlns:a16="http://schemas.microsoft.com/office/drawing/2014/main" id="{2CF5321D-E930-6459-9FB6-8BA308A41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4459" y="3696105"/>
              <a:ext cx="2908882" cy="207272"/>
            </a:xfrm>
            <a:prstGeom prst="rect">
              <a:avLst/>
            </a:prstGeom>
          </p:spPr>
        </p:pic>
        <p:sp>
          <p:nvSpPr>
            <p:cNvPr id="2127" name="직사각형 2126">
              <a:extLst>
                <a:ext uri="{FF2B5EF4-FFF2-40B4-BE49-F238E27FC236}">
                  <a16:creationId xmlns:a16="http://schemas.microsoft.com/office/drawing/2014/main" id="{51B74459-FC36-79C3-88AC-E394F6B8C216}"/>
                </a:ext>
              </a:extLst>
            </p:cNvPr>
            <p:cNvSpPr/>
            <p:nvPr/>
          </p:nvSpPr>
          <p:spPr>
            <a:xfrm>
              <a:off x="1036363" y="3679419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IA</a:t>
              </a:r>
              <a:endParaRPr lang="ko-KR" altLang="en-US" sz="800" dirty="0"/>
            </a:p>
          </p:txBody>
        </p:sp>
        <p:sp>
          <p:nvSpPr>
            <p:cNvPr id="2128" name="직사각형 2127">
              <a:extLst>
                <a:ext uri="{FF2B5EF4-FFF2-40B4-BE49-F238E27FC236}">
                  <a16:creationId xmlns:a16="http://schemas.microsoft.com/office/drawing/2014/main" id="{BFA90857-DE05-8C80-990B-7EAC7D2E5929}"/>
                </a:ext>
              </a:extLst>
            </p:cNvPr>
            <p:cNvSpPr/>
            <p:nvPr/>
          </p:nvSpPr>
          <p:spPr>
            <a:xfrm>
              <a:off x="1601709" y="3679419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VS</a:t>
              </a:r>
              <a:endParaRPr lang="ko-KR" altLang="en-US" sz="800" dirty="0"/>
            </a:p>
          </p:txBody>
        </p:sp>
        <p:sp>
          <p:nvSpPr>
            <p:cNvPr id="2129" name="직사각형 2128">
              <a:extLst>
                <a:ext uri="{FF2B5EF4-FFF2-40B4-BE49-F238E27FC236}">
                  <a16:creationId xmlns:a16="http://schemas.microsoft.com/office/drawing/2014/main" id="{21674B69-1DC3-1FD1-288C-E82DA6BC512B}"/>
                </a:ext>
              </a:extLst>
            </p:cNvPr>
            <p:cNvSpPr/>
            <p:nvPr/>
          </p:nvSpPr>
          <p:spPr>
            <a:xfrm>
              <a:off x="2794857" y="3662342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PS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130" name="직사각형 2129">
              <a:extLst>
                <a:ext uri="{FF2B5EF4-FFF2-40B4-BE49-F238E27FC236}">
                  <a16:creationId xmlns:a16="http://schemas.microsoft.com/office/drawing/2014/main" id="{17B54997-E396-64C3-2579-7D9B99C396EF}"/>
                </a:ext>
              </a:extLst>
            </p:cNvPr>
            <p:cNvSpPr/>
            <p:nvPr/>
          </p:nvSpPr>
          <p:spPr>
            <a:xfrm>
              <a:off x="3343200" y="3660573"/>
              <a:ext cx="371719" cy="24585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OM</a:t>
              </a:r>
              <a:endParaRPr lang="ko-KR" altLang="en-US" sz="800" dirty="0"/>
            </a:p>
          </p:txBody>
        </p:sp>
        <p:sp>
          <p:nvSpPr>
            <p:cNvPr id="2131" name="직사각형 2130">
              <a:extLst>
                <a:ext uri="{FF2B5EF4-FFF2-40B4-BE49-F238E27FC236}">
                  <a16:creationId xmlns:a16="http://schemas.microsoft.com/office/drawing/2014/main" id="{5BE3E278-6C1B-7923-0CFB-EC4A58587588}"/>
                </a:ext>
              </a:extLst>
            </p:cNvPr>
            <p:cNvSpPr/>
            <p:nvPr/>
          </p:nvSpPr>
          <p:spPr>
            <a:xfrm>
              <a:off x="2207222" y="3662342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RS</a:t>
              </a:r>
              <a:endParaRPr lang="ko-KR" altLang="en-US" sz="800" dirty="0"/>
            </a:p>
          </p:txBody>
        </p:sp>
        <p:cxnSp>
          <p:nvCxnSpPr>
            <p:cNvPr id="2132" name="직선 화살표 연결선 2131">
              <a:extLst>
                <a:ext uri="{FF2B5EF4-FFF2-40B4-BE49-F238E27FC236}">
                  <a16:creationId xmlns:a16="http://schemas.microsoft.com/office/drawing/2014/main" id="{03485608-FACD-E9F8-0686-F72B9AF37B96}"/>
                </a:ext>
              </a:extLst>
            </p:cNvPr>
            <p:cNvCxnSpPr>
              <a:endCxn id="2128" idx="1"/>
            </p:cNvCxnSpPr>
            <p:nvPr/>
          </p:nvCxnSpPr>
          <p:spPr>
            <a:xfrm>
              <a:off x="1408081" y="3800579"/>
              <a:ext cx="193628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33" name="직선 화살표 연결선 2132">
              <a:extLst>
                <a:ext uri="{FF2B5EF4-FFF2-40B4-BE49-F238E27FC236}">
                  <a16:creationId xmlns:a16="http://schemas.microsoft.com/office/drawing/2014/main" id="{5B1ED35E-41E2-55EF-216C-D76A567FBB88}"/>
                </a:ext>
              </a:extLst>
            </p:cNvPr>
            <p:cNvCxnSpPr>
              <a:cxnSpLocks/>
              <a:stCxn id="2128" idx="3"/>
            </p:cNvCxnSpPr>
            <p:nvPr/>
          </p:nvCxnSpPr>
          <p:spPr>
            <a:xfrm>
              <a:off x="1973428" y="3802349"/>
              <a:ext cx="233796" cy="190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34" name="직선 화살표 연결선 2133">
              <a:extLst>
                <a:ext uri="{FF2B5EF4-FFF2-40B4-BE49-F238E27FC236}">
                  <a16:creationId xmlns:a16="http://schemas.microsoft.com/office/drawing/2014/main" id="{8BC954C6-E92E-770F-8012-0F7A52F0350D}"/>
                </a:ext>
              </a:extLst>
            </p:cNvPr>
            <p:cNvCxnSpPr>
              <a:cxnSpLocks/>
              <a:stCxn id="2131" idx="3"/>
              <a:endCxn id="2129" idx="1"/>
            </p:cNvCxnSpPr>
            <p:nvPr/>
          </p:nvCxnSpPr>
          <p:spPr>
            <a:xfrm>
              <a:off x="2578942" y="3785272"/>
              <a:ext cx="2159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35" name="직선 화살표 연결선 2134">
              <a:extLst>
                <a:ext uri="{FF2B5EF4-FFF2-40B4-BE49-F238E27FC236}">
                  <a16:creationId xmlns:a16="http://schemas.microsoft.com/office/drawing/2014/main" id="{C009642B-0C9A-7086-8A27-385412183887}"/>
                </a:ext>
              </a:extLst>
            </p:cNvPr>
            <p:cNvCxnSpPr>
              <a:cxnSpLocks/>
              <a:stCxn id="2129" idx="3"/>
              <a:endCxn id="2130" idx="1"/>
            </p:cNvCxnSpPr>
            <p:nvPr/>
          </p:nvCxnSpPr>
          <p:spPr>
            <a:xfrm flipV="1">
              <a:off x="3166575" y="3783502"/>
              <a:ext cx="176624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136" name="그림 2135">
            <a:extLst>
              <a:ext uri="{FF2B5EF4-FFF2-40B4-BE49-F238E27FC236}">
                <a16:creationId xmlns:a16="http://schemas.microsoft.com/office/drawing/2014/main" id="{60EB2ECB-BBD4-FD38-29A4-02FDD51DF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4" y="5256538"/>
            <a:ext cx="810528" cy="781278"/>
          </a:xfrm>
          <a:prstGeom prst="rect">
            <a:avLst/>
          </a:prstGeom>
        </p:spPr>
      </p:pic>
      <p:grpSp>
        <p:nvGrpSpPr>
          <p:cNvPr id="2137" name="그룹 2136">
            <a:extLst>
              <a:ext uri="{FF2B5EF4-FFF2-40B4-BE49-F238E27FC236}">
                <a16:creationId xmlns:a16="http://schemas.microsoft.com/office/drawing/2014/main" id="{29878067-483D-7C32-EFDB-2BD813EB2FF1}"/>
              </a:ext>
            </a:extLst>
          </p:cNvPr>
          <p:cNvGrpSpPr/>
          <p:nvPr/>
        </p:nvGrpSpPr>
        <p:grpSpPr>
          <a:xfrm>
            <a:off x="937746" y="5715632"/>
            <a:ext cx="2908882" cy="264705"/>
            <a:chOff x="954459" y="3660573"/>
            <a:chExt cx="2908882" cy="264705"/>
          </a:xfrm>
        </p:grpSpPr>
        <p:pic>
          <p:nvPicPr>
            <p:cNvPr id="2138" name="그림 2137">
              <a:extLst>
                <a:ext uri="{FF2B5EF4-FFF2-40B4-BE49-F238E27FC236}">
                  <a16:creationId xmlns:a16="http://schemas.microsoft.com/office/drawing/2014/main" id="{E656551B-5744-565F-EF5E-A6D2883B8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4459" y="3696105"/>
              <a:ext cx="2908882" cy="207272"/>
            </a:xfrm>
            <a:prstGeom prst="rect">
              <a:avLst/>
            </a:prstGeom>
          </p:spPr>
        </p:pic>
        <p:sp>
          <p:nvSpPr>
            <p:cNvPr id="2139" name="직사각형 2138">
              <a:extLst>
                <a:ext uri="{FF2B5EF4-FFF2-40B4-BE49-F238E27FC236}">
                  <a16:creationId xmlns:a16="http://schemas.microsoft.com/office/drawing/2014/main" id="{975B84FE-FC7A-1A63-C43D-8E50E2A81ACA}"/>
                </a:ext>
              </a:extLst>
            </p:cNvPr>
            <p:cNvSpPr/>
            <p:nvPr/>
          </p:nvSpPr>
          <p:spPr>
            <a:xfrm>
              <a:off x="1036363" y="3679419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IA</a:t>
              </a:r>
              <a:endParaRPr lang="ko-KR" altLang="en-US" sz="800" dirty="0"/>
            </a:p>
          </p:txBody>
        </p:sp>
        <p:sp>
          <p:nvSpPr>
            <p:cNvPr id="2140" name="직사각형 2139">
              <a:extLst>
                <a:ext uri="{FF2B5EF4-FFF2-40B4-BE49-F238E27FC236}">
                  <a16:creationId xmlns:a16="http://schemas.microsoft.com/office/drawing/2014/main" id="{8D83DEF4-2A52-C8FE-C108-495C49BBC6C1}"/>
                </a:ext>
              </a:extLst>
            </p:cNvPr>
            <p:cNvSpPr/>
            <p:nvPr/>
          </p:nvSpPr>
          <p:spPr>
            <a:xfrm>
              <a:off x="1601709" y="3679419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VS</a:t>
              </a:r>
              <a:endParaRPr lang="ko-KR" altLang="en-US" sz="800" dirty="0"/>
            </a:p>
          </p:txBody>
        </p:sp>
        <p:sp>
          <p:nvSpPr>
            <p:cNvPr id="2141" name="직사각형 2140">
              <a:extLst>
                <a:ext uri="{FF2B5EF4-FFF2-40B4-BE49-F238E27FC236}">
                  <a16:creationId xmlns:a16="http://schemas.microsoft.com/office/drawing/2014/main" id="{61EDCDBF-63ED-EE1C-FF68-53CCE227ED74}"/>
                </a:ext>
              </a:extLst>
            </p:cNvPr>
            <p:cNvSpPr/>
            <p:nvPr/>
          </p:nvSpPr>
          <p:spPr>
            <a:xfrm>
              <a:off x="2794857" y="3662342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PS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142" name="직사각형 2141">
              <a:extLst>
                <a:ext uri="{FF2B5EF4-FFF2-40B4-BE49-F238E27FC236}">
                  <a16:creationId xmlns:a16="http://schemas.microsoft.com/office/drawing/2014/main" id="{112E2627-582E-60A5-2354-95927F7DB4BB}"/>
                </a:ext>
              </a:extLst>
            </p:cNvPr>
            <p:cNvSpPr/>
            <p:nvPr/>
          </p:nvSpPr>
          <p:spPr>
            <a:xfrm>
              <a:off x="3343200" y="3660573"/>
              <a:ext cx="371719" cy="24585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OM</a:t>
              </a:r>
              <a:endParaRPr lang="ko-KR" altLang="en-US" sz="800" dirty="0"/>
            </a:p>
          </p:txBody>
        </p:sp>
        <p:sp>
          <p:nvSpPr>
            <p:cNvPr id="2143" name="직사각형 2142">
              <a:extLst>
                <a:ext uri="{FF2B5EF4-FFF2-40B4-BE49-F238E27FC236}">
                  <a16:creationId xmlns:a16="http://schemas.microsoft.com/office/drawing/2014/main" id="{8ED9AED3-FC2A-D4EB-6F70-AE2F90A1E9FD}"/>
                </a:ext>
              </a:extLst>
            </p:cNvPr>
            <p:cNvSpPr/>
            <p:nvPr/>
          </p:nvSpPr>
          <p:spPr>
            <a:xfrm>
              <a:off x="2207222" y="3662342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RS</a:t>
              </a:r>
              <a:endParaRPr lang="ko-KR" altLang="en-US" sz="800" dirty="0"/>
            </a:p>
          </p:txBody>
        </p:sp>
        <p:cxnSp>
          <p:nvCxnSpPr>
            <p:cNvPr id="2144" name="직선 화살표 연결선 2143">
              <a:extLst>
                <a:ext uri="{FF2B5EF4-FFF2-40B4-BE49-F238E27FC236}">
                  <a16:creationId xmlns:a16="http://schemas.microsoft.com/office/drawing/2014/main" id="{304A9048-3EB9-5723-C3F8-00B9C125D15C}"/>
                </a:ext>
              </a:extLst>
            </p:cNvPr>
            <p:cNvCxnSpPr>
              <a:endCxn id="2140" idx="1"/>
            </p:cNvCxnSpPr>
            <p:nvPr/>
          </p:nvCxnSpPr>
          <p:spPr>
            <a:xfrm>
              <a:off x="1408081" y="3800579"/>
              <a:ext cx="193628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45" name="직선 화살표 연결선 2144">
              <a:extLst>
                <a:ext uri="{FF2B5EF4-FFF2-40B4-BE49-F238E27FC236}">
                  <a16:creationId xmlns:a16="http://schemas.microsoft.com/office/drawing/2014/main" id="{9A5B9E93-272B-7EB1-29B2-C1671F05BB1D}"/>
                </a:ext>
              </a:extLst>
            </p:cNvPr>
            <p:cNvCxnSpPr>
              <a:cxnSpLocks/>
              <a:stCxn id="2140" idx="3"/>
            </p:cNvCxnSpPr>
            <p:nvPr/>
          </p:nvCxnSpPr>
          <p:spPr>
            <a:xfrm>
              <a:off x="1973428" y="3802349"/>
              <a:ext cx="233796" cy="190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46" name="직선 화살표 연결선 2145">
              <a:extLst>
                <a:ext uri="{FF2B5EF4-FFF2-40B4-BE49-F238E27FC236}">
                  <a16:creationId xmlns:a16="http://schemas.microsoft.com/office/drawing/2014/main" id="{D6984156-9B5D-93F1-7C5D-9ABB05B66EB0}"/>
                </a:ext>
              </a:extLst>
            </p:cNvPr>
            <p:cNvCxnSpPr>
              <a:cxnSpLocks/>
              <a:stCxn id="2143" idx="3"/>
              <a:endCxn id="2141" idx="1"/>
            </p:cNvCxnSpPr>
            <p:nvPr/>
          </p:nvCxnSpPr>
          <p:spPr>
            <a:xfrm>
              <a:off x="2578942" y="3785272"/>
              <a:ext cx="2159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47" name="직선 화살표 연결선 2146">
              <a:extLst>
                <a:ext uri="{FF2B5EF4-FFF2-40B4-BE49-F238E27FC236}">
                  <a16:creationId xmlns:a16="http://schemas.microsoft.com/office/drawing/2014/main" id="{126913D0-868A-F8DC-2354-0DEF534B3956}"/>
                </a:ext>
              </a:extLst>
            </p:cNvPr>
            <p:cNvCxnSpPr>
              <a:cxnSpLocks/>
              <a:stCxn id="2141" idx="3"/>
              <a:endCxn id="2142" idx="1"/>
            </p:cNvCxnSpPr>
            <p:nvPr/>
          </p:nvCxnSpPr>
          <p:spPr>
            <a:xfrm flipV="1">
              <a:off x="3166575" y="3783502"/>
              <a:ext cx="176624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148" name="그림 2147">
            <a:extLst>
              <a:ext uri="{FF2B5EF4-FFF2-40B4-BE49-F238E27FC236}">
                <a16:creationId xmlns:a16="http://schemas.microsoft.com/office/drawing/2014/main" id="{8D4F554E-31FC-F42A-FA7D-92412666A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4" y="5629551"/>
            <a:ext cx="810528" cy="781278"/>
          </a:xfrm>
          <a:prstGeom prst="rect">
            <a:avLst/>
          </a:prstGeom>
        </p:spPr>
      </p:pic>
      <p:grpSp>
        <p:nvGrpSpPr>
          <p:cNvPr id="2149" name="그룹 2148">
            <a:extLst>
              <a:ext uri="{FF2B5EF4-FFF2-40B4-BE49-F238E27FC236}">
                <a16:creationId xmlns:a16="http://schemas.microsoft.com/office/drawing/2014/main" id="{596929D6-8FFD-2F78-4B92-A57C9F023178}"/>
              </a:ext>
            </a:extLst>
          </p:cNvPr>
          <p:cNvGrpSpPr/>
          <p:nvPr/>
        </p:nvGrpSpPr>
        <p:grpSpPr>
          <a:xfrm>
            <a:off x="928256" y="6088645"/>
            <a:ext cx="2908882" cy="264705"/>
            <a:chOff x="954459" y="3660573"/>
            <a:chExt cx="2908882" cy="264705"/>
          </a:xfrm>
        </p:grpSpPr>
        <p:pic>
          <p:nvPicPr>
            <p:cNvPr id="2150" name="그림 2149">
              <a:extLst>
                <a:ext uri="{FF2B5EF4-FFF2-40B4-BE49-F238E27FC236}">
                  <a16:creationId xmlns:a16="http://schemas.microsoft.com/office/drawing/2014/main" id="{A59BA637-C129-6C58-FCF7-1296F7BD4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4459" y="3696105"/>
              <a:ext cx="2908882" cy="207272"/>
            </a:xfrm>
            <a:prstGeom prst="rect">
              <a:avLst/>
            </a:prstGeom>
          </p:spPr>
        </p:pic>
        <p:sp>
          <p:nvSpPr>
            <p:cNvPr id="2151" name="직사각형 2150">
              <a:extLst>
                <a:ext uri="{FF2B5EF4-FFF2-40B4-BE49-F238E27FC236}">
                  <a16:creationId xmlns:a16="http://schemas.microsoft.com/office/drawing/2014/main" id="{F9A22776-5D31-4AA1-8F9D-4063D0F3C371}"/>
                </a:ext>
              </a:extLst>
            </p:cNvPr>
            <p:cNvSpPr/>
            <p:nvPr/>
          </p:nvSpPr>
          <p:spPr>
            <a:xfrm>
              <a:off x="1036363" y="3679419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IA</a:t>
              </a:r>
              <a:endParaRPr lang="ko-KR" altLang="en-US" sz="800" dirty="0"/>
            </a:p>
          </p:txBody>
        </p:sp>
        <p:sp>
          <p:nvSpPr>
            <p:cNvPr id="2152" name="직사각형 2151">
              <a:extLst>
                <a:ext uri="{FF2B5EF4-FFF2-40B4-BE49-F238E27FC236}">
                  <a16:creationId xmlns:a16="http://schemas.microsoft.com/office/drawing/2014/main" id="{27D3F6B2-BC2A-F5E2-4DD0-9942CF204F59}"/>
                </a:ext>
              </a:extLst>
            </p:cNvPr>
            <p:cNvSpPr/>
            <p:nvPr/>
          </p:nvSpPr>
          <p:spPr>
            <a:xfrm>
              <a:off x="1601709" y="3679419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VS</a:t>
              </a:r>
              <a:endParaRPr lang="ko-KR" altLang="en-US" sz="800" dirty="0"/>
            </a:p>
          </p:txBody>
        </p:sp>
        <p:sp>
          <p:nvSpPr>
            <p:cNvPr id="2153" name="직사각형 2152">
              <a:extLst>
                <a:ext uri="{FF2B5EF4-FFF2-40B4-BE49-F238E27FC236}">
                  <a16:creationId xmlns:a16="http://schemas.microsoft.com/office/drawing/2014/main" id="{985052D6-A740-9777-002F-514FEFD58CAE}"/>
                </a:ext>
              </a:extLst>
            </p:cNvPr>
            <p:cNvSpPr/>
            <p:nvPr/>
          </p:nvSpPr>
          <p:spPr>
            <a:xfrm>
              <a:off x="2794857" y="3662342"/>
              <a:ext cx="371719" cy="24585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PS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154" name="직사각형 2153">
              <a:extLst>
                <a:ext uri="{FF2B5EF4-FFF2-40B4-BE49-F238E27FC236}">
                  <a16:creationId xmlns:a16="http://schemas.microsoft.com/office/drawing/2014/main" id="{D25D4B67-E62B-D03E-1BB1-726EEB35869D}"/>
                </a:ext>
              </a:extLst>
            </p:cNvPr>
            <p:cNvSpPr/>
            <p:nvPr/>
          </p:nvSpPr>
          <p:spPr>
            <a:xfrm>
              <a:off x="3343200" y="3660573"/>
              <a:ext cx="371719" cy="24585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OM</a:t>
              </a:r>
              <a:endParaRPr lang="ko-KR" altLang="en-US" sz="800" dirty="0"/>
            </a:p>
          </p:txBody>
        </p:sp>
        <p:sp>
          <p:nvSpPr>
            <p:cNvPr id="2155" name="직사각형 2154">
              <a:extLst>
                <a:ext uri="{FF2B5EF4-FFF2-40B4-BE49-F238E27FC236}">
                  <a16:creationId xmlns:a16="http://schemas.microsoft.com/office/drawing/2014/main" id="{72D79C61-95CB-272E-0424-4B2512847FAD}"/>
                </a:ext>
              </a:extLst>
            </p:cNvPr>
            <p:cNvSpPr/>
            <p:nvPr/>
          </p:nvSpPr>
          <p:spPr>
            <a:xfrm>
              <a:off x="2207222" y="3662342"/>
              <a:ext cx="371719" cy="24585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RS</a:t>
              </a:r>
              <a:endParaRPr lang="ko-KR" altLang="en-US" sz="800" dirty="0"/>
            </a:p>
          </p:txBody>
        </p:sp>
        <p:cxnSp>
          <p:nvCxnSpPr>
            <p:cNvPr id="2156" name="직선 화살표 연결선 2155">
              <a:extLst>
                <a:ext uri="{FF2B5EF4-FFF2-40B4-BE49-F238E27FC236}">
                  <a16:creationId xmlns:a16="http://schemas.microsoft.com/office/drawing/2014/main" id="{B450188B-F352-A5D1-57A4-155494623428}"/>
                </a:ext>
              </a:extLst>
            </p:cNvPr>
            <p:cNvCxnSpPr>
              <a:endCxn id="2152" idx="1"/>
            </p:cNvCxnSpPr>
            <p:nvPr/>
          </p:nvCxnSpPr>
          <p:spPr>
            <a:xfrm>
              <a:off x="1408081" y="3800579"/>
              <a:ext cx="193628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57" name="직선 화살표 연결선 2156">
              <a:extLst>
                <a:ext uri="{FF2B5EF4-FFF2-40B4-BE49-F238E27FC236}">
                  <a16:creationId xmlns:a16="http://schemas.microsoft.com/office/drawing/2014/main" id="{BC16A949-9D0C-6C1E-4D0E-21FF2CA5AEBA}"/>
                </a:ext>
              </a:extLst>
            </p:cNvPr>
            <p:cNvCxnSpPr>
              <a:cxnSpLocks/>
              <a:stCxn id="2152" idx="3"/>
            </p:cNvCxnSpPr>
            <p:nvPr/>
          </p:nvCxnSpPr>
          <p:spPr>
            <a:xfrm>
              <a:off x="1973428" y="3802349"/>
              <a:ext cx="233796" cy="190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58" name="직선 화살표 연결선 2157">
              <a:extLst>
                <a:ext uri="{FF2B5EF4-FFF2-40B4-BE49-F238E27FC236}">
                  <a16:creationId xmlns:a16="http://schemas.microsoft.com/office/drawing/2014/main" id="{66E77119-41D5-A144-1D07-F8E37948FF63}"/>
                </a:ext>
              </a:extLst>
            </p:cNvPr>
            <p:cNvCxnSpPr>
              <a:cxnSpLocks/>
              <a:stCxn id="2155" idx="3"/>
              <a:endCxn id="2153" idx="1"/>
            </p:cNvCxnSpPr>
            <p:nvPr/>
          </p:nvCxnSpPr>
          <p:spPr>
            <a:xfrm>
              <a:off x="2578942" y="3785272"/>
              <a:ext cx="2159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59" name="직선 화살표 연결선 2158">
              <a:extLst>
                <a:ext uri="{FF2B5EF4-FFF2-40B4-BE49-F238E27FC236}">
                  <a16:creationId xmlns:a16="http://schemas.microsoft.com/office/drawing/2014/main" id="{2B5A929C-4266-F343-C72A-0F07918C160B}"/>
                </a:ext>
              </a:extLst>
            </p:cNvPr>
            <p:cNvCxnSpPr>
              <a:cxnSpLocks/>
              <a:stCxn id="2153" idx="3"/>
              <a:endCxn id="2154" idx="1"/>
            </p:cNvCxnSpPr>
            <p:nvPr/>
          </p:nvCxnSpPr>
          <p:spPr>
            <a:xfrm flipV="1">
              <a:off x="3166575" y="3783502"/>
              <a:ext cx="176624" cy="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60" name="직사각형 2159">
            <a:extLst>
              <a:ext uri="{FF2B5EF4-FFF2-40B4-BE49-F238E27FC236}">
                <a16:creationId xmlns:a16="http://schemas.microsoft.com/office/drawing/2014/main" id="{B87DDBAA-88EA-BA2F-E7C4-DCFDD93CF811}"/>
              </a:ext>
            </a:extLst>
          </p:cNvPr>
          <p:cNvSpPr/>
          <p:nvPr/>
        </p:nvSpPr>
        <p:spPr>
          <a:xfrm>
            <a:off x="4300682" y="4937849"/>
            <a:ext cx="1048548" cy="7615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61" name="TextBox 2160">
            <a:extLst>
              <a:ext uri="{FF2B5EF4-FFF2-40B4-BE49-F238E27FC236}">
                <a16:creationId xmlns:a16="http://schemas.microsoft.com/office/drawing/2014/main" id="{153E46DB-C967-BB97-E9CF-A22197230C21}"/>
              </a:ext>
            </a:extLst>
          </p:cNvPr>
          <p:cNvSpPr txBox="1"/>
          <p:nvPr/>
        </p:nvSpPr>
        <p:spPr>
          <a:xfrm>
            <a:off x="4263745" y="4676239"/>
            <a:ext cx="11224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RenderTarget2</a:t>
            </a:r>
            <a:endParaRPr lang="ko-KR" altLang="en-US" sz="1100" dirty="0"/>
          </a:p>
        </p:txBody>
      </p:sp>
      <p:cxnSp>
        <p:nvCxnSpPr>
          <p:cNvPr id="2162" name="직선 화살표 연결선 2161">
            <a:extLst>
              <a:ext uri="{FF2B5EF4-FFF2-40B4-BE49-F238E27FC236}">
                <a16:creationId xmlns:a16="http://schemas.microsoft.com/office/drawing/2014/main" id="{089B126E-78FF-16E1-B72C-FCE5F4AA690A}"/>
              </a:ext>
            </a:extLst>
          </p:cNvPr>
          <p:cNvCxnSpPr>
            <a:cxnSpLocks/>
            <a:endCxn id="2166" idx="1"/>
          </p:cNvCxnSpPr>
          <p:nvPr/>
        </p:nvCxnSpPr>
        <p:spPr>
          <a:xfrm>
            <a:off x="3746867" y="5071601"/>
            <a:ext cx="546205" cy="1280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6" name="직사각형 2165">
            <a:extLst>
              <a:ext uri="{FF2B5EF4-FFF2-40B4-BE49-F238E27FC236}">
                <a16:creationId xmlns:a16="http://schemas.microsoft.com/office/drawing/2014/main" id="{CDCE9552-6DD3-B9CA-34A0-434B24BFA6FF}"/>
              </a:ext>
            </a:extLst>
          </p:cNvPr>
          <p:cNvSpPr/>
          <p:nvPr/>
        </p:nvSpPr>
        <p:spPr>
          <a:xfrm>
            <a:off x="4293072" y="5971051"/>
            <a:ext cx="1048548" cy="7615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71" name="직선 화살표 연결선 2170">
            <a:extLst>
              <a:ext uri="{FF2B5EF4-FFF2-40B4-BE49-F238E27FC236}">
                <a16:creationId xmlns:a16="http://schemas.microsoft.com/office/drawing/2014/main" id="{ED9CA81D-BBBB-8537-65AD-710CDDE89411}"/>
              </a:ext>
            </a:extLst>
          </p:cNvPr>
          <p:cNvCxnSpPr>
            <a:cxnSpLocks/>
            <a:stCxn id="10" idx="3"/>
            <a:endCxn id="2160" idx="1"/>
          </p:cNvCxnSpPr>
          <p:nvPr/>
        </p:nvCxnSpPr>
        <p:spPr>
          <a:xfrm>
            <a:off x="3691023" y="5033144"/>
            <a:ext cx="609659" cy="285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4" name="직사각형 2173">
            <a:extLst>
              <a:ext uri="{FF2B5EF4-FFF2-40B4-BE49-F238E27FC236}">
                <a16:creationId xmlns:a16="http://schemas.microsoft.com/office/drawing/2014/main" id="{80F8F0DA-FA4F-78DF-B9C7-2FFF304EB425}"/>
              </a:ext>
            </a:extLst>
          </p:cNvPr>
          <p:cNvSpPr/>
          <p:nvPr/>
        </p:nvSpPr>
        <p:spPr>
          <a:xfrm>
            <a:off x="10286471" y="5209507"/>
            <a:ext cx="1048548" cy="7615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79" name="직선 화살표 연결선 2178">
            <a:extLst>
              <a:ext uri="{FF2B5EF4-FFF2-40B4-BE49-F238E27FC236}">
                <a16:creationId xmlns:a16="http://schemas.microsoft.com/office/drawing/2014/main" id="{D66AF244-7342-EE85-14C7-1AA27F12CFCF}"/>
              </a:ext>
            </a:extLst>
          </p:cNvPr>
          <p:cNvCxnSpPr>
            <a:cxnSpLocks/>
          </p:cNvCxnSpPr>
          <p:nvPr/>
        </p:nvCxnSpPr>
        <p:spPr>
          <a:xfrm flipH="1" flipV="1">
            <a:off x="2927157" y="3341613"/>
            <a:ext cx="62577" cy="1516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1" name="TextBox 2180">
            <a:extLst>
              <a:ext uri="{FF2B5EF4-FFF2-40B4-BE49-F238E27FC236}">
                <a16:creationId xmlns:a16="http://schemas.microsoft.com/office/drawing/2014/main" id="{D272729A-B46E-C768-679F-CE3972375CA7}"/>
              </a:ext>
            </a:extLst>
          </p:cNvPr>
          <p:cNvSpPr txBox="1"/>
          <p:nvPr/>
        </p:nvSpPr>
        <p:spPr>
          <a:xfrm>
            <a:off x="129259" y="2957447"/>
            <a:ext cx="36359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텍스처 좌표에 색상이 아닌 </a:t>
            </a:r>
            <a:r>
              <a:rPr lang="ko-KR" altLang="en-US" sz="1100" dirty="0" err="1"/>
              <a:t>라이팅에</a:t>
            </a:r>
            <a:r>
              <a:rPr lang="ko-KR" altLang="en-US" sz="1100" dirty="0"/>
              <a:t> 필요한 정보 출력</a:t>
            </a:r>
          </a:p>
        </p:txBody>
      </p:sp>
      <p:sp>
        <p:nvSpPr>
          <p:cNvPr id="2187" name="TextBox 2186">
            <a:extLst>
              <a:ext uri="{FF2B5EF4-FFF2-40B4-BE49-F238E27FC236}">
                <a16:creationId xmlns:a16="http://schemas.microsoft.com/office/drawing/2014/main" id="{620E3FA6-B58C-5113-85C3-9AFA197AFAD8}"/>
              </a:ext>
            </a:extLst>
          </p:cNvPr>
          <p:cNvSpPr txBox="1"/>
          <p:nvPr/>
        </p:nvSpPr>
        <p:spPr>
          <a:xfrm>
            <a:off x="5579369" y="2561756"/>
            <a:ext cx="60967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이 텍스처들을 </a:t>
            </a:r>
            <a:r>
              <a:rPr lang="en-US" altLang="ko-KR" sz="1600" dirty="0"/>
              <a:t>“</a:t>
            </a:r>
            <a:r>
              <a:rPr lang="en-US" altLang="ko-KR" sz="1600" b="1" dirty="0"/>
              <a:t>G-Buffer</a:t>
            </a:r>
            <a:r>
              <a:rPr lang="en-US" altLang="ko-KR" sz="1600" dirty="0"/>
              <a:t>” </a:t>
            </a:r>
            <a:r>
              <a:rPr lang="ko-KR" altLang="en-US" sz="1600" dirty="0" err="1"/>
              <a:t>라고한다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일반적으로 각 픽셀마다 아래와 같은 정보를 저장한다</a:t>
            </a:r>
            <a:r>
              <a:rPr lang="en-US" altLang="ko-KR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 dirty="0"/>
              <a:t>표면 위치</a:t>
            </a:r>
            <a:r>
              <a:rPr lang="ko-KR" altLang="en-US" sz="1600" dirty="0"/>
              <a:t> </a:t>
            </a:r>
            <a:r>
              <a:rPr lang="en-US" altLang="ko-KR" sz="1600" dirty="0"/>
              <a:t>(</a:t>
            </a:r>
            <a:r>
              <a:rPr lang="ko-KR" altLang="en-US" sz="1600" dirty="0"/>
              <a:t>월드 좌표 또는 뷰 공간 좌표</a:t>
            </a:r>
            <a:r>
              <a:rPr lang="en-US" altLang="ko-KR" sz="16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 dirty="0" err="1"/>
              <a:t>노멀</a:t>
            </a:r>
            <a:r>
              <a:rPr lang="ko-KR" altLang="en-US" sz="1600" b="1" dirty="0"/>
              <a:t> 벡터</a:t>
            </a:r>
            <a:r>
              <a:rPr lang="ko-KR" altLang="en-US" sz="1600" dirty="0"/>
              <a:t> </a:t>
            </a:r>
            <a:r>
              <a:rPr lang="en-US" altLang="ko-KR" sz="1600" dirty="0"/>
              <a:t>(</a:t>
            </a:r>
            <a:r>
              <a:rPr lang="ko-KR" altLang="en-US" sz="1600" dirty="0"/>
              <a:t>월드 </a:t>
            </a:r>
            <a:r>
              <a:rPr lang="ko-KR" altLang="en-US" sz="1600" dirty="0" err="1"/>
              <a:t>노멀</a:t>
            </a:r>
            <a:r>
              <a:rPr lang="ko-KR" altLang="en-US" sz="1600" dirty="0"/>
              <a:t> 또는 뷰 </a:t>
            </a:r>
            <a:r>
              <a:rPr lang="ko-KR" altLang="en-US" sz="1600" dirty="0" err="1"/>
              <a:t>노멀</a:t>
            </a:r>
            <a:r>
              <a:rPr lang="en-US" altLang="ko-KR" sz="16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 dirty="0"/>
              <a:t>재질 정보</a:t>
            </a:r>
            <a:r>
              <a:rPr lang="ko-KR" altLang="en-US" sz="1600" dirty="0"/>
              <a:t> </a:t>
            </a:r>
            <a:r>
              <a:rPr lang="en-US" altLang="ko-KR" sz="1600" dirty="0"/>
              <a:t>(</a:t>
            </a:r>
            <a:r>
              <a:rPr lang="ko-KR" altLang="en-US" sz="1600" dirty="0"/>
              <a:t>반사도</a:t>
            </a:r>
            <a:r>
              <a:rPr lang="en-US" altLang="ko-KR" sz="1600" dirty="0"/>
              <a:t>, </a:t>
            </a:r>
            <a:r>
              <a:rPr lang="ko-KR" altLang="en-US" sz="1600" dirty="0"/>
              <a:t>알베도 색상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메탈릭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러프니스</a:t>
            </a:r>
            <a:r>
              <a:rPr lang="ko-KR" altLang="en-US" sz="1600" dirty="0"/>
              <a:t> 등</a:t>
            </a:r>
            <a:r>
              <a:rPr lang="en-US" altLang="ko-KR" sz="1600" dirty="0"/>
              <a:t>)</a:t>
            </a:r>
          </a:p>
        </p:txBody>
      </p:sp>
      <p:cxnSp>
        <p:nvCxnSpPr>
          <p:cNvPr id="2197" name="직선 화살표 연결선 2196">
            <a:extLst>
              <a:ext uri="{FF2B5EF4-FFF2-40B4-BE49-F238E27FC236}">
                <a16:creationId xmlns:a16="http://schemas.microsoft.com/office/drawing/2014/main" id="{4F828B3D-0236-6C04-63E7-B201DD7539BB}"/>
              </a:ext>
            </a:extLst>
          </p:cNvPr>
          <p:cNvCxnSpPr>
            <a:cxnSpLocks/>
            <a:stCxn id="2110" idx="3"/>
            <a:endCxn id="2174" idx="1"/>
          </p:cNvCxnSpPr>
          <p:nvPr/>
        </p:nvCxnSpPr>
        <p:spPr>
          <a:xfrm flipV="1">
            <a:off x="9800447" y="5590279"/>
            <a:ext cx="486024" cy="10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3" name="TextBox 2202">
            <a:extLst>
              <a:ext uri="{FF2B5EF4-FFF2-40B4-BE49-F238E27FC236}">
                <a16:creationId xmlns:a16="http://schemas.microsoft.com/office/drawing/2014/main" id="{8C72F881-BAE5-4098-2B4D-BC889FC1B8D3}"/>
              </a:ext>
            </a:extLst>
          </p:cNvPr>
          <p:cNvSpPr txBox="1"/>
          <p:nvPr/>
        </p:nvSpPr>
        <p:spPr>
          <a:xfrm>
            <a:off x="10229424" y="4429961"/>
            <a:ext cx="16462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Back Buffer</a:t>
            </a:r>
          </a:p>
          <a:p>
            <a:r>
              <a:rPr lang="en-US" altLang="ko-KR" b="1" dirty="0" err="1"/>
              <a:t>RenderTarget</a:t>
            </a:r>
            <a:endParaRPr lang="ko-KR" altLang="en-US" b="1" dirty="0"/>
          </a:p>
        </p:txBody>
      </p:sp>
      <p:sp>
        <p:nvSpPr>
          <p:cNvPr id="2204" name="TextBox 2203">
            <a:extLst>
              <a:ext uri="{FF2B5EF4-FFF2-40B4-BE49-F238E27FC236}">
                <a16:creationId xmlns:a16="http://schemas.microsoft.com/office/drawing/2014/main" id="{19CC2025-3264-B021-A26B-C6F21D37B0D2}"/>
              </a:ext>
            </a:extLst>
          </p:cNvPr>
          <p:cNvSpPr txBox="1"/>
          <p:nvPr/>
        </p:nvSpPr>
        <p:spPr>
          <a:xfrm>
            <a:off x="4263172" y="5742801"/>
            <a:ext cx="9541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/>
              <a:t>DepthBuffer</a:t>
            </a:r>
            <a:endParaRPr lang="ko-KR" alt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491666-DD74-838F-1751-3DB748AACDA1}"/>
              </a:ext>
            </a:extLst>
          </p:cNvPr>
          <p:cNvSpPr txBox="1"/>
          <p:nvPr/>
        </p:nvSpPr>
        <p:spPr>
          <a:xfrm>
            <a:off x="983984" y="4506962"/>
            <a:ext cx="1120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Draw Call</a:t>
            </a:r>
            <a:endParaRPr lang="ko-KR" altLang="en-US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FC9845-8035-22BB-B611-9D43B6ABC1D1}"/>
              </a:ext>
            </a:extLst>
          </p:cNvPr>
          <p:cNvSpPr txBox="1"/>
          <p:nvPr/>
        </p:nvSpPr>
        <p:spPr>
          <a:xfrm>
            <a:off x="6973044" y="5182692"/>
            <a:ext cx="1120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Draw Call</a:t>
            </a:r>
            <a:endParaRPr lang="ko-KR" altLang="en-US" sz="1600" b="1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3142173-9443-D1F2-8691-01B0A53DAD3E}"/>
              </a:ext>
            </a:extLst>
          </p:cNvPr>
          <p:cNvCxnSpPr/>
          <p:nvPr/>
        </p:nvCxnSpPr>
        <p:spPr>
          <a:xfrm>
            <a:off x="5217279" y="3341613"/>
            <a:ext cx="878721" cy="1924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A413A0F-3898-5AA2-F9AA-8D4FB5ED31DA}"/>
              </a:ext>
            </a:extLst>
          </p:cNvPr>
          <p:cNvCxnSpPr>
            <a:cxnSpLocks/>
          </p:cNvCxnSpPr>
          <p:nvPr/>
        </p:nvCxnSpPr>
        <p:spPr>
          <a:xfrm>
            <a:off x="5209669" y="4337593"/>
            <a:ext cx="879127" cy="972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565DD26-C94F-68E6-B437-396F69BB2CFC}"/>
              </a:ext>
            </a:extLst>
          </p:cNvPr>
          <p:cNvCxnSpPr>
            <a:cxnSpLocks/>
          </p:cNvCxnSpPr>
          <p:nvPr/>
        </p:nvCxnSpPr>
        <p:spPr>
          <a:xfrm flipV="1">
            <a:off x="5141991" y="5327888"/>
            <a:ext cx="952332" cy="7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FD743A7-9A1B-ABC5-9E55-87E359857CE6}"/>
              </a:ext>
            </a:extLst>
          </p:cNvPr>
          <p:cNvCxnSpPr>
            <a:cxnSpLocks/>
          </p:cNvCxnSpPr>
          <p:nvPr/>
        </p:nvCxnSpPr>
        <p:spPr>
          <a:xfrm flipV="1">
            <a:off x="5141991" y="5371296"/>
            <a:ext cx="946805" cy="962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DBDC496-2FDD-845D-68AE-4EC187A0063B}"/>
              </a:ext>
            </a:extLst>
          </p:cNvPr>
          <p:cNvSpPr txBox="1"/>
          <p:nvPr/>
        </p:nvSpPr>
        <p:spPr>
          <a:xfrm>
            <a:off x="4277001" y="3082770"/>
            <a:ext cx="994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BaseColor</a:t>
            </a:r>
            <a:endParaRPr lang="ko-KR" alt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5F0107-591E-1406-9F97-4FDC439E6B55}"/>
              </a:ext>
            </a:extLst>
          </p:cNvPr>
          <p:cNvSpPr txBox="1"/>
          <p:nvPr/>
        </p:nvSpPr>
        <p:spPr>
          <a:xfrm>
            <a:off x="4373238" y="4242792"/>
            <a:ext cx="79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Normal</a:t>
            </a:r>
            <a:endParaRPr lang="ko-KR" alt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B82F5B-D997-95C8-40BF-62A61ED71F00}"/>
              </a:ext>
            </a:extLst>
          </p:cNvPr>
          <p:cNvSpPr txBox="1"/>
          <p:nvPr/>
        </p:nvSpPr>
        <p:spPr>
          <a:xfrm>
            <a:off x="4149369" y="5030219"/>
            <a:ext cx="1730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Metalic</a:t>
            </a:r>
            <a:r>
              <a:rPr lang="en-US" altLang="ko-KR" sz="1400" dirty="0"/>
              <a:t>/Roughness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7DC4E6-84F6-C932-E743-2C103423946C}"/>
              </a:ext>
            </a:extLst>
          </p:cNvPr>
          <p:cNvSpPr txBox="1"/>
          <p:nvPr/>
        </p:nvSpPr>
        <p:spPr>
          <a:xfrm>
            <a:off x="4464428" y="6185098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Depth</a:t>
            </a:r>
            <a:endParaRPr lang="ko-KR" alt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3E2EFE-0644-517C-592C-BB482F5D8801}"/>
              </a:ext>
            </a:extLst>
          </p:cNvPr>
          <p:cNvSpPr txBox="1"/>
          <p:nvPr/>
        </p:nvSpPr>
        <p:spPr>
          <a:xfrm>
            <a:off x="5583067" y="4368462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Sample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07592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1D3CF0-F19B-291F-3060-DCC7AC9FF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Directional Light</a:t>
            </a:r>
            <a:endParaRPr lang="ko-KR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6850023-13BA-4986-08A9-A0798D3FA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8668" y="2131572"/>
            <a:ext cx="11498140" cy="4725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D50EE5-D743-865F-9928-D697553FA73D}"/>
              </a:ext>
            </a:extLst>
          </p:cNvPr>
          <p:cNvSpPr txBox="1"/>
          <p:nvPr/>
        </p:nvSpPr>
        <p:spPr>
          <a:xfrm>
            <a:off x="1833372" y="56377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원근투영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773D0-1EA4-A124-9F37-E137C7B04C6E}"/>
              </a:ext>
            </a:extLst>
          </p:cNvPr>
          <p:cNvSpPr txBox="1"/>
          <p:nvPr/>
        </p:nvSpPr>
        <p:spPr>
          <a:xfrm>
            <a:off x="6600930" y="5699277"/>
            <a:ext cx="3370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Quad</a:t>
            </a:r>
            <a:r>
              <a:rPr lang="ko-KR" altLang="en-US" sz="1400" dirty="0"/>
              <a:t>를 </a:t>
            </a:r>
            <a:r>
              <a:rPr lang="en-US" altLang="ko-KR" sz="1400" dirty="0"/>
              <a:t> </a:t>
            </a:r>
            <a:r>
              <a:rPr lang="ko-KR" altLang="en-US" sz="1400" dirty="0" err="1"/>
              <a:t>그릴때</a:t>
            </a:r>
            <a:r>
              <a:rPr lang="ko-KR" altLang="en-US" sz="1400" dirty="0"/>
              <a:t> </a:t>
            </a:r>
            <a:r>
              <a:rPr lang="en-US" altLang="ko-KR" sz="1400" dirty="0"/>
              <a:t>PS</a:t>
            </a:r>
            <a:r>
              <a:rPr lang="ko-KR" altLang="en-US" sz="1400" dirty="0"/>
              <a:t>에서 </a:t>
            </a:r>
            <a:r>
              <a:rPr lang="ko-KR" altLang="en-US" sz="1400" dirty="0" err="1"/>
              <a:t>조명처리한다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FB455D-BC6B-7FDF-95BC-03B260C9CBBD}"/>
              </a:ext>
            </a:extLst>
          </p:cNvPr>
          <p:cNvSpPr txBox="1"/>
          <p:nvPr/>
        </p:nvSpPr>
        <p:spPr>
          <a:xfrm>
            <a:off x="6786862" y="3042105"/>
            <a:ext cx="4026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-1,-1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D9BCBB-F938-C4F2-B4FE-7E1E5F0264A6}"/>
              </a:ext>
            </a:extLst>
          </p:cNvPr>
          <p:cNvSpPr txBox="1"/>
          <p:nvPr/>
        </p:nvSpPr>
        <p:spPr>
          <a:xfrm>
            <a:off x="7732553" y="3213556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1,-1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F2A458-748F-4B5C-CE18-275CC342EEE8}"/>
              </a:ext>
            </a:extLst>
          </p:cNvPr>
          <p:cNvSpPr txBox="1"/>
          <p:nvPr/>
        </p:nvSpPr>
        <p:spPr>
          <a:xfrm>
            <a:off x="6728237" y="4600396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-1,1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251D1D-8720-66EE-9A43-C748A7B69294}"/>
              </a:ext>
            </a:extLst>
          </p:cNvPr>
          <p:cNvSpPr txBox="1"/>
          <p:nvPr/>
        </p:nvSpPr>
        <p:spPr>
          <a:xfrm>
            <a:off x="7814562" y="4848331"/>
            <a:ext cx="3193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1,1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B5FA57-8A21-7249-93D3-D51D6F2BEF72}"/>
              </a:ext>
            </a:extLst>
          </p:cNvPr>
          <p:cNvSpPr txBox="1"/>
          <p:nvPr/>
        </p:nvSpPr>
        <p:spPr>
          <a:xfrm>
            <a:off x="6786862" y="2391674"/>
            <a:ext cx="1499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NDC</a:t>
            </a:r>
            <a:r>
              <a:rPr lang="ko-KR" altLang="en-US" sz="1800" dirty="0"/>
              <a:t> </a:t>
            </a:r>
            <a:r>
              <a:rPr lang="en-US" altLang="ko-KR" sz="1800" dirty="0"/>
              <a:t>Quad</a:t>
            </a:r>
            <a:endParaRPr lang="ko-KR" altLang="en-US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2332398-AF4A-B4E0-0347-A6E180584765}"/>
              </a:ext>
            </a:extLst>
          </p:cNvPr>
          <p:cNvCxnSpPr/>
          <p:nvPr/>
        </p:nvCxnSpPr>
        <p:spPr>
          <a:xfrm>
            <a:off x="831509" y="2447484"/>
            <a:ext cx="2463800" cy="2762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03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F6401-CF6B-C5F0-11E9-C928D36E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G-Buffer</a:t>
            </a:r>
            <a:endParaRPr lang="ko-KR" altLang="en-US" dirty="0"/>
          </a:p>
        </p:txBody>
      </p:sp>
      <p:pic>
        <p:nvPicPr>
          <p:cNvPr id="4098" name="Picture 2" descr="Deferred Rendering Path in URP | Universal RP | 13.1.9">
            <a:extLst>
              <a:ext uri="{FF2B5EF4-FFF2-40B4-BE49-F238E27FC236}">
                <a16:creationId xmlns:a16="http://schemas.microsoft.com/office/drawing/2014/main" id="{4FF20137-B4AA-2F56-53AE-5B5F0D26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14" y="2267145"/>
            <a:ext cx="4533603" cy="364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D3FF8588-2A97-5570-4112-93CFD2515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692" y="2267305"/>
            <a:ext cx="5651367" cy="3639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470F01-9161-820D-C3DD-76195A7E83E7}"/>
              </a:ext>
            </a:extLst>
          </p:cNvPr>
          <p:cNvSpPr txBox="1"/>
          <p:nvPr/>
        </p:nvSpPr>
        <p:spPr>
          <a:xfrm>
            <a:off x="1173637" y="1852367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unity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4E55C0-D0E9-5189-8C20-4D6A985C2E42}"/>
              </a:ext>
            </a:extLst>
          </p:cNvPr>
          <p:cNvSpPr txBox="1"/>
          <p:nvPr/>
        </p:nvSpPr>
        <p:spPr>
          <a:xfrm>
            <a:off x="8504549" y="1823374"/>
            <a:ext cx="829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unreal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8846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7AE4EE-B4BE-B2D0-3F83-D16E8CEC5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Deferred</a:t>
            </a:r>
            <a:r>
              <a:rPr lang="ko-KR" altLang="en-US" dirty="0"/>
              <a:t> </a:t>
            </a:r>
            <a:r>
              <a:rPr lang="en-US" altLang="ko-KR" dirty="0"/>
              <a:t>Shading</a:t>
            </a:r>
            <a:r>
              <a:rPr lang="ko-KR" altLang="en-US" dirty="0"/>
              <a:t>의 단점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A6976F-97C7-80F0-A56F-DC0FFAEFDB5E}"/>
              </a:ext>
            </a:extLst>
          </p:cNvPr>
          <p:cNvSpPr txBox="1"/>
          <p:nvPr/>
        </p:nvSpPr>
        <p:spPr>
          <a:xfrm>
            <a:off x="228047" y="1742470"/>
            <a:ext cx="1173590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반투명 처리 불가능</a:t>
            </a:r>
            <a:endParaRPr lang="en-US" altLang="ko-KR" dirty="0"/>
          </a:p>
          <a:p>
            <a:r>
              <a:rPr lang="en-US" altLang="ko-KR" dirty="0"/>
              <a:t>Deferred Rendering</a:t>
            </a:r>
            <a:r>
              <a:rPr lang="ko-KR" altLang="en-US" dirty="0"/>
              <a:t>의 전제</a:t>
            </a:r>
          </a:p>
          <a:p>
            <a:r>
              <a:rPr lang="en-US" altLang="ko-KR" dirty="0"/>
              <a:t>Deferred</a:t>
            </a:r>
            <a:r>
              <a:rPr lang="ko-KR" altLang="en-US" dirty="0"/>
              <a:t>는</a:t>
            </a:r>
            <a:r>
              <a:rPr lang="en-US" altLang="ko-KR" dirty="0"/>
              <a:t>: G-buffer</a:t>
            </a:r>
            <a:r>
              <a:rPr lang="ko-KR" altLang="en-US" dirty="0"/>
              <a:t>에 한 픽셀당 하나의 표면 정보만 저장</a:t>
            </a:r>
          </a:p>
          <a:p>
            <a:r>
              <a:rPr lang="en-US" altLang="ko-KR" dirty="0"/>
              <a:t>Depth Test </a:t>
            </a:r>
            <a:r>
              <a:rPr lang="ko-KR" altLang="en-US" dirty="0"/>
              <a:t>결과</a:t>
            </a:r>
            <a:r>
              <a:rPr lang="en-US" altLang="ko-KR" dirty="0"/>
              <a:t>: </a:t>
            </a:r>
            <a:r>
              <a:rPr lang="ko-KR" altLang="en-US" dirty="0"/>
              <a:t>가장 앞에 보이는 불투명 표면 </a:t>
            </a:r>
            <a:r>
              <a:rPr lang="en-US" altLang="ko-KR" dirty="0"/>
              <a:t>1</a:t>
            </a:r>
            <a:r>
              <a:rPr lang="ko-KR" altLang="en-US" dirty="0"/>
              <a:t>개만 남음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: </a:t>
            </a:r>
            <a:r>
              <a:rPr lang="ko-KR" altLang="en-US" dirty="0"/>
              <a:t>픽셀당 다중 레이어</a:t>
            </a:r>
            <a:r>
              <a:rPr lang="en-US" altLang="ko-KR" dirty="0"/>
              <a:t>(</a:t>
            </a:r>
            <a:r>
              <a:rPr lang="ko-KR" altLang="en-US" dirty="0"/>
              <a:t>겹침</a:t>
            </a:r>
            <a:r>
              <a:rPr lang="en-US" altLang="ko-KR" dirty="0"/>
              <a:t>) </a:t>
            </a:r>
            <a:r>
              <a:rPr lang="ko-KR" altLang="en-US" dirty="0"/>
              <a:t>정보가 없다</a:t>
            </a:r>
            <a:r>
              <a:rPr lang="en-US" altLang="ko-KR" dirty="0"/>
              <a:t>. </a:t>
            </a:r>
            <a:r>
              <a:rPr lang="ko-KR" altLang="en-US" dirty="0"/>
              <a:t>불투명</a:t>
            </a:r>
            <a:r>
              <a:rPr lang="en-US" altLang="ko-KR" dirty="0"/>
              <a:t>(Opaque)</a:t>
            </a:r>
            <a:r>
              <a:rPr lang="ko-KR" altLang="en-US" dirty="0"/>
              <a:t>만 자연스럽다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반투명은 본질적으로</a:t>
            </a:r>
            <a:r>
              <a:rPr lang="en-US" altLang="ko-KR" dirty="0"/>
              <a:t> </a:t>
            </a:r>
            <a:r>
              <a:rPr lang="ko-KR" altLang="en-US" dirty="0"/>
              <a:t>뒤의 색을 누적해서 섞어야 함 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Depth </a:t>
            </a:r>
            <a:r>
              <a:rPr lang="ko-KR" altLang="en-US" dirty="0"/>
              <a:t>순서 정렬 </a:t>
            </a:r>
            <a:r>
              <a:rPr lang="en-US" altLang="ko-KR" dirty="0"/>
              <a:t>-&gt; </a:t>
            </a:r>
            <a:r>
              <a:rPr lang="ko-KR" altLang="en-US" dirty="0"/>
              <a:t>여러 레이어의 색을 합성</a:t>
            </a:r>
          </a:p>
          <a:p>
            <a:r>
              <a:rPr lang="ko-KR" altLang="en-US" dirty="0"/>
              <a:t>하지만 </a:t>
            </a:r>
            <a:r>
              <a:rPr lang="en-US" altLang="ko-KR" dirty="0"/>
              <a:t>Deferred</a:t>
            </a:r>
            <a:r>
              <a:rPr lang="ko-KR" altLang="en-US" dirty="0"/>
              <a:t>에서는</a:t>
            </a:r>
            <a:r>
              <a:rPr lang="en-US" altLang="ko-KR" dirty="0"/>
              <a:t> G-buffer</a:t>
            </a:r>
            <a:r>
              <a:rPr lang="ko-KR" altLang="en-US" dirty="0"/>
              <a:t>에 한 레이어만 있음  뒤의 정보는 이미 </a:t>
            </a:r>
            <a:r>
              <a:rPr lang="ko-KR" altLang="en-US" dirty="0" err="1"/>
              <a:t>버려짐</a:t>
            </a:r>
            <a:endParaRPr lang="ko-KR" altLang="en-US" dirty="0"/>
          </a:p>
          <a:p>
            <a:endParaRPr lang="ko-KR" altLang="en-US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대역폭 문제</a:t>
            </a:r>
            <a:endParaRPr lang="en-US" altLang="ko-KR" dirty="0"/>
          </a:p>
          <a:p>
            <a:r>
              <a:rPr lang="ko-KR" altLang="en-US" dirty="0"/>
              <a:t>화면의 크기가 커질수록 </a:t>
            </a:r>
            <a:r>
              <a:rPr lang="en-US" altLang="ko-KR" dirty="0"/>
              <a:t>G-Buffer</a:t>
            </a:r>
            <a:r>
              <a:rPr lang="ko-KR" altLang="en-US" dirty="0"/>
              <a:t>의 그래픽카드의 비디오메모리 사용량과 읽기</a:t>
            </a:r>
            <a:r>
              <a:rPr lang="en-US" altLang="ko-KR" dirty="0"/>
              <a:t>,</a:t>
            </a:r>
            <a:r>
              <a:rPr lang="ko-KR" altLang="en-US" dirty="0"/>
              <a:t>쓰기 대역폭</a:t>
            </a:r>
            <a:r>
              <a:rPr lang="en-US" altLang="ko-KR" dirty="0"/>
              <a:t>(</a:t>
            </a:r>
            <a:r>
              <a:rPr lang="ko-KR" altLang="en-US" dirty="0" err="1"/>
              <a:t>전송량</a:t>
            </a:r>
            <a:r>
              <a:rPr lang="en-US" altLang="ko-KR" dirty="0"/>
              <a:t>)</a:t>
            </a:r>
            <a:r>
              <a:rPr lang="ko-KR" altLang="en-US" dirty="0"/>
              <a:t>이 늘어난다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G-Buffer </a:t>
            </a:r>
            <a:r>
              <a:rPr lang="ko-KR" altLang="en-US" dirty="0"/>
              <a:t>구성의 텍스처 수를 줄이도록 노력해야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모바일에서 문제되므로 </a:t>
            </a:r>
            <a:r>
              <a:rPr lang="en-US" altLang="ko-KR" dirty="0"/>
              <a:t>PC</a:t>
            </a:r>
            <a:r>
              <a:rPr lang="ko-KR" altLang="en-US" dirty="0"/>
              <a:t>에서와는 다른 그래픽 카드의 렌더링 방식이 사용됨</a:t>
            </a:r>
            <a:r>
              <a:rPr lang="en-US" altLang="ko-KR" dirty="0"/>
              <a:t>.  Tile</a:t>
            </a:r>
            <a:r>
              <a:rPr lang="ko-KR" altLang="en-US" dirty="0"/>
              <a:t> </a:t>
            </a:r>
            <a:r>
              <a:rPr lang="en-US" altLang="ko-KR" dirty="0"/>
              <a:t>Based Rendering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5504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55BB45-005F-E8E2-4AFD-FDF637E8E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Point Light </a:t>
            </a:r>
            <a:r>
              <a:rPr lang="ko-KR" altLang="en-US" dirty="0"/>
              <a:t> 멀티 라이트 처리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10C7FDC-3D88-CB86-F79C-774A0712ED58}"/>
              </a:ext>
            </a:extLst>
          </p:cNvPr>
          <p:cNvGrpSpPr/>
          <p:nvPr/>
        </p:nvGrpSpPr>
        <p:grpSpPr>
          <a:xfrm>
            <a:off x="515741" y="3341176"/>
            <a:ext cx="3319152" cy="2173187"/>
            <a:chOff x="172193" y="2933203"/>
            <a:chExt cx="4645921" cy="327462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77CA27E-B519-6353-0A73-2C4F3FB273B9}"/>
                </a:ext>
              </a:extLst>
            </p:cNvPr>
            <p:cNvSpPr/>
            <p:nvPr/>
          </p:nvSpPr>
          <p:spPr>
            <a:xfrm>
              <a:off x="2374469" y="4001982"/>
              <a:ext cx="753490" cy="71845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이등변 삼각형 6">
              <a:extLst>
                <a:ext uri="{FF2B5EF4-FFF2-40B4-BE49-F238E27FC236}">
                  <a16:creationId xmlns:a16="http://schemas.microsoft.com/office/drawing/2014/main" id="{BDEBF345-C0AE-8BBB-27AD-C78ADBFBCC1D}"/>
                </a:ext>
              </a:extLst>
            </p:cNvPr>
            <p:cNvSpPr/>
            <p:nvPr/>
          </p:nvSpPr>
          <p:spPr>
            <a:xfrm rot="16200000">
              <a:off x="670956" y="2434440"/>
              <a:ext cx="3051960" cy="404948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D590A2F-A933-1255-72A1-2C79112E9217}"/>
                </a:ext>
              </a:extLst>
            </p:cNvPr>
            <p:cNvSpPr/>
            <p:nvPr/>
          </p:nvSpPr>
          <p:spPr>
            <a:xfrm>
              <a:off x="4762005" y="2933203"/>
              <a:ext cx="45719" cy="30519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7A050436-AF9D-5865-9264-A41C8AF768DC}"/>
                </a:ext>
              </a:extLst>
            </p:cNvPr>
            <p:cNvSpPr/>
            <p:nvPr/>
          </p:nvSpPr>
          <p:spPr>
            <a:xfrm>
              <a:off x="573279" y="3333993"/>
              <a:ext cx="1961211" cy="18466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해 10">
              <a:extLst>
                <a:ext uri="{FF2B5EF4-FFF2-40B4-BE49-F238E27FC236}">
                  <a16:creationId xmlns:a16="http://schemas.microsoft.com/office/drawing/2014/main" id="{7F1ACCC0-A827-F300-8F42-70E609141CAD}"/>
                </a:ext>
              </a:extLst>
            </p:cNvPr>
            <p:cNvSpPr/>
            <p:nvPr/>
          </p:nvSpPr>
          <p:spPr>
            <a:xfrm>
              <a:off x="3086395" y="5180608"/>
              <a:ext cx="251461" cy="238992"/>
            </a:xfrm>
            <a:prstGeom prst="sun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해 11">
              <a:extLst>
                <a:ext uri="{FF2B5EF4-FFF2-40B4-BE49-F238E27FC236}">
                  <a16:creationId xmlns:a16="http://schemas.microsoft.com/office/drawing/2014/main" id="{D99D6132-6F62-3217-0B10-BC17F0548E2D}"/>
                </a:ext>
              </a:extLst>
            </p:cNvPr>
            <p:cNvSpPr/>
            <p:nvPr/>
          </p:nvSpPr>
          <p:spPr>
            <a:xfrm>
              <a:off x="1428155" y="4197184"/>
              <a:ext cx="251461" cy="238992"/>
            </a:xfrm>
            <a:prstGeom prst="sun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37B9145-FD26-9863-4559-13C7C33BD176}"/>
                </a:ext>
              </a:extLst>
            </p:cNvPr>
            <p:cNvSpPr/>
            <p:nvPr/>
          </p:nvSpPr>
          <p:spPr>
            <a:xfrm>
              <a:off x="2196935" y="4361210"/>
              <a:ext cx="1961211" cy="18466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7FFFC39-8D55-4A53-35EB-5482FCCD77B8}"/>
                </a:ext>
              </a:extLst>
            </p:cNvPr>
            <p:cNvSpPr/>
            <p:nvPr/>
          </p:nvSpPr>
          <p:spPr>
            <a:xfrm>
              <a:off x="3257104" y="3515090"/>
              <a:ext cx="771896" cy="74221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58C040A-5DC8-45C5-3F20-0FA2564AE79E}"/>
                </a:ext>
              </a:extLst>
            </p:cNvPr>
            <p:cNvSpPr/>
            <p:nvPr/>
          </p:nvSpPr>
          <p:spPr>
            <a:xfrm>
              <a:off x="4759632" y="3515090"/>
              <a:ext cx="45719" cy="74221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AD857A3-08D8-531A-6A9A-CA3D06121A0A}"/>
                </a:ext>
              </a:extLst>
            </p:cNvPr>
            <p:cNvSpPr/>
            <p:nvPr/>
          </p:nvSpPr>
          <p:spPr>
            <a:xfrm>
              <a:off x="4762005" y="3957452"/>
              <a:ext cx="56109" cy="71845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B576E45-60C6-89E5-D963-8599F1C5A7C8}"/>
              </a:ext>
            </a:extLst>
          </p:cNvPr>
          <p:cNvSpPr txBox="1"/>
          <p:nvPr/>
        </p:nvSpPr>
        <p:spPr>
          <a:xfrm>
            <a:off x="468239" y="2458716"/>
            <a:ext cx="3872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깊이 값 테스트를 하면서 </a:t>
            </a:r>
            <a:r>
              <a:rPr lang="en-US" altLang="ko-KR" sz="1200" dirty="0" err="1"/>
              <a:t>GBuffer</a:t>
            </a:r>
            <a:r>
              <a:rPr lang="ko-KR" altLang="en-US" sz="1200" dirty="0"/>
              <a:t>에</a:t>
            </a:r>
            <a:r>
              <a:rPr lang="en-US" altLang="ko-KR" sz="1200" dirty="0"/>
              <a:t> </a:t>
            </a:r>
            <a:r>
              <a:rPr lang="ko-KR" altLang="en-US" sz="1200" dirty="0" err="1"/>
              <a:t>메쉬를</a:t>
            </a:r>
            <a:r>
              <a:rPr lang="ko-KR" altLang="en-US" sz="1200" dirty="0"/>
              <a:t> </a:t>
            </a:r>
            <a:r>
              <a:rPr lang="en-US" altLang="ko-KR" sz="1200" dirty="0"/>
              <a:t>Draw</a:t>
            </a:r>
            <a:r>
              <a:rPr lang="ko-KR" altLang="en-US" sz="1200" dirty="0"/>
              <a:t>한다</a:t>
            </a:r>
            <a:r>
              <a:rPr lang="en-US" altLang="ko-KR" sz="1200" dirty="0"/>
              <a:t>.  </a:t>
            </a:r>
            <a:r>
              <a:rPr lang="ko-KR" altLang="en-US" sz="1200" dirty="0"/>
              <a:t>카메라 가까운 쪽의 </a:t>
            </a:r>
            <a:r>
              <a:rPr lang="ko-KR" altLang="en-US" sz="1200" dirty="0" err="1"/>
              <a:t>메쉬</a:t>
            </a:r>
            <a:r>
              <a:rPr lang="ko-KR" altLang="en-US" sz="1200" dirty="0"/>
              <a:t> </a:t>
            </a:r>
            <a:r>
              <a:rPr lang="en-US" altLang="ko-KR" sz="1200" dirty="0"/>
              <a:t>Geometry </a:t>
            </a:r>
            <a:r>
              <a:rPr lang="ko-KR" altLang="en-US" sz="1200" dirty="0"/>
              <a:t>정보만 남는다 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41037B3-05AD-5BEA-6670-D1178741516A}"/>
              </a:ext>
            </a:extLst>
          </p:cNvPr>
          <p:cNvSpPr/>
          <p:nvPr/>
        </p:nvSpPr>
        <p:spPr>
          <a:xfrm>
            <a:off x="8635821" y="3286012"/>
            <a:ext cx="32663" cy="20254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CFE7415-7392-4205-3672-6236E3B4E825}"/>
              </a:ext>
            </a:extLst>
          </p:cNvPr>
          <p:cNvGrpSpPr/>
          <p:nvPr/>
        </p:nvGrpSpPr>
        <p:grpSpPr>
          <a:xfrm>
            <a:off x="5821887" y="3567263"/>
            <a:ext cx="1401134" cy="1225497"/>
            <a:chOff x="3677928" y="3638573"/>
            <a:chExt cx="1401134" cy="1225497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3483A8F9-F74B-C1D5-D0E0-BC53E33ED7D6}"/>
                </a:ext>
              </a:extLst>
            </p:cNvPr>
            <p:cNvSpPr/>
            <p:nvPr/>
          </p:nvSpPr>
          <p:spPr>
            <a:xfrm>
              <a:off x="3677928" y="3638573"/>
              <a:ext cx="1401134" cy="122549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해 23">
              <a:extLst>
                <a:ext uri="{FF2B5EF4-FFF2-40B4-BE49-F238E27FC236}">
                  <a16:creationId xmlns:a16="http://schemas.microsoft.com/office/drawing/2014/main" id="{7EDA98A3-A5C2-867F-F79C-F93CFFF2C156}"/>
                </a:ext>
              </a:extLst>
            </p:cNvPr>
            <p:cNvSpPr/>
            <p:nvPr/>
          </p:nvSpPr>
          <p:spPr>
            <a:xfrm>
              <a:off x="4288671" y="4211426"/>
              <a:ext cx="179649" cy="158606"/>
            </a:xfrm>
            <a:prstGeom prst="sun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D4F0BA3-4105-97DC-D8D2-D091D93FA2A3}"/>
              </a:ext>
            </a:extLst>
          </p:cNvPr>
          <p:cNvGrpSpPr/>
          <p:nvPr/>
        </p:nvGrpSpPr>
        <p:grpSpPr>
          <a:xfrm>
            <a:off x="6931649" y="4288866"/>
            <a:ext cx="1401134" cy="1225497"/>
            <a:chOff x="3677928" y="3638573"/>
            <a:chExt cx="1401134" cy="1225497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AE878BC9-4E3E-A834-3B0C-3EEE298A7E07}"/>
                </a:ext>
              </a:extLst>
            </p:cNvPr>
            <p:cNvSpPr/>
            <p:nvPr/>
          </p:nvSpPr>
          <p:spPr>
            <a:xfrm>
              <a:off x="3677928" y="3638573"/>
              <a:ext cx="1401134" cy="122549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해 27">
              <a:extLst>
                <a:ext uri="{FF2B5EF4-FFF2-40B4-BE49-F238E27FC236}">
                  <a16:creationId xmlns:a16="http://schemas.microsoft.com/office/drawing/2014/main" id="{B17B6C48-B319-04B7-59FB-88089597A186}"/>
                </a:ext>
              </a:extLst>
            </p:cNvPr>
            <p:cNvSpPr/>
            <p:nvPr/>
          </p:nvSpPr>
          <p:spPr>
            <a:xfrm>
              <a:off x="4288671" y="4211426"/>
              <a:ext cx="179649" cy="158606"/>
            </a:xfrm>
            <a:prstGeom prst="sun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165F81A-D4BF-745E-1F6B-B3FE981B8E58}"/>
              </a:ext>
            </a:extLst>
          </p:cNvPr>
          <p:cNvSpPr txBox="1"/>
          <p:nvPr/>
        </p:nvSpPr>
        <p:spPr>
          <a:xfrm>
            <a:off x="5191219" y="2458716"/>
            <a:ext cx="6464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LightVoume</a:t>
            </a:r>
            <a:r>
              <a:rPr lang="en-US" altLang="ko-KR" sz="1200" dirty="0"/>
              <a:t>(</a:t>
            </a:r>
            <a:r>
              <a:rPr lang="ko-KR" altLang="en-US" sz="1200" dirty="0"/>
              <a:t>구</a:t>
            </a:r>
            <a:r>
              <a:rPr lang="en-US" altLang="ko-KR" sz="1200" dirty="0"/>
              <a:t>) </a:t>
            </a:r>
            <a:r>
              <a:rPr lang="ko-KR" altLang="en-US" sz="1200" dirty="0" err="1"/>
              <a:t>메쉬</a:t>
            </a:r>
            <a:r>
              <a:rPr lang="ko-KR" altLang="en-US" sz="1200" dirty="0"/>
              <a:t> 를 </a:t>
            </a:r>
            <a:r>
              <a:rPr lang="en-US" altLang="ko-KR" sz="1200" dirty="0" err="1"/>
              <a:t>BackBuffer</a:t>
            </a:r>
            <a:r>
              <a:rPr lang="ko-KR" altLang="en-US" sz="1200" dirty="0"/>
              <a:t>에 </a:t>
            </a:r>
            <a:r>
              <a:rPr lang="en-US" altLang="ko-KR" sz="1200" dirty="0"/>
              <a:t>Draw</a:t>
            </a:r>
            <a:r>
              <a:rPr lang="ko-KR" altLang="en-US" sz="1200" dirty="0"/>
              <a:t>한다</a:t>
            </a:r>
            <a:r>
              <a:rPr lang="en-US" altLang="ko-KR" sz="1200" dirty="0"/>
              <a:t>. (</a:t>
            </a:r>
            <a:r>
              <a:rPr lang="en-US" altLang="ko-KR" sz="1200" dirty="0" err="1"/>
              <a:t>AdditiveBlending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PS </a:t>
            </a:r>
            <a:r>
              <a:rPr lang="ko-KR" altLang="en-US" sz="1200" dirty="0"/>
              <a:t>에서 해당 위치</a:t>
            </a:r>
            <a:r>
              <a:rPr lang="en-US" altLang="ko-KR" sz="1200" dirty="0"/>
              <a:t>( screen </a:t>
            </a:r>
            <a:r>
              <a:rPr lang="ko-KR" altLang="en-US" sz="1200" dirty="0"/>
              <a:t>의 </a:t>
            </a:r>
            <a:r>
              <a:rPr lang="en-US" altLang="ko-KR" sz="1200" dirty="0" err="1"/>
              <a:t>Gbuffer</a:t>
            </a:r>
            <a:r>
              <a:rPr lang="ko-KR" altLang="en-US" sz="1200" dirty="0"/>
              <a:t>를 </a:t>
            </a:r>
            <a:r>
              <a:rPr lang="ko-KR" altLang="en-US" sz="1200" dirty="0" err="1"/>
              <a:t>샘플링하여</a:t>
            </a:r>
            <a:r>
              <a:rPr lang="ko-KR" altLang="en-US" sz="1200" dirty="0"/>
              <a:t> </a:t>
            </a:r>
            <a:r>
              <a:rPr lang="en-US" altLang="ko-KR" sz="1200" dirty="0" err="1"/>
              <a:t>PointLight</a:t>
            </a:r>
            <a:r>
              <a:rPr lang="en-US" altLang="ko-KR" sz="1200" dirty="0"/>
              <a:t> </a:t>
            </a:r>
            <a:r>
              <a:rPr lang="ko-KR" altLang="en-US" sz="1200" dirty="0"/>
              <a:t>연산 처리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FA920B-2406-4391-3930-2C3B87A0FCF4}"/>
              </a:ext>
            </a:extLst>
          </p:cNvPr>
          <p:cNvSpPr txBox="1"/>
          <p:nvPr/>
        </p:nvSpPr>
        <p:spPr>
          <a:xfrm>
            <a:off x="3460130" y="3009594"/>
            <a:ext cx="698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GBuffer</a:t>
            </a:r>
            <a:endParaRPr lang="ko-KR" altLang="en-US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17509A-076D-0FC5-FEC3-BF169B18F0B5}"/>
              </a:ext>
            </a:extLst>
          </p:cNvPr>
          <p:cNvSpPr txBox="1"/>
          <p:nvPr/>
        </p:nvSpPr>
        <p:spPr>
          <a:xfrm>
            <a:off x="8286508" y="3009595"/>
            <a:ext cx="9405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BackBuffer</a:t>
            </a:r>
            <a:endParaRPr lang="ko-KR" altLang="en-US" sz="1200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9D27B1C-BEA6-EBE5-FBC8-4ED5C09EEBD8}"/>
              </a:ext>
            </a:extLst>
          </p:cNvPr>
          <p:cNvSpPr/>
          <p:nvPr/>
        </p:nvSpPr>
        <p:spPr>
          <a:xfrm>
            <a:off x="8633068" y="3504717"/>
            <a:ext cx="45719" cy="122549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85FDCB7-160C-1ADC-FD9E-87645E70F42A}"/>
              </a:ext>
            </a:extLst>
          </p:cNvPr>
          <p:cNvSpPr/>
          <p:nvPr/>
        </p:nvSpPr>
        <p:spPr>
          <a:xfrm>
            <a:off x="8629292" y="4288865"/>
            <a:ext cx="45719" cy="122549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20A22B-E58B-3209-0563-AA67660623D7}"/>
              </a:ext>
            </a:extLst>
          </p:cNvPr>
          <p:cNvSpPr txBox="1"/>
          <p:nvPr/>
        </p:nvSpPr>
        <p:spPr>
          <a:xfrm>
            <a:off x="515740" y="1740110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en-US" altLang="ko-KR" dirty="0" err="1"/>
              <a:t>GBuffer</a:t>
            </a:r>
            <a:r>
              <a:rPr lang="en-US" altLang="ko-KR" dirty="0"/>
              <a:t> Pass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C4E158-298E-127C-9FB0-A0817AD97B5A}"/>
              </a:ext>
            </a:extLst>
          </p:cNvPr>
          <p:cNvSpPr txBox="1"/>
          <p:nvPr/>
        </p:nvSpPr>
        <p:spPr>
          <a:xfrm>
            <a:off x="5218929" y="1780012"/>
            <a:ext cx="2353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Light Volume Pass</a:t>
            </a:r>
            <a:endParaRPr lang="ko-KR" altLang="en-US" dirty="0"/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8F08D29-7F19-415F-E77E-F4292D9BD445}"/>
              </a:ext>
            </a:extLst>
          </p:cNvPr>
          <p:cNvCxnSpPr>
            <a:cxnSpLocks/>
          </p:cNvCxnSpPr>
          <p:nvPr/>
        </p:nvCxnSpPr>
        <p:spPr>
          <a:xfrm>
            <a:off x="8652151" y="5075204"/>
            <a:ext cx="629736" cy="174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DDBD4C5-64FF-25A3-F3DF-73AE493ADF85}"/>
              </a:ext>
            </a:extLst>
          </p:cNvPr>
          <p:cNvSpPr txBox="1"/>
          <p:nvPr/>
        </p:nvSpPr>
        <p:spPr>
          <a:xfrm>
            <a:off x="9366361" y="5285858"/>
            <a:ext cx="183575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Light</a:t>
            </a:r>
            <a:r>
              <a:rPr lang="ko-KR" altLang="en-US" sz="1100" dirty="0"/>
              <a:t>연산은 하지만</a:t>
            </a:r>
            <a:endParaRPr lang="en-US" altLang="ko-KR" sz="1100" dirty="0"/>
          </a:p>
          <a:p>
            <a:r>
              <a:rPr lang="en-US" altLang="ko-KR" sz="1100" dirty="0"/>
              <a:t>Geometry</a:t>
            </a:r>
            <a:r>
              <a:rPr lang="ko-KR" altLang="en-US" sz="1100" dirty="0"/>
              <a:t>가 없는 부분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정보가 없으므로 계산불가</a:t>
            </a:r>
            <a:endParaRPr lang="en-US" altLang="ko-KR" sz="1100" dirty="0"/>
          </a:p>
          <a:p>
            <a:r>
              <a:rPr lang="en-US" altLang="ko-KR" sz="1100" dirty="0"/>
              <a:t>normal</a:t>
            </a:r>
            <a:r>
              <a:rPr lang="ko-KR" altLang="en-US" sz="1100" dirty="0"/>
              <a:t>이 있는지 확인후</a:t>
            </a:r>
            <a:endParaRPr lang="en-US" altLang="ko-KR" sz="1100" dirty="0"/>
          </a:p>
          <a:p>
            <a:r>
              <a:rPr lang="ko-KR" altLang="en-US" sz="1100" dirty="0"/>
              <a:t>없으면 </a:t>
            </a:r>
            <a:r>
              <a:rPr lang="en-US" altLang="ko-KR" sz="1100" dirty="0"/>
              <a:t>RGB(</a:t>
            </a:r>
            <a:r>
              <a:rPr lang="en-US" altLang="ko-KR" sz="1100"/>
              <a:t>0)</a:t>
            </a:r>
            <a:r>
              <a:rPr lang="ko-KR" altLang="en-US" sz="1100"/>
              <a:t> </a:t>
            </a:r>
            <a:endParaRPr lang="en-US" altLang="ko-KR" sz="1100" dirty="0"/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8ED9BEFF-9618-844B-00F7-A2B0876F44DE}"/>
              </a:ext>
            </a:extLst>
          </p:cNvPr>
          <p:cNvCxnSpPr>
            <a:cxnSpLocks/>
          </p:cNvCxnSpPr>
          <p:nvPr/>
        </p:nvCxnSpPr>
        <p:spPr>
          <a:xfrm>
            <a:off x="3728852" y="3727342"/>
            <a:ext cx="1781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3FC865D9-07F4-0870-DB13-2BB228AE220A}"/>
              </a:ext>
            </a:extLst>
          </p:cNvPr>
          <p:cNvCxnSpPr>
            <a:cxnSpLocks/>
          </p:cNvCxnSpPr>
          <p:nvPr/>
        </p:nvCxnSpPr>
        <p:spPr>
          <a:xfrm>
            <a:off x="3728852" y="4497713"/>
            <a:ext cx="1781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46A6201-2B49-7715-2809-2541ED2A93CC}"/>
              </a:ext>
            </a:extLst>
          </p:cNvPr>
          <p:cNvCxnSpPr>
            <a:cxnSpLocks/>
          </p:cNvCxnSpPr>
          <p:nvPr/>
        </p:nvCxnSpPr>
        <p:spPr>
          <a:xfrm>
            <a:off x="8531622" y="4497713"/>
            <a:ext cx="218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A0AF2A02-4D25-12E3-6CDE-3780AAF2CCA8}"/>
              </a:ext>
            </a:extLst>
          </p:cNvPr>
          <p:cNvCxnSpPr>
            <a:cxnSpLocks/>
          </p:cNvCxnSpPr>
          <p:nvPr/>
        </p:nvCxnSpPr>
        <p:spPr>
          <a:xfrm>
            <a:off x="8531622" y="3765416"/>
            <a:ext cx="1781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3619468-9893-A073-8996-F9E52E86FC11}"/>
              </a:ext>
            </a:extLst>
          </p:cNvPr>
          <p:cNvCxnSpPr>
            <a:cxnSpLocks/>
          </p:cNvCxnSpPr>
          <p:nvPr/>
        </p:nvCxnSpPr>
        <p:spPr>
          <a:xfrm>
            <a:off x="3724337" y="4017424"/>
            <a:ext cx="1781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C8215445-88FC-39AD-6AAE-A10FBB5EB5E0}"/>
              </a:ext>
            </a:extLst>
          </p:cNvPr>
          <p:cNvCxnSpPr>
            <a:cxnSpLocks/>
          </p:cNvCxnSpPr>
          <p:nvPr/>
        </p:nvCxnSpPr>
        <p:spPr>
          <a:xfrm>
            <a:off x="8531622" y="3973624"/>
            <a:ext cx="218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2E67DB14-3BE8-463A-DD9A-533D31734B3C}"/>
              </a:ext>
            </a:extLst>
          </p:cNvPr>
          <p:cNvCxnSpPr>
            <a:cxnSpLocks/>
          </p:cNvCxnSpPr>
          <p:nvPr/>
        </p:nvCxnSpPr>
        <p:spPr>
          <a:xfrm>
            <a:off x="8652096" y="3909002"/>
            <a:ext cx="629791" cy="74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637C2EE-A0A9-988D-5EB9-6476A1095F92}"/>
              </a:ext>
            </a:extLst>
          </p:cNvPr>
          <p:cNvSpPr txBox="1"/>
          <p:nvPr/>
        </p:nvSpPr>
        <p:spPr>
          <a:xfrm>
            <a:off x="9298162" y="3670756"/>
            <a:ext cx="2885726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Light</a:t>
            </a:r>
            <a:r>
              <a:rPr lang="ko-KR" altLang="en-US" sz="1100" dirty="0"/>
              <a:t>연산 </a:t>
            </a:r>
            <a:r>
              <a:rPr lang="en-US" altLang="ko-KR" sz="1100" dirty="0"/>
              <a:t>&amp; Geometry </a:t>
            </a:r>
            <a:r>
              <a:rPr lang="ko-KR" altLang="en-US" sz="1100" dirty="0"/>
              <a:t>있지만</a:t>
            </a:r>
            <a:endParaRPr lang="en-US" altLang="ko-KR" sz="1100" dirty="0"/>
          </a:p>
          <a:p>
            <a:r>
              <a:rPr lang="en-US" altLang="ko-KR" sz="1100" dirty="0"/>
              <a:t>Light</a:t>
            </a:r>
            <a:r>
              <a:rPr lang="ko-KR" altLang="en-US" sz="1100" dirty="0"/>
              <a:t>가 </a:t>
            </a:r>
            <a:r>
              <a:rPr lang="en-US" altLang="ko-KR" sz="1100" dirty="0"/>
              <a:t>Geometry </a:t>
            </a:r>
            <a:r>
              <a:rPr lang="ko-KR" altLang="en-US" sz="1100" dirty="0"/>
              <a:t>위치에 닿지 않는 부분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/>
              <a:t>distance </a:t>
            </a:r>
            <a:r>
              <a:rPr lang="ko-KR" altLang="en-US" sz="1100" dirty="0"/>
              <a:t>계산하여 </a:t>
            </a:r>
            <a:r>
              <a:rPr lang="en-US" altLang="ko-KR" sz="1100" dirty="0"/>
              <a:t>RGB(0)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895999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5A0D249C-5562-FB56-1BBC-F19059F73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118" y="4268967"/>
            <a:ext cx="342551" cy="33018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C652CA0-41D6-5621-C403-F867E7938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 회수 비교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B72E05-2AD3-9488-52DD-D6DFE31669DC}"/>
              </a:ext>
            </a:extLst>
          </p:cNvPr>
          <p:cNvSpPr/>
          <p:nvPr/>
        </p:nvSpPr>
        <p:spPr>
          <a:xfrm>
            <a:off x="4546640" y="3233855"/>
            <a:ext cx="45719" cy="27160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2675CDE-F8BD-35B4-27AF-5651DC394969}"/>
              </a:ext>
            </a:extLst>
          </p:cNvPr>
          <p:cNvGrpSpPr/>
          <p:nvPr/>
        </p:nvGrpSpPr>
        <p:grpSpPr>
          <a:xfrm>
            <a:off x="960883" y="3511925"/>
            <a:ext cx="2552849" cy="2346459"/>
            <a:chOff x="3677928" y="3638573"/>
            <a:chExt cx="1401134" cy="1225497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583F012B-C4A4-8E0A-128D-0926736FAA59}"/>
                </a:ext>
              </a:extLst>
            </p:cNvPr>
            <p:cNvSpPr/>
            <p:nvPr/>
          </p:nvSpPr>
          <p:spPr>
            <a:xfrm>
              <a:off x="3677928" y="3638573"/>
              <a:ext cx="1401134" cy="122549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해 6">
              <a:extLst>
                <a:ext uri="{FF2B5EF4-FFF2-40B4-BE49-F238E27FC236}">
                  <a16:creationId xmlns:a16="http://schemas.microsoft.com/office/drawing/2014/main" id="{E17C3AB1-4963-4B24-465E-EE0ECEEEC00A}"/>
                </a:ext>
              </a:extLst>
            </p:cNvPr>
            <p:cNvSpPr/>
            <p:nvPr/>
          </p:nvSpPr>
          <p:spPr>
            <a:xfrm>
              <a:off x="4288671" y="4211426"/>
              <a:ext cx="179649" cy="158606"/>
            </a:xfrm>
            <a:prstGeom prst="sun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A0971688-BF6A-8ED1-5EEC-B43A5D74F3A4}"/>
              </a:ext>
            </a:extLst>
          </p:cNvPr>
          <p:cNvGrpSpPr/>
          <p:nvPr/>
        </p:nvGrpSpPr>
        <p:grpSpPr>
          <a:xfrm>
            <a:off x="960883" y="3810749"/>
            <a:ext cx="2552849" cy="2346459"/>
            <a:chOff x="3677928" y="3638573"/>
            <a:chExt cx="1401134" cy="1225497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CC144189-2B75-64B8-6394-1AD1CB8DBB21}"/>
                </a:ext>
              </a:extLst>
            </p:cNvPr>
            <p:cNvSpPr/>
            <p:nvPr/>
          </p:nvSpPr>
          <p:spPr>
            <a:xfrm>
              <a:off x="3677928" y="3638573"/>
              <a:ext cx="1401134" cy="122549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해 9">
              <a:extLst>
                <a:ext uri="{FF2B5EF4-FFF2-40B4-BE49-F238E27FC236}">
                  <a16:creationId xmlns:a16="http://schemas.microsoft.com/office/drawing/2014/main" id="{E70008B0-4BEF-967B-B3D3-A7BA94C3A6B2}"/>
                </a:ext>
              </a:extLst>
            </p:cNvPr>
            <p:cNvSpPr/>
            <p:nvPr/>
          </p:nvSpPr>
          <p:spPr>
            <a:xfrm>
              <a:off x="4288671" y="4211426"/>
              <a:ext cx="179649" cy="158606"/>
            </a:xfrm>
            <a:prstGeom prst="sun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AA58518-6A76-28F6-E00C-7F54DA8D5AF7}"/>
              </a:ext>
            </a:extLst>
          </p:cNvPr>
          <p:cNvGrpSpPr/>
          <p:nvPr/>
        </p:nvGrpSpPr>
        <p:grpSpPr>
          <a:xfrm>
            <a:off x="920955" y="3233855"/>
            <a:ext cx="2552849" cy="2346459"/>
            <a:chOff x="3677928" y="3638573"/>
            <a:chExt cx="1401134" cy="1225497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C4249B9A-20C0-7818-5326-CFDC4CB3BE1E}"/>
                </a:ext>
              </a:extLst>
            </p:cNvPr>
            <p:cNvSpPr/>
            <p:nvPr/>
          </p:nvSpPr>
          <p:spPr>
            <a:xfrm>
              <a:off x="3677928" y="3638573"/>
              <a:ext cx="1401134" cy="122549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해 12">
              <a:extLst>
                <a:ext uri="{FF2B5EF4-FFF2-40B4-BE49-F238E27FC236}">
                  <a16:creationId xmlns:a16="http://schemas.microsoft.com/office/drawing/2014/main" id="{9D2558E0-2609-9D6C-2795-2BC3EF0F9E0D}"/>
                </a:ext>
              </a:extLst>
            </p:cNvPr>
            <p:cNvSpPr/>
            <p:nvPr/>
          </p:nvSpPr>
          <p:spPr>
            <a:xfrm>
              <a:off x="4288671" y="4211426"/>
              <a:ext cx="179649" cy="158606"/>
            </a:xfrm>
            <a:prstGeom prst="sun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5726EC39-6FB0-F984-7317-E388650B9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518" y="4421367"/>
            <a:ext cx="342551" cy="33018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F216C72-B192-F804-B6ED-CA8DA9651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043" y="4552636"/>
            <a:ext cx="342551" cy="33018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456F32D-25AB-5827-D855-63A4D691B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237" y="4742496"/>
            <a:ext cx="342551" cy="33018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08DA39F-9C81-64CA-3B06-30686DB9D81D}"/>
              </a:ext>
            </a:extLst>
          </p:cNvPr>
          <p:cNvSpPr txBox="1"/>
          <p:nvPr/>
        </p:nvSpPr>
        <p:spPr>
          <a:xfrm>
            <a:off x="1175806" y="2104387"/>
            <a:ext cx="26869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Forward </a:t>
            </a:r>
            <a:r>
              <a:rPr lang="ko-KR" altLang="en-US" dirty="0"/>
              <a:t>방식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라이트 개수 </a:t>
            </a:r>
            <a:r>
              <a:rPr lang="en-US" altLang="ko-KR" dirty="0"/>
              <a:t>* </a:t>
            </a:r>
            <a:r>
              <a:rPr lang="ko-KR" altLang="en-US" dirty="0" err="1"/>
              <a:t>메쉬</a:t>
            </a:r>
            <a:r>
              <a:rPr lang="ko-KR" altLang="en-US" dirty="0"/>
              <a:t> 개수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ED2AF5-A162-AA7C-B3FC-E068A38273D0}"/>
              </a:ext>
            </a:extLst>
          </p:cNvPr>
          <p:cNvSpPr txBox="1"/>
          <p:nvPr/>
        </p:nvSpPr>
        <p:spPr>
          <a:xfrm>
            <a:off x="3608807" y="4237388"/>
            <a:ext cx="9160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Additive </a:t>
            </a:r>
            <a:endParaRPr lang="ko-KR" alt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8A0E8E-0E48-B0B4-F7EC-06BD6794E1AA}"/>
              </a:ext>
            </a:extLst>
          </p:cNvPr>
          <p:cNvSpPr txBox="1"/>
          <p:nvPr/>
        </p:nvSpPr>
        <p:spPr>
          <a:xfrm>
            <a:off x="4072825" y="2883449"/>
            <a:ext cx="10390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BackBuffer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9BB8C16-E9AD-F1A0-0769-0260F757C5AC}"/>
              </a:ext>
            </a:extLst>
          </p:cNvPr>
          <p:cNvSpPr/>
          <p:nvPr/>
        </p:nvSpPr>
        <p:spPr>
          <a:xfrm>
            <a:off x="9976417" y="3233855"/>
            <a:ext cx="45719" cy="27160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85767FF-0E5C-E15E-E1F6-2FE64F7FDB50}"/>
              </a:ext>
            </a:extLst>
          </p:cNvPr>
          <p:cNvGrpSpPr/>
          <p:nvPr/>
        </p:nvGrpSpPr>
        <p:grpSpPr>
          <a:xfrm>
            <a:off x="6390660" y="3511925"/>
            <a:ext cx="2552849" cy="2346459"/>
            <a:chOff x="3677928" y="3638573"/>
            <a:chExt cx="1401134" cy="1225497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9391DF2C-8F02-5AB3-A040-72FD96478F08}"/>
                </a:ext>
              </a:extLst>
            </p:cNvPr>
            <p:cNvSpPr/>
            <p:nvPr/>
          </p:nvSpPr>
          <p:spPr>
            <a:xfrm>
              <a:off x="3677928" y="3638573"/>
              <a:ext cx="1401134" cy="122549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해 25">
              <a:extLst>
                <a:ext uri="{FF2B5EF4-FFF2-40B4-BE49-F238E27FC236}">
                  <a16:creationId xmlns:a16="http://schemas.microsoft.com/office/drawing/2014/main" id="{95E55284-8F5D-C66B-5327-7B436384BFAB}"/>
                </a:ext>
              </a:extLst>
            </p:cNvPr>
            <p:cNvSpPr/>
            <p:nvPr/>
          </p:nvSpPr>
          <p:spPr>
            <a:xfrm>
              <a:off x="4288671" y="4211426"/>
              <a:ext cx="179649" cy="158606"/>
            </a:xfrm>
            <a:prstGeom prst="sun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AD53489-7434-020C-3AF2-D6502F468C08}"/>
              </a:ext>
            </a:extLst>
          </p:cNvPr>
          <p:cNvGrpSpPr/>
          <p:nvPr/>
        </p:nvGrpSpPr>
        <p:grpSpPr>
          <a:xfrm>
            <a:off x="6390660" y="3810749"/>
            <a:ext cx="2552849" cy="2346459"/>
            <a:chOff x="3677928" y="3638573"/>
            <a:chExt cx="1401134" cy="1225497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24CA10F8-A901-4C0B-6CB3-1BEB2B90CA7F}"/>
                </a:ext>
              </a:extLst>
            </p:cNvPr>
            <p:cNvSpPr/>
            <p:nvPr/>
          </p:nvSpPr>
          <p:spPr>
            <a:xfrm>
              <a:off x="3677928" y="3638573"/>
              <a:ext cx="1401134" cy="122549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해 28">
              <a:extLst>
                <a:ext uri="{FF2B5EF4-FFF2-40B4-BE49-F238E27FC236}">
                  <a16:creationId xmlns:a16="http://schemas.microsoft.com/office/drawing/2014/main" id="{E2D23923-F3BC-E40E-27C7-06AC95B5A609}"/>
                </a:ext>
              </a:extLst>
            </p:cNvPr>
            <p:cNvSpPr/>
            <p:nvPr/>
          </p:nvSpPr>
          <p:spPr>
            <a:xfrm>
              <a:off x="4288671" y="4211426"/>
              <a:ext cx="179649" cy="158606"/>
            </a:xfrm>
            <a:prstGeom prst="sun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D0056DA-2957-309B-0751-F22F46611605}"/>
              </a:ext>
            </a:extLst>
          </p:cNvPr>
          <p:cNvGrpSpPr/>
          <p:nvPr/>
        </p:nvGrpSpPr>
        <p:grpSpPr>
          <a:xfrm>
            <a:off x="6350732" y="3233855"/>
            <a:ext cx="2552849" cy="2346459"/>
            <a:chOff x="3677928" y="3638573"/>
            <a:chExt cx="1401134" cy="1225497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4EC38C5-0D1E-C8D2-6477-766F015FFF10}"/>
                </a:ext>
              </a:extLst>
            </p:cNvPr>
            <p:cNvSpPr/>
            <p:nvPr/>
          </p:nvSpPr>
          <p:spPr>
            <a:xfrm>
              <a:off x="3677928" y="3638573"/>
              <a:ext cx="1401134" cy="122549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" name="해 31">
              <a:extLst>
                <a:ext uri="{FF2B5EF4-FFF2-40B4-BE49-F238E27FC236}">
                  <a16:creationId xmlns:a16="http://schemas.microsoft.com/office/drawing/2014/main" id="{68EFD4D0-C008-681E-D47A-B20024151F9D}"/>
                </a:ext>
              </a:extLst>
            </p:cNvPr>
            <p:cNvSpPr/>
            <p:nvPr/>
          </p:nvSpPr>
          <p:spPr>
            <a:xfrm>
              <a:off x="4288671" y="4211426"/>
              <a:ext cx="179649" cy="158606"/>
            </a:xfrm>
            <a:prstGeom prst="sun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7492225-B0B4-C62B-F654-F173F908C42F}"/>
              </a:ext>
            </a:extLst>
          </p:cNvPr>
          <p:cNvSpPr txBox="1"/>
          <p:nvPr/>
        </p:nvSpPr>
        <p:spPr>
          <a:xfrm>
            <a:off x="6605583" y="2104387"/>
            <a:ext cx="17699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Deferred </a:t>
            </a:r>
            <a:r>
              <a:rPr lang="ko-KR" altLang="en-US" dirty="0"/>
              <a:t>방식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라이트 개수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3DDB66-96B3-5856-EAA4-57C541F7B461}"/>
              </a:ext>
            </a:extLst>
          </p:cNvPr>
          <p:cNvSpPr txBox="1"/>
          <p:nvPr/>
        </p:nvSpPr>
        <p:spPr>
          <a:xfrm>
            <a:off x="9038584" y="4237388"/>
            <a:ext cx="9160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Additive </a:t>
            </a:r>
            <a:endParaRPr lang="ko-KR" alt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50E5D3-7BC9-4AA9-FBCF-0602D508FE00}"/>
              </a:ext>
            </a:extLst>
          </p:cNvPr>
          <p:cNvSpPr txBox="1"/>
          <p:nvPr/>
        </p:nvSpPr>
        <p:spPr>
          <a:xfrm>
            <a:off x="9502602" y="2883449"/>
            <a:ext cx="10390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BackBuffer</a:t>
            </a:r>
            <a:endParaRPr lang="ko-KR" altLang="en-US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106B6D-5EA7-E798-97D0-0AA1B1610439}"/>
              </a:ext>
            </a:extLst>
          </p:cNvPr>
          <p:cNvSpPr txBox="1"/>
          <p:nvPr/>
        </p:nvSpPr>
        <p:spPr>
          <a:xfrm>
            <a:off x="1372326" y="2888097"/>
            <a:ext cx="17299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오브젝트 </a:t>
            </a:r>
            <a:r>
              <a:rPr lang="ko-KR" altLang="en-US" sz="1200" dirty="0" err="1"/>
              <a:t>메쉬를</a:t>
            </a:r>
            <a:r>
              <a:rPr lang="ko-KR" altLang="en-US" sz="1200" dirty="0"/>
              <a:t> </a:t>
            </a:r>
            <a:r>
              <a:rPr lang="en-US" altLang="ko-KR" sz="1200" dirty="0"/>
              <a:t>Draw</a:t>
            </a:r>
            <a:endParaRPr lang="ko-KR" altLang="en-US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5749B7-68CD-9984-9C96-AC72F723DA45}"/>
              </a:ext>
            </a:extLst>
          </p:cNvPr>
          <p:cNvSpPr txBox="1"/>
          <p:nvPr/>
        </p:nvSpPr>
        <p:spPr>
          <a:xfrm>
            <a:off x="6292117" y="2914227"/>
            <a:ext cx="30772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Light Volume</a:t>
            </a:r>
            <a:r>
              <a:rPr lang="ko-KR" altLang="en-US" sz="1200" dirty="0"/>
              <a:t>을 </a:t>
            </a:r>
            <a:r>
              <a:rPr lang="en-US" altLang="ko-KR" sz="1200" dirty="0" err="1"/>
              <a:t>GBuffer</a:t>
            </a:r>
            <a:r>
              <a:rPr lang="en-US" altLang="ko-KR" sz="1200" dirty="0"/>
              <a:t> </a:t>
            </a:r>
            <a:r>
              <a:rPr lang="ko-KR" altLang="en-US" sz="1200" dirty="0" err="1"/>
              <a:t>샘플링하며</a:t>
            </a:r>
            <a:r>
              <a:rPr lang="ko-KR" altLang="en-US" sz="1200" dirty="0"/>
              <a:t> </a:t>
            </a:r>
            <a:r>
              <a:rPr lang="en-US" altLang="ko-KR" sz="1200" dirty="0"/>
              <a:t>Draw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89211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88305D-1D81-2799-4F28-1A00CD6D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16F087-E5B1-7C0D-A56A-109B6654C126}"/>
              </a:ext>
            </a:extLst>
          </p:cNvPr>
          <p:cNvSpPr txBox="1"/>
          <p:nvPr/>
        </p:nvSpPr>
        <p:spPr>
          <a:xfrm>
            <a:off x="585216" y="1833372"/>
            <a:ext cx="1027328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단일 </a:t>
            </a:r>
            <a:r>
              <a:rPr lang="ko-KR" altLang="en-US" dirty="0" err="1"/>
              <a:t>디렉션</a:t>
            </a:r>
            <a:r>
              <a:rPr lang="ko-KR" altLang="en-US" dirty="0"/>
              <a:t> 라이트만 </a:t>
            </a:r>
            <a:r>
              <a:rPr lang="en-US" altLang="ko-KR" dirty="0"/>
              <a:t>PBR</a:t>
            </a:r>
            <a:r>
              <a:rPr lang="ko-KR" altLang="en-US" dirty="0"/>
              <a:t>을 지연</a:t>
            </a:r>
            <a:r>
              <a:rPr lang="en-US" altLang="ko-KR" dirty="0"/>
              <a:t> </a:t>
            </a:r>
            <a:r>
              <a:rPr lang="ko-KR" altLang="en-US" dirty="0" err="1"/>
              <a:t>셰이딩</a:t>
            </a:r>
            <a:r>
              <a:rPr lang="ko-KR" altLang="en-US" dirty="0"/>
              <a:t> 으로 처리를 해봅시다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월드좌표</a:t>
            </a:r>
            <a:r>
              <a:rPr lang="en-US" altLang="ko-KR" dirty="0"/>
              <a:t>,</a:t>
            </a:r>
            <a:r>
              <a:rPr lang="ko-KR" altLang="en-US" dirty="0"/>
              <a:t>월드</a:t>
            </a:r>
            <a:r>
              <a:rPr lang="en-US" altLang="ko-KR" dirty="0"/>
              <a:t>Normal,</a:t>
            </a:r>
            <a:r>
              <a:rPr lang="ko-KR" altLang="en-US" dirty="0"/>
              <a:t>금속성</a:t>
            </a:r>
            <a:r>
              <a:rPr lang="en-US" altLang="ko-KR" dirty="0"/>
              <a:t>,</a:t>
            </a:r>
            <a:r>
              <a:rPr lang="ko-KR" altLang="en-US" dirty="0"/>
              <a:t>거칠기</a:t>
            </a:r>
            <a:r>
              <a:rPr lang="en-US" altLang="ko-KR" dirty="0"/>
              <a:t>,</a:t>
            </a:r>
            <a:r>
              <a:rPr lang="en-US" altLang="ko-KR" dirty="0" err="1"/>
              <a:t>BaseColor</a:t>
            </a:r>
            <a:r>
              <a:rPr lang="ko-KR" altLang="en-US" dirty="0"/>
              <a:t>를 </a:t>
            </a:r>
            <a:r>
              <a:rPr lang="en-US" altLang="ko-KR" dirty="0"/>
              <a:t>G-Buffer</a:t>
            </a:r>
            <a:r>
              <a:rPr lang="ko-KR" altLang="en-US" dirty="0"/>
              <a:t>로 구성합니다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ImGUI</a:t>
            </a:r>
            <a:r>
              <a:rPr lang="ko-KR" altLang="en-US" dirty="0"/>
              <a:t>로 </a:t>
            </a:r>
            <a:r>
              <a:rPr lang="en-US" altLang="ko-KR" dirty="0"/>
              <a:t>G-Buffer</a:t>
            </a:r>
            <a:r>
              <a:rPr lang="ko-KR" altLang="en-US" dirty="0"/>
              <a:t>를 확인할 수 있는 메뉴를 구성합니다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* </a:t>
            </a:r>
            <a:r>
              <a:rPr lang="ko-KR" altLang="en-US" dirty="0"/>
              <a:t>찾아보기 상용엔진은 월드좌표를 왜 </a:t>
            </a:r>
            <a:r>
              <a:rPr lang="en-US" altLang="ko-KR" dirty="0"/>
              <a:t>G-Buffer</a:t>
            </a:r>
            <a:r>
              <a:rPr lang="ko-KR" altLang="en-US" dirty="0"/>
              <a:t>에 포함 시키지 않았을까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참고</a:t>
            </a:r>
            <a:endParaRPr lang="en-US" altLang="ko-KR" dirty="0"/>
          </a:p>
          <a:p>
            <a:r>
              <a:rPr lang="en-US" altLang="ko-KR" dirty="0"/>
              <a:t>https://github.com/ldw9981/D3D11_Tutorial/tree/main/15_DeferredRendering</a:t>
            </a:r>
          </a:p>
          <a:p>
            <a:r>
              <a:rPr lang="ko-KR" altLang="en-US" dirty="0">
                <a:hlinkClick r:id="rId2"/>
              </a:rPr>
              <a:t>https://github.com/ldw9981/RasterTek/</a:t>
            </a:r>
            <a:r>
              <a:rPr lang="ko-KR" altLang="en-US" dirty="0"/>
              <a:t> 에서 </a:t>
            </a:r>
            <a:r>
              <a:rPr lang="en-US" altLang="ko-KR" dirty="0"/>
              <a:t>Tutorial 50_Deferred Shading</a:t>
            </a:r>
          </a:p>
          <a:p>
            <a:endParaRPr lang="en-US" altLang="ko-KR" b="1" i="0" dirty="0">
              <a:solidFill>
                <a:schemeClr val="accent1"/>
              </a:solidFill>
              <a:effectLst/>
              <a:latin typeface="Roboto" panose="02000000000000000000" pitchFamily="2" charset="0"/>
              <a:hlinkClick r:id="rId3"/>
            </a:endParaRPr>
          </a:p>
          <a:p>
            <a:r>
              <a:rPr lang="en-US" altLang="ko-KR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  <a:hlinkClick r:id="rId3"/>
              </a:rPr>
              <a:t>[</a:t>
            </a:r>
            <a:r>
              <a:rPr lang="ko-KR" altLang="en-US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  <a:hlinkClick r:id="rId3"/>
              </a:rPr>
              <a:t>유니티 </a:t>
            </a:r>
            <a:r>
              <a:rPr lang="en-US" altLang="ko-KR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  <a:hlinkClick r:id="rId3"/>
              </a:rPr>
              <a:t>TIPS] </a:t>
            </a:r>
            <a:r>
              <a:rPr lang="ko-KR" altLang="en-US" b="1" i="0" dirty="0" err="1">
                <a:solidFill>
                  <a:schemeClr val="accent1"/>
                </a:solidFill>
                <a:effectLst/>
                <a:latin typeface="Roboto" panose="02000000000000000000" pitchFamily="2" charset="0"/>
                <a:hlinkClick r:id="rId3"/>
              </a:rPr>
              <a:t>알쓸유잡</a:t>
            </a:r>
            <a:r>
              <a:rPr lang="ko-KR" altLang="en-US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  <a:hlinkClick r:id="rId3"/>
              </a:rPr>
              <a:t> </a:t>
            </a:r>
            <a:r>
              <a:rPr lang="en-US" altLang="ko-KR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  <a:hlinkClick r:id="rId3"/>
              </a:rPr>
              <a:t>| </a:t>
            </a:r>
            <a:r>
              <a:rPr lang="ko-KR" altLang="en-US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  <a:hlinkClick r:id="rId3"/>
              </a:rPr>
              <a:t>렌더링 기법 이해하기</a:t>
            </a:r>
            <a:endParaRPr lang="en-US" altLang="ko-KR" b="1" dirty="0">
              <a:solidFill>
                <a:schemeClr val="accent1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72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16940</TotalTime>
  <Words>765</Words>
  <Application>Microsoft Office PowerPoint</Application>
  <PresentationFormat>와이드스크린</PresentationFormat>
  <Paragraphs>180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돋움체</vt:lpstr>
      <vt:lpstr>맑은 고딕</vt:lpstr>
      <vt:lpstr>Arial</vt:lpstr>
      <vt:lpstr>Roboto</vt:lpstr>
      <vt:lpstr>Office 테마</vt:lpstr>
      <vt:lpstr>Direct3D11 프로그래밍</vt:lpstr>
      <vt:lpstr>학습목표</vt:lpstr>
      <vt:lpstr>기초적인 빛 (Light) 의 종류</vt:lpstr>
      <vt:lpstr>일반적인 렌더링 (Forward)</vt:lpstr>
      <vt:lpstr>Overdraw에서의 비효율</vt:lpstr>
      <vt:lpstr>지연된 셰이딩 (Deferred)</vt:lpstr>
      <vt:lpstr>Directional Light</vt:lpstr>
      <vt:lpstr>G-Buffer</vt:lpstr>
      <vt:lpstr>Deferred Shading의 단점</vt:lpstr>
      <vt:lpstr>Point Light  멀티 라이트 처리</vt:lpstr>
      <vt:lpstr>연산 회수 비교</vt:lpstr>
      <vt:lpstr>과제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Direct3D 프로그래밍</dc:title>
  <dc:creator>동원 이</dc:creator>
  <cp:lastModifiedBy>Dongwon Lee</cp:lastModifiedBy>
  <cp:revision>2251</cp:revision>
  <dcterms:created xsi:type="dcterms:W3CDTF">2023-08-01T07:18:03Z</dcterms:created>
  <dcterms:modified xsi:type="dcterms:W3CDTF">2025-12-22T22:26:40Z</dcterms:modified>
</cp:coreProperties>
</file>